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61" r:id="rId5"/>
    <p:sldId id="507" r:id="rId6"/>
    <p:sldId id="508" r:id="rId7"/>
    <p:sldId id="509" r:id="rId8"/>
    <p:sldId id="362" r:id="rId9"/>
    <p:sldId id="499" r:id="rId10"/>
    <p:sldId id="258" r:id="rId11"/>
    <p:sldId id="267" r:id="rId12"/>
    <p:sldId id="273" r:id="rId13"/>
    <p:sldId id="276" r:id="rId14"/>
    <p:sldId id="277" r:id="rId15"/>
    <p:sldId id="270" r:id="rId16"/>
    <p:sldId id="295" r:id="rId17"/>
    <p:sldId id="296" r:id="rId18"/>
    <p:sldId id="282" r:id="rId19"/>
    <p:sldId id="503" r:id="rId20"/>
    <p:sldId id="504" r:id="rId21"/>
    <p:sldId id="500" r:id="rId22"/>
    <p:sldId id="501" r:id="rId23"/>
    <p:sldId id="50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A02"/>
    <a:srgbClr val="F91900"/>
    <a:srgbClr val="E890E8"/>
    <a:srgbClr val="FA7676"/>
    <a:srgbClr val="FFFFFF"/>
    <a:srgbClr val="E997E9"/>
    <a:srgbClr val="F1D9F1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31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0:30:50.391"/>
    </inkml:context>
    <inkml:brush xml:id="br0">
      <inkml:brushProperty name="width" value="0.05" units="cm"/>
      <inkml:brushProperty name="height" value="0.05" units="cm"/>
      <inkml:brushProperty name="color" value="#7F7F7F"/>
    </inkml:brush>
  </inkml:definitions>
  <inkml:trace contextRef="#ctx0" brushRef="#br0">1 84 9830,'618'0'9722,"309"0"216,-876-3-9938,0-3 0,-1-1 0,60-17 0,-51 10 0,108-11 0,340 20 0,-286 8 0,-199-3 0,1 1 0,0 1 0,0 1 0,-1 1 0,0 1 0,0 1 0,0 1 0,-1 1 0,26 12 0,-36-14 0,-1 1 0,1 0 0,-1 0 0,0 1 0,-1 0 0,0 1 0,-1 0 0,1 0 0,-2 1 0,1 0 0,-1 0 0,-1 1 0,0 0 0,0 0 0,-1 0 0,-1 1 0,0 0 0,4 18 0,2 42 0,-3 0 0,-4 1 0,-9 126 0,0-56 0,6-106 0,0 0 0,-1 1 0,-2-1 0,-9 39 0,10-65 0,-1 0 0,-1 0 0,0-1 0,0 1 0,-1-1 0,0 0 0,-1 0 0,0 0 0,-1-1 0,0 0 0,0 0 0,-1-1 0,0 0 0,-13 9 0,-12 6 0,-1-2 0,-41 19 0,-48 30 0,50-23 0,-97 46 0,143-82 0,0 0 0,-1-2 0,0-1 0,-1-1 0,1-1 0,-50 3 0,-180-9 0,162-3 0,35 2 0,1 3 0,0 3 0,-86 17 0,27 1 0,43-10 0,0 4 0,-77 27 0,132-36 0,1 0 0,0 1 0,0 1 0,1 1 0,0 1 0,0 1 0,2 0 0,0 1 0,0 1 0,1 1 0,-24 31 0,31-33 0,1 1 0,1-1 0,0 1 0,1 1 0,0-1 0,1 1 0,1 0 0,-3 26 0,3-9 0,2-1 0,1 1 0,4 43 0,-1-64 0,0-1 0,0 1 0,2-1 0,-1 0 0,1 0 0,1 0 0,0-1 0,0 1 0,1-1 0,1-1 0,-1 1 0,15 14 0,8 6 0,1-2 0,44 31 0,-13-10 0,-28-24 0,64 37 0,17 13 0,-100-65 0,0-1 0,1 0 0,0 0 0,0-2 0,1 0 0,28 8 0,0-4 0,54 6 0,-68-12 0,117 27 0,-95-18 0,86 10 0,-79-16 0,85 24 0,-83-17 0,81 10 0,428-15 0,-336-14 0,-190 3 0,-1 2 0,0 2 0,0 2 0,76 19 0,24 11 0,-76-20 0,106 39 0,-166-51 0,9 4 0,0 0 0,0-1 0,0-1 0,1-1 0,0 0 0,0-1 0,0-1 0,27 0 0,45-5 0,170-12 0,-213 7 0,0-2 0,-1-2 0,0-2 0,-1-1 0,-1-3 0,-1-2 0,0-1 0,72-52 0,-107 69 0,0-1 0,-1 0 0,0-1 0,0 1 0,8-11 0,-12 14 0,-1 0 0,0 0 0,0 0 0,0 0 0,0 0 0,0 0 0,0 0 0,0 0 0,-1 0 0,1 0 0,-1 0 0,0-1 0,1 1 0,-1 0 0,0 0 0,0 0 0,-1-1 0,1 1 0,0 0 0,-1 0 0,1 0 0,-1-1 0,0 1 0,0 0 0,0 0 0,-1-2 0,-61-86-52,46 69-331,1 0 1,2-1-1,0 0 0,-11-26 0,8 7-217,2 2-101,-2 0 0,-42-70 0,46 89 509,1 0 0,1 0 1,0-1-1,2 0 0,-13-43 0,9 7 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0:31:29.094"/>
    </inkml:context>
    <inkml:brush xml:id="br0">
      <inkml:brushProperty name="width" value="0.05" units="cm"/>
      <inkml:brushProperty name="height" value="0.05" units="cm"/>
      <inkml:brushProperty name="color" value="#7F7F7F"/>
    </inkml:brush>
  </inkml:definitions>
  <inkml:trace contextRef="#ctx0" brushRef="#br0">1 84 9830,'618'0'9722,"309"0"216,-876-3-9938,0-3 0,-1-1 0,60-17 0,-51 10 0,108-11 0,340 20 0,-286 8 0,-199-3 0,1 1 0,0 1 0,0 1 0,-1 1 0,0 1 0,0 1 0,0 1 0,-1 1 0,26 12 0,-36-14 0,-1 1 0,1 0 0,-1 0 0,0 1 0,-1 0 0,0 1 0,-1 0 0,1 0 0,-2 1 0,1 0 0,-1 0 0,-1 1 0,0 0 0,0 0 0,-1 0 0,-1 1 0,0 0 0,4 18 0,2 42 0,-3 0 0,-4 1 0,-9 126 0,0-56 0,6-106 0,0 0 0,-1 1 0,-2-1 0,-9 39 0,10-65 0,-1 0 0,-1 0 0,0-1 0,0 1 0,-1-1 0,0 0 0,-1 0 0,0 0 0,-1-1 0,0 0 0,0 0 0,-1-1 0,0 0 0,-13 9 0,-12 6 0,-1-2 0,-41 19 0,-48 30 0,50-23 0,-97 46 0,143-82 0,0 0 0,-1-2 0,0-1 0,-1-1 0,1-1 0,-50 3 0,-180-9 0,162-3 0,35 2 0,1 3 0,0 3 0,-86 17 0,27 1 0,43-10 0,0 4 0,-77 27 0,132-36 0,1 0 0,0 1 0,0 1 0,1 1 0,0 1 0,0 1 0,2 0 0,0 1 0,0 1 0,1 1 0,-24 31 0,31-33 0,1 1 0,1-1 0,0 1 0,1 1 0,0-1 0,1 1 0,1 0 0,-3 26 0,3-9 0,2-1 0,1 1 0,4 43 0,-1-64 0,0-1 0,0 1 0,2-1 0,-1 0 0,1 0 0,1 0 0,0-1 0,0 1 0,1-1 0,1-1 0,-1 1 0,15 14 0,8 6 0,1-2 0,44 31 0,-13-10 0,-28-24 0,64 37 0,17 13 0,-100-65 0,0-1 0,1 0 0,0 0 0,0-2 0,1 0 0,28 8 0,0-4 0,54 6 0,-68-12 0,117 27 0,-95-18 0,86 10 0,-79-16 0,85 24 0,-83-17 0,81 10 0,428-15 0,-336-14 0,-190 3 0,-1 2 0,0 2 0,0 2 0,76 19 0,24 11 0,-76-20 0,106 39 0,-166-51 0,9 4 0,0 0 0,0-1 0,0-1 0,1-1 0,0 0 0,0-1 0,0-1 0,27 0 0,45-5 0,170-12 0,-213 7 0,0-2 0,-1-2 0,0-2 0,-1-1 0,-1-3 0,-1-2 0,0-1 0,72-52 0,-107 69 0,0-1 0,-1 0 0,0-1 0,0 1 0,8-11 0,-12 14 0,-1 0 0,0 0 0,0 0 0,0 0 0,0 0 0,0 0 0,0 0 0,0 0 0,-1 0 0,1 0 0,-1 0 0,0-1 0,1 1 0,-1 0 0,0 0 0,0 0 0,-1-1 0,1 1 0,0 0 0,-1 0 0,1 0 0,-1-1 0,0 1 0,0 0 0,0 0 0,-1-2 0,-61-86-52,46 69-331,1 0 1,2-1-1,0 0 0,-11-26 0,8 7-217,2 2-101,-2 0 0,-42-70 0,46 89 509,1 0 0,1 0 1,0-1-1,2 0 0,-13-43 0,9 7 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0:31:29.0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279 1 8192,'0'8'788,"-1"0"0,0 0 1,0 0-1,-1 0 0,0-1 0,0 1 1,-1 0-1,0-1 0,0 0 0,-1 1 1,0-1-1,0-1 0,0 1 0,-10 10 1,-4 2 658,-1-1 1,-1-1 0,-25 17-1,12-9-1039,17-12-408,8-6 0,0 0 0,0-1 0,-1-1 0,0 1 0,-15 6 0,11-8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0:31:29.0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8192,'6'0'922,"30"1"13234,-21 1-11212,-4 2-2944,-1-1 0,0 2 0,0-1 0,-1 1 0,0 1 0,1 0 0,-2 0 0,1 0 0,-1 1 0,8 9 0,28 20 0,18 21 0,-32-27 0,-19-19 0,-6-6 0,-1-1 0,0 1 0,1-1 0,0 0 0,0 0 0,0 0 0,1-1 0,-1 1 0,1-1 0,-1-1 0,1 1 0,0-1 0,0 0 0,1 0 0,-1-1 0,10 1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0:31:29.0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0 8192,'-1'64'12749,"-1"0"-6951,0 45-4949,8 52-10149,12-64 3855,-11-72 3894,-2 0 1,2 29 0,-4 8 3919,-4 82 9215,1-73-11335,-1 123-12680,1-64 13385,0-17 10844,0-35-8795,0-44-2507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0:31:29.0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4532 9830,'2'-7'102,"1"1"0,-1-1 0,1 1-1,0 0 1,1 0 0,-1 0 0,1 1 0,0-1-1,1 1 1,0 0 0,10-9 0,-7 5 36,-3 4-113,16-18 617,1 2-1,28-23 0,-42 38-404,1 0 0,0 1 0,0 0 0,1 0-1,-1 1 1,1 0 0,0 1 0,0 0 0,1 1 0,11-2 0,17 1 806,44 2-1,-55 2-412,0-1 0,-1-2 0,1 0-1,37-9 1,-24 2 350,50-4 0,-65 11-512,0-1 0,0-2-1,-1 0 1,0-2 0,0 0 0,27-13 0,-42 14-474,17-7-200,-1-1-1,29-21 0,-46 28 114,-1-1 0,1 0-1,-1 0 1,-1 0 0,1-1-1,-2 0 1,1-1 0,-1 1-1,5-13 1,5-11-781,-1-1 0,-2-1 0,15-63 0,18-67-2441,-3 11 258,-3 9 1403,-27 108 993,-2-2 1,-1 1-1,-3-1 1,6-68-1,-15 7 661,0 64 0,2 1 0,0 0 0,3 0 0,1 0 0,9-36 0,-3 19 0,-1-1 0,-3 1 0,-2-1 0,-2 0 0,-6-57 0,6-124 0,2 203 0,13-48 0,-10 51 0,-1 0 0,3-35 0,-5 26 0,14-59 0,-10 60 0,7-66 0,-11-414 0,-7 261 0,3-605 0,0 821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A52A6-9D8E-41FC-9651-78B3E515F87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4653A-B344-4247-92A9-FC44040C8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2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8CE46-F5DE-4525-B302-B8D77A316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Bahnschrif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5FBB5-1BA3-40B8-9972-CDC5C3288B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Bahnschrift SemiCondensed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4E204-6D63-4288-893D-5FF9E915E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Bahnschrift Condensed" panose="020B0502040204020203" pitchFamily="34" charset="0"/>
              </a:defRPr>
            </a:lvl1pPr>
          </a:lstStyle>
          <a:p>
            <a:fld id="{77F775AD-3704-4F98-A581-F4E052B5E341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81FE4-4715-4700-86DD-814DAB99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Bahnschrift Condensed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A2856-EC7A-4D53-B1B6-7A5D185E2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Bahnschrift Condensed" panose="020B0502040204020203" pitchFamily="34" charset="0"/>
              </a:defRPr>
            </a:lvl1pPr>
          </a:lstStyle>
          <a:p>
            <a:fld id="{7A4D9045-47C6-4ED3-A320-E2DFE954633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10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DB8D-BF4C-4FBF-AD5B-10937ABF5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ahnschrift SemiBold SemiConden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06243-6F58-4809-9205-EDADCFCF2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Condensed" panose="020B0502040204020203" pitchFamily="34" charset="0"/>
              </a:defRPr>
            </a:lvl1pPr>
            <a:lvl2pPr>
              <a:defRPr>
                <a:latin typeface="Bahnschrift SemiCondensed" panose="020B0502040204020203" pitchFamily="34" charset="0"/>
              </a:defRPr>
            </a:lvl2pPr>
            <a:lvl3pPr>
              <a:defRPr>
                <a:latin typeface="Bahnschrift SemiCondensed" panose="020B0502040204020203" pitchFamily="34" charset="0"/>
              </a:defRPr>
            </a:lvl3pPr>
            <a:lvl4pPr>
              <a:defRPr>
                <a:latin typeface="Bahnschrift SemiCondensed" panose="020B0502040204020203" pitchFamily="34" charset="0"/>
              </a:defRPr>
            </a:lvl4pPr>
            <a:lvl5pPr>
              <a:defRPr>
                <a:latin typeface="Bahnschrift SemiCondensed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D9F0-3FD5-4876-ABBD-BC632907D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4B9B3-CD86-4259-A27A-F9B9C608111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C0CC1-143C-487C-A035-21D8865A1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5876C-4ECF-4875-8888-C2697944B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9045-47C6-4ED3-A320-E2DFE95463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390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46CC-6892-4FCF-8630-AE4111841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Bahnschrift SemiBold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04A4A-62DA-4ABE-9DBB-89AF06A47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Bahnschrift SemiBold SemiConden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58FD5-D80E-41CF-8310-C62A4493B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87512-E62E-4968-99B9-D028D358C1D6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E0162-1B07-44C6-A9E8-23457789B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43E77-1937-4864-B1CE-8C634C324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9045-47C6-4ED3-A320-E2DFE9546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2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8212D-D47D-4B5F-AF4B-C9A268276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ahnschrift SemiBold SemiConden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4EC79-3E6A-4F0E-AE18-F5B6316C0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Condensed" panose="020B0502040204020203" pitchFamily="34" charset="0"/>
              </a:defRPr>
            </a:lvl1pPr>
            <a:lvl2pPr>
              <a:defRPr>
                <a:latin typeface="Bahnschrift SemiCondensed" panose="020B0502040204020203" pitchFamily="34" charset="0"/>
              </a:defRPr>
            </a:lvl2pPr>
            <a:lvl3pPr>
              <a:defRPr>
                <a:latin typeface="Bahnschrift SemiCondensed" panose="020B0502040204020203" pitchFamily="34" charset="0"/>
              </a:defRPr>
            </a:lvl3pPr>
            <a:lvl4pPr>
              <a:defRPr>
                <a:latin typeface="Bahnschrift SemiCondensed" panose="020B0502040204020203" pitchFamily="34" charset="0"/>
              </a:defRPr>
            </a:lvl4pPr>
            <a:lvl5pPr>
              <a:defRPr>
                <a:latin typeface="Bahnschrift SemiCondensed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16DCD2-DA7E-44D4-80B1-03DB89518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Bahnschrift SemiCondensed" panose="020B0502040204020203" pitchFamily="34" charset="0"/>
              </a:defRPr>
            </a:lvl1pPr>
            <a:lvl2pPr>
              <a:defRPr>
                <a:latin typeface="Bahnschrift SemiCondensed" panose="020B0502040204020203" pitchFamily="34" charset="0"/>
              </a:defRPr>
            </a:lvl2pPr>
            <a:lvl3pPr>
              <a:defRPr>
                <a:latin typeface="Bahnschrift SemiCondensed" panose="020B0502040204020203" pitchFamily="34" charset="0"/>
              </a:defRPr>
            </a:lvl3pPr>
            <a:lvl4pPr>
              <a:defRPr>
                <a:latin typeface="Bahnschrift SemiCondensed" panose="020B0502040204020203" pitchFamily="34" charset="0"/>
              </a:defRPr>
            </a:lvl4pPr>
            <a:lvl5pPr>
              <a:defRPr>
                <a:latin typeface="Bahnschrift SemiCondensed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F0E05-1ABA-4F1E-8916-9491D0773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D7E7-9EE9-4D28-82A7-0AE338FFEED9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3D622-5B4B-4ED4-9FED-772B545DD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C9AB9-8410-4A4C-B499-1F007165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9045-47C6-4ED3-A320-E2DFE9546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AD51-2076-4698-AEBB-DB2C07FB3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Bahnschrift SemiBold SemiConden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F9318-5F5B-43E4-AD45-7A7DFAC36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Bahnschrift SemiBold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AA331-D2D3-4140-9542-31A3A3EB5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Bahnschrift SemiCondensed" panose="020B0502040204020203" pitchFamily="34" charset="0"/>
              </a:defRPr>
            </a:lvl1pPr>
            <a:lvl2pPr>
              <a:defRPr>
                <a:latin typeface="Bahnschrift SemiCondensed" panose="020B0502040204020203" pitchFamily="34" charset="0"/>
              </a:defRPr>
            </a:lvl2pPr>
            <a:lvl3pPr>
              <a:defRPr>
                <a:latin typeface="Bahnschrift SemiCondensed" panose="020B0502040204020203" pitchFamily="34" charset="0"/>
              </a:defRPr>
            </a:lvl3pPr>
            <a:lvl4pPr>
              <a:defRPr>
                <a:latin typeface="Bahnschrift SemiCondensed" panose="020B0502040204020203" pitchFamily="34" charset="0"/>
              </a:defRPr>
            </a:lvl4pPr>
            <a:lvl5pPr>
              <a:defRPr>
                <a:latin typeface="Bahnschrift SemiCondensed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4E08E-48F0-4E81-9D5E-63E0A87F8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Bahnschrift SemiBold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22367C-C01C-4792-AE1D-0427D31AF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Bahnschrift SemiCondensed" panose="020B0502040204020203" pitchFamily="34" charset="0"/>
              </a:defRPr>
            </a:lvl1pPr>
            <a:lvl2pPr>
              <a:defRPr>
                <a:latin typeface="Bahnschrift SemiCondensed" panose="020B0502040204020203" pitchFamily="34" charset="0"/>
              </a:defRPr>
            </a:lvl2pPr>
            <a:lvl3pPr>
              <a:defRPr>
                <a:latin typeface="Bahnschrift SemiCondensed" panose="020B0502040204020203" pitchFamily="34" charset="0"/>
              </a:defRPr>
            </a:lvl3pPr>
            <a:lvl4pPr>
              <a:defRPr>
                <a:latin typeface="Bahnschrift SemiCondensed" panose="020B0502040204020203" pitchFamily="34" charset="0"/>
              </a:defRPr>
            </a:lvl4pPr>
            <a:lvl5pPr>
              <a:defRPr>
                <a:latin typeface="Bahnschrift SemiCondensed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29D3EC-2DD8-4EFA-9960-2D2EFAA6F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D5E0-6150-412F-8881-52709F06EC3B}" type="datetime1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F4670F-5E0C-44F3-BE79-0D38AB233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1CCFD3-1ADE-45EA-8445-91E5C04A1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9045-47C6-4ED3-A320-E2DFE9546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64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39DE-3498-4B38-A90D-31FE62EC4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ahnschrift SemiBold SemiConden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9D110-0971-44E9-B5D0-55CB8A19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AFA3-5281-4B53-8B8B-8FD665A2F0D7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FC8C9-8060-42CF-A228-A205317B8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8D7CCF-BCFB-4243-84A1-15551112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9045-47C6-4ED3-A320-E2DFE9546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4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6DC47F-32AC-4042-BFA1-16EAD91B1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1394-26AC-45DA-9E25-AB3CC25C7422}" type="datetime1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40A260-CF71-43E1-8654-C6AB49B0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DB531-148C-4EB3-8AC6-FD323FE5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9045-47C6-4ED3-A320-E2DFE9546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93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6F9A6-EA38-4F2F-9EC0-5E0697380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Bahnschrift Semi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B9B52-746F-46CF-B39B-977A77210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Bahnschrift SemiCondensed" panose="020B0502040204020203" pitchFamily="34" charset="0"/>
              </a:defRPr>
            </a:lvl1pPr>
            <a:lvl2pPr>
              <a:defRPr sz="2800">
                <a:latin typeface="Bahnschrift SemiCondensed" panose="020B0502040204020203" pitchFamily="34" charset="0"/>
              </a:defRPr>
            </a:lvl2pPr>
            <a:lvl3pPr>
              <a:defRPr sz="2400">
                <a:latin typeface="Bahnschrift SemiCondensed" panose="020B0502040204020203" pitchFamily="34" charset="0"/>
              </a:defRPr>
            </a:lvl3pPr>
            <a:lvl4pPr>
              <a:defRPr sz="2000">
                <a:latin typeface="Bahnschrift SemiCondensed" panose="020B0502040204020203" pitchFamily="34" charset="0"/>
              </a:defRPr>
            </a:lvl4pPr>
            <a:lvl5pPr>
              <a:defRPr sz="2000">
                <a:latin typeface="Bahnschrift SemiCondensed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EB01D-8B2A-4FEC-859B-0725CDB06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ahnschrift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407C3-0369-477F-A812-E71D7673C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1D803-18D9-4B72-95D8-021B736F630F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F5ED9-7011-4FC5-8018-20D6FB591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F6F98-2D31-412D-AE8D-7B8E6A0F7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9045-47C6-4ED3-A320-E2DFE9546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41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B6BAD-7729-4BCD-8BAA-810BF5DB0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Bahnschrift Semi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42FDA6-9C7C-4712-A30F-E7BB6EFD94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09B6A-FF2D-4A50-826A-E4AFF44D4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ahnschrift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B8DD1-7043-486C-89B4-F023818B7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DFCB-4787-4629-B4F0-DCD676BE203A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FDDED-9F8B-4CE9-9BA9-16C2E64F4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E1863-6F3A-4C8B-86D1-4CF2EE995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9045-47C6-4ED3-A320-E2DFE9546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2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06270-7014-4280-97DD-2E5876C5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ahnschrift SemiBold SemiConden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AB2BF0-6BBC-4217-B3B1-439E9C03F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Bahnschrift SemiCondensed" panose="020B0502040204020203" pitchFamily="34" charset="0"/>
              </a:defRPr>
            </a:lvl1pPr>
            <a:lvl2pPr>
              <a:defRPr>
                <a:latin typeface="Bahnschrift SemiCondensed" panose="020B0502040204020203" pitchFamily="34" charset="0"/>
              </a:defRPr>
            </a:lvl2pPr>
            <a:lvl3pPr>
              <a:defRPr>
                <a:latin typeface="Bahnschrift SemiCondensed" panose="020B0502040204020203" pitchFamily="34" charset="0"/>
              </a:defRPr>
            </a:lvl3pPr>
            <a:lvl4pPr>
              <a:defRPr>
                <a:latin typeface="Bahnschrift SemiCondensed" panose="020B0502040204020203" pitchFamily="34" charset="0"/>
              </a:defRPr>
            </a:lvl4pPr>
            <a:lvl5pPr>
              <a:defRPr>
                <a:latin typeface="Bahnschrift SemiCondensed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445E2-9C30-4803-9DC0-3DD07B72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97F0-8049-4B63-9B9F-B08800B08AEA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72469-D162-41E7-AB30-FD584680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67431-2465-4C27-84E2-C53468D00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9045-47C6-4ED3-A320-E2DFE9546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55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9F7FC8-42DE-4A73-9EBF-7FE13C3A6F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Bahnschrift SemiBold SemiConden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258298-31A6-401F-9E21-E276539E3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Bahnschrift SemiCondensed" panose="020B0502040204020203" pitchFamily="34" charset="0"/>
              </a:defRPr>
            </a:lvl1pPr>
            <a:lvl2pPr>
              <a:defRPr>
                <a:latin typeface="Bahnschrift SemiCondensed" panose="020B0502040204020203" pitchFamily="34" charset="0"/>
              </a:defRPr>
            </a:lvl2pPr>
            <a:lvl3pPr>
              <a:defRPr>
                <a:latin typeface="Bahnschrift SemiCondensed" panose="020B0502040204020203" pitchFamily="34" charset="0"/>
              </a:defRPr>
            </a:lvl3pPr>
            <a:lvl4pPr>
              <a:defRPr>
                <a:latin typeface="Bahnschrift SemiCondensed" panose="020B0502040204020203" pitchFamily="34" charset="0"/>
              </a:defRPr>
            </a:lvl4pPr>
            <a:lvl5pPr>
              <a:defRPr>
                <a:latin typeface="Bahnschrift SemiCondensed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36A44-C779-4D04-A1D2-5C3C688E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B3555-78C2-4894-951A-9F28C24107FA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94DC5-EE79-441A-BC1D-7CB59EFE0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1D167-FB69-44EA-B58C-20992290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9045-47C6-4ED3-A320-E2DFE9546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6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4688E-D30C-4B46-B42C-A95468BFA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0CFBD-FB22-4A7B-A343-055F4808B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4690A-CE33-4785-8A28-517DC3D93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ahnschrift Condensed" panose="020B0502040204020203" pitchFamily="34" charset="0"/>
              </a:defRPr>
            </a:lvl1pPr>
          </a:lstStyle>
          <a:p>
            <a:fld id="{300C2ECC-D91C-40D5-A01C-469FC90F0645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E93BC-3343-4E5D-8EC4-72B1F68A12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Bahnschrift Condensed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3E029-B466-49F9-BFAB-4504FB1FE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Bahnschrift Condensed" panose="020B0502040204020203" pitchFamily="34" charset="0"/>
              </a:defRPr>
            </a:lvl1pPr>
          </a:lstStyle>
          <a:p>
            <a:fld id="{7A4D9045-47C6-4ED3-A320-E2DFE954633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046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Bahnschrift SemiBold SemiConden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Bahnschrift Condensed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ahnschrift Condensed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ahnschrift Condensed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hnschrift Condensed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hnschrift Condensed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5" Type="http://schemas.openxmlformats.org/officeDocument/2006/relationships/customXml" Target="../ink/ink5.xml"/><Relationship Id="rId2" Type="http://schemas.openxmlformats.org/officeDocument/2006/relationships/image" Target="../media/image7.svg"/><Relationship Id="rId29" Type="http://schemas.openxmlformats.org/officeDocument/2006/relationships/image" Target="../media/image12.sv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24" Type="http://schemas.openxmlformats.org/officeDocument/2006/relationships/image" Target="../media/image35.png"/><Relationship Id="rId5" Type="http://schemas.openxmlformats.org/officeDocument/2006/relationships/image" Target="../media/image9.svg"/><Relationship Id="rId23" Type="http://schemas.openxmlformats.org/officeDocument/2006/relationships/customXml" Target="../ink/ink4.xml"/><Relationship Id="rId28" Type="http://schemas.openxmlformats.org/officeDocument/2006/relationships/image" Target="../media/image11.png"/><Relationship Id="rId31" Type="http://schemas.openxmlformats.org/officeDocument/2006/relationships/image" Target="../media/image14.svg"/><Relationship Id="rId4" Type="http://schemas.openxmlformats.org/officeDocument/2006/relationships/image" Target="../media/image8.png"/><Relationship Id="rId22" Type="http://schemas.openxmlformats.org/officeDocument/2006/relationships/image" Target="../media/image34.png"/><Relationship Id="rId27" Type="http://schemas.openxmlformats.org/officeDocument/2006/relationships/customXml" Target="../ink/ink6.xml"/><Relationship Id="rId30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9EF587-E24D-4ADB-89B3-2E3C4EDF39EA}"/>
              </a:ext>
            </a:extLst>
          </p:cNvPr>
          <p:cNvCxnSpPr>
            <a:cxnSpLocks/>
          </p:cNvCxnSpPr>
          <p:nvPr/>
        </p:nvCxnSpPr>
        <p:spPr>
          <a:xfrm>
            <a:off x="3822064" y="2320573"/>
            <a:ext cx="2493922" cy="62769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1722B76-BCD8-4DDD-AAC2-33A94AE4765C}"/>
              </a:ext>
            </a:extLst>
          </p:cNvPr>
          <p:cNvSpPr/>
          <p:nvPr/>
        </p:nvSpPr>
        <p:spPr>
          <a:xfrm>
            <a:off x="8883595" y="3014094"/>
            <a:ext cx="1619249" cy="1333500"/>
          </a:xfrm>
          <a:prstGeom prst="rect">
            <a:avLst/>
          </a:prstGeom>
          <a:pattFill prst="wdDnDiag">
            <a:fgClr>
              <a:srgbClr val="FFD9D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D21EC5-D6AA-458E-9EB0-1A35CE47585C}"/>
              </a:ext>
            </a:extLst>
          </p:cNvPr>
          <p:cNvSpPr/>
          <p:nvPr/>
        </p:nvSpPr>
        <p:spPr>
          <a:xfrm>
            <a:off x="6330895" y="3005589"/>
            <a:ext cx="2552700" cy="1333500"/>
          </a:xfrm>
          <a:prstGeom prst="rect">
            <a:avLst/>
          </a:prstGeom>
          <a:pattFill prst="wdDnDiag">
            <a:fgClr>
              <a:srgbClr val="FF0000"/>
            </a:fgClr>
            <a:bgClr>
              <a:schemeClr val="bg1"/>
            </a:bgClr>
          </a:patt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EE11A0-F0CE-4720-BE2A-1EE0416F0266}"/>
              </a:ext>
            </a:extLst>
          </p:cNvPr>
          <p:cNvCxnSpPr>
            <a:cxnSpLocks/>
          </p:cNvCxnSpPr>
          <p:nvPr/>
        </p:nvCxnSpPr>
        <p:spPr>
          <a:xfrm>
            <a:off x="5976883" y="3005590"/>
            <a:ext cx="4525962" cy="0"/>
          </a:xfrm>
          <a:prstGeom prst="line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F351EF-9852-40E8-AD39-D814E5C1A3FA}"/>
              </a:ext>
            </a:extLst>
          </p:cNvPr>
          <p:cNvCxnSpPr>
            <a:cxnSpLocks/>
          </p:cNvCxnSpPr>
          <p:nvPr/>
        </p:nvCxnSpPr>
        <p:spPr>
          <a:xfrm>
            <a:off x="6330895" y="3005589"/>
            <a:ext cx="0" cy="1333500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5FF928-AEA3-4C61-9EA3-A5D1728A4290}"/>
              </a:ext>
            </a:extLst>
          </p:cNvPr>
          <p:cNvCxnSpPr>
            <a:cxnSpLocks/>
          </p:cNvCxnSpPr>
          <p:nvPr/>
        </p:nvCxnSpPr>
        <p:spPr>
          <a:xfrm>
            <a:off x="6330895" y="4339089"/>
            <a:ext cx="2552700" cy="0"/>
          </a:xfrm>
          <a:prstGeom prst="line">
            <a:avLst/>
          </a:prstGeom>
          <a:ln w="38100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290E26-68C2-4EB6-AA4B-1C4666C6672E}"/>
              </a:ext>
            </a:extLst>
          </p:cNvPr>
          <p:cNvCxnSpPr>
            <a:cxnSpLocks/>
          </p:cNvCxnSpPr>
          <p:nvPr/>
        </p:nvCxnSpPr>
        <p:spPr>
          <a:xfrm flipV="1">
            <a:off x="8883595" y="3005589"/>
            <a:ext cx="0" cy="1333500"/>
          </a:xfrm>
          <a:prstGeom prst="line">
            <a:avLst/>
          </a:prstGeom>
          <a:ln w="38100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1A3A58-691D-4746-AF45-F2D570632B21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6315987" y="1052966"/>
            <a:ext cx="14908" cy="3793538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A2DDA50-212B-40A5-B898-F2D8F0786AFB}"/>
              </a:ext>
            </a:extLst>
          </p:cNvPr>
          <p:cNvSpPr txBox="1"/>
          <p:nvPr/>
        </p:nvSpPr>
        <p:spPr>
          <a:xfrm>
            <a:off x="5700754" y="4846504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Fault Time</a:t>
            </a:r>
          </a:p>
        </p:txBody>
      </p:sp>
      <p:sp>
        <p:nvSpPr>
          <p:cNvPr id="13" name="Explosion: 8 Points 12">
            <a:extLst>
              <a:ext uri="{FF2B5EF4-FFF2-40B4-BE49-F238E27FC236}">
                <a16:creationId xmlns:a16="http://schemas.microsoft.com/office/drawing/2014/main" id="{2CF3498A-2A3F-4612-BF09-9DC3F3CD45AF}"/>
              </a:ext>
            </a:extLst>
          </p:cNvPr>
          <p:cNvSpPr/>
          <p:nvPr/>
        </p:nvSpPr>
        <p:spPr>
          <a:xfrm>
            <a:off x="5616520" y="2242003"/>
            <a:ext cx="1428750" cy="1382711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4A210E-6826-47E5-8D19-9AE42CF970BB}"/>
              </a:ext>
            </a:extLst>
          </p:cNvPr>
          <p:cNvSpPr txBox="1"/>
          <p:nvPr/>
        </p:nvSpPr>
        <p:spPr>
          <a:xfrm>
            <a:off x="7020137" y="2578931"/>
            <a:ext cx="29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Nominal Performance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E32D7B-E6A0-48BB-A6A8-64F515F9BBC5}"/>
              </a:ext>
            </a:extLst>
          </p:cNvPr>
          <p:cNvSpPr txBox="1"/>
          <p:nvPr/>
        </p:nvSpPr>
        <p:spPr>
          <a:xfrm>
            <a:off x="6421117" y="4302711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Faulty Performance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F3DAD6-10B9-4C0B-8A34-3500C70B2792}"/>
              </a:ext>
            </a:extLst>
          </p:cNvPr>
          <p:cNvSpPr txBox="1"/>
          <p:nvPr/>
        </p:nvSpPr>
        <p:spPr>
          <a:xfrm>
            <a:off x="8883594" y="3051195"/>
            <a:ext cx="120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Recovery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22E9C6-88EA-48BB-9D28-CD495A050370}"/>
              </a:ext>
            </a:extLst>
          </p:cNvPr>
          <p:cNvCxnSpPr>
            <a:cxnSpLocks/>
          </p:cNvCxnSpPr>
          <p:nvPr/>
        </p:nvCxnSpPr>
        <p:spPr>
          <a:xfrm flipH="1" flipV="1">
            <a:off x="8883594" y="4339089"/>
            <a:ext cx="1619250" cy="8505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8A47949-8816-4C84-9CBD-8D2B4328019A}"/>
              </a:ext>
            </a:extLst>
          </p:cNvPr>
          <p:cNvSpPr txBox="1"/>
          <p:nvPr/>
        </p:nvSpPr>
        <p:spPr>
          <a:xfrm>
            <a:off x="8883595" y="3993913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No Recovery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0FE350-9CCA-4E38-9E28-A5D65F480DDC}"/>
              </a:ext>
            </a:extLst>
          </p:cNvPr>
          <p:cNvSpPr txBox="1"/>
          <p:nvPr/>
        </p:nvSpPr>
        <p:spPr>
          <a:xfrm>
            <a:off x="3727997" y="892461"/>
            <a:ext cx="1681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Prevention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8F60F-AA3D-42FE-BEAC-BC1E5800C220}"/>
              </a:ext>
            </a:extLst>
          </p:cNvPr>
          <p:cNvSpPr txBox="1"/>
          <p:nvPr/>
        </p:nvSpPr>
        <p:spPr>
          <a:xfrm>
            <a:off x="7499931" y="892461"/>
            <a:ext cx="1471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Recovery</a:t>
            </a:r>
            <a:endParaRPr lang="en-US" dirty="0">
              <a:solidFill>
                <a:schemeClr val="bg1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AD445B-D890-43E4-AAF6-BE22CAF808F1}"/>
              </a:ext>
            </a:extLst>
          </p:cNvPr>
          <p:cNvSpPr/>
          <p:nvPr/>
        </p:nvSpPr>
        <p:spPr>
          <a:xfrm>
            <a:off x="7276450" y="5318908"/>
            <a:ext cx="22252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Bahnschrift Light Condensed" panose="020B0502040204020203" pitchFamily="34" charset="0"/>
              </a:rPr>
              <a:t>Yodo</a:t>
            </a:r>
            <a:r>
              <a:rPr lang="en-US" dirty="0">
                <a:latin typeface="Bahnschrift Light Condensed" panose="020B0502040204020203" pitchFamily="34" charset="0"/>
              </a:rPr>
              <a:t>, N., &amp; Wang, P. (2016). 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F0C52C-9FB7-4AAD-86A6-1FC9BAA351B8}"/>
              </a:ext>
            </a:extLst>
          </p:cNvPr>
          <p:cNvSpPr txBox="1"/>
          <p:nvPr/>
        </p:nvSpPr>
        <p:spPr>
          <a:xfrm>
            <a:off x="6911636" y="3500764"/>
            <a:ext cx="1252266" cy="3693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Resilience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101FB2-D340-46DA-8EC7-29E474EB8564}"/>
              </a:ext>
            </a:extLst>
          </p:cNvPr>
          <p:cNvSpPr txBox="1"/>
          <p:nvPr/>
        </p:nvSpPr>
        <p:spPr>
          <a:xfrm>
            <a:off x="5835320" y="2718702"/>
            <a:ext cx="1000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Hazard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7C380F-CFFC-442F-BDF4-0744B33F9987}"/>
              </a:ext>
            </a:extLst>
          </p:cNvPr>
          <p:cNvCxnSpPr>
            <a:cxnSpLocks/>
          </p:cNvCxnSpPr>
          <p:nvPr/>
        </p:nvCxnSpPr>
        <p:spPr>
          <a:xfrm flipV="1">
            <a:off x="3822064" y="1838150"/>
            <a:ext cx="2493922" cy="464939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A28E7BE-FE66-4DB7-BC99-A2E18D727EED}"/>
              </a:ext>
            </a:extLst>
          </p:cNvPr>
          <p:cNvCxnSpPr>
            <a:cxnSpLocks/>
          </p:cNvCxnSpPr>
          <p:nvPr/>
        </p:nvCxnSpPr>
        <p:spPr>
          <a:xfrm>
            <a:off x="6275346" y="1826389"/>
            <a:ext cx="4227498" cy="0"/>
          </a:xfrm>
          <a:prstGeom prst="line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7D0EC3B-71E1-4B52-A2BE-82F2D2D11AA5}"/>
              </a:ext>
            </a:extLst>
          </p:cNvPr>
          <p:cNvSpPr txBox="1"/>
          <p:nvPr/>
        </p:nvSpPr>
        <p:spPr>
          <a:xfrm>
            <a:off x="6315986" y="1399712"/>
            <a:ext cx="29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Nominal Scenario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7D2B22-D005-489E-92FC-F14CA2DD74A2}"/>
              </a:ext>
            </a:extLst>
          </p:cNvPr>
          <p:cNvSpPr txBox="1"/>
          <p:nvPr/>
        </p:nvSpPr>
        <p:spPr>
          <a:xfrm>
            <a:off x="812767" y="2934531"/>
            <a:ext cx="1552694" cy="707886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FF0000"/>
                </a:solidFill>
                <a:latin typeface="Bahnschrift SemiBold" panose="020B0502040204020203" pitchFamily="34" charset="0"/>
              </a:rPr>
              <a:t>Expected</a:t>
            </a:r>
          </a:p>
          <a:p>
            <a:pPr algn="r"/>
            <a:r>
              <a:rPr lang="en-US" sz="2000" b="1" dirty="0">
                <a:solidFill>
                  <a:srgbClr val="FF0000"/>
                </a:solidFill>
                <a:latin typeface="Bahnschrift SemiBold" panose="020B0502040204020203" pitchFamily="34" charset="0"/>
              </a:rPr>
              <a:t>Resilience: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16A513A-6676-4909-91FB-148522A4F2EA}"/>
                  </a:ext>
                </a:extLst>
              </p:cNvPr>
              <p:cNvSpPr/>
              <p:nvPr/>
            </p:nvSpPr>
            <p:spPr>
              <a:xfrm>
                <a:off x="2917788" y="1715055"/>
                <a:ext cx="1096381" cy="109638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400" i="0" dirty="0" smtClean="0">
                          <a:solidFill>
                            <a:schemeClr val="tx1"/>
                          </a:solidFill>
                        </a:rPr>
                        <m:t>𝔼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𝑅𝑒𝑠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16A513A-6676-4909-91FB-148522A4F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788" y="1715055"/>
                <a:ext cx="1096381" cy="1096381"/>
              </a:xfrm>
              <a:prstGeom prst="ellipse">
                <a:avLst/>
              </a:prstGeom>
              <a:blipFill>
                <a:blip r:embed="rId2"/>
                <a:stretch>
                  <a:fillRect l="-4324" r="-1081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5E00E88-8724-4ED0-B23C-C91CC694E5EF}"/>
              </a:ext>
            </a:extLst>
          </p:cNvPr>
          <p:cNvSpPr txBox="1"/>
          <p:nvPr/>
        </p:nvSpPr>
        <p:spPr>
          <a:xfrm>
            <a:off x="2385781" y="2943964"/>
            <a:ext cx="3064886" cy="707886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Light" panose="020B0502040204020203" pitchFamily="34" charset="0"/>
              </a:rPr>
              <a:t>Resilience over a set of hazardous scenarios </a:t>
            </a:r>
          </a:p>
        </p:txBody>
      </p:sp>
    </p:spTree>
    <p:extLst>
      <p:ext uri="{BB962C8B-B14F-4D97-AF65-F5344CB8AC3E}">
        <p14:creationId xmlns:p14="http://schemas.microsoft.com/office/powerpoint/2010/main" val="372363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5" grpId="0"/>
      <p:bldP spid="16" grpId="0"/>
      <p:bldP spid="18" grpId="0"/>
      <p:bldP spid="22" grpId="0" animBg="1"/>
      <p:bldP spid="27" grpId="0" animBg="1"/>
      <p:bldP spid="2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C5C81B0-3215-2578-6296-F743EF755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21067"/>
            <a:ext cx="8800750" cy="185589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Risk: </a:t>
            </a:r>
            <a:r>
              <a:rPr lang="en-US" dirty="0"/>
              <a:t>The effect of uncertainty on objectives (ISO 31073:2022)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Reliability: </a:t>
            </a:r>
            <a:r>
              <a:rPr lang="en-US" dirty="0"/>
              <a:t>“the probability of an item performing its purpose adequately for the period of time intended under the operating and environmental conditions encountered” (KK Aggarwal, 1993)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Safety: </a:t>
            </a:r>
            <a:r>
              <a:rPr lang="en-US" dirty="0"/>
              <a:t>“freedom from risk which is not tolerable” (ISO Guide 51)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60A403-9C41-BA18-98CB-1C1F290FBE2F}"/>
              </a:ext>
            </a:extLst>
          </p:cNvPr>
          <p:cNvCxnSpPr>
            <a:cxnSpLocks/>
          </p:cNvCxnSpPr>
          <p:nvPr/>
        </p:nvCxnSpPr>
        <p:spPr>
          <a:xfrm>
            <a:off x="3777726" y="1752533"/>
            <a:ext cx="0" cy="2146868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4F3532-73FC-4DBD-6854-A37E8BCA7B40}"/>
              </a:ext>
            </a:extLst>
          </p:cNvPr>
          <p:cNvSpPr txBox="1"/>
          <p:nvPr/>
        </p:nvSpPr>
        <p:spPr>
          <a:xfrm>
            <a:off x="7803619" y="3591898"/>
            <a:ext cx="1340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CC92B9-532D-59E8-6335-FE82072F9D1E}"/>
              </a:ext>
            </a:extLst>
          </p:cNvPr>
          <p:cNvSpPr txBox="1"/>
          <p:nvPr/>
        </p:nvSpPr>
        <p:spPr>
          <a:xfrm>
            <a:off x="3236651" y="1392994"/>
            <a:ext cx="1580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Likelihood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p(x)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16BED12-D1E6-9178-EA40-2B3A27680AE0}"/>
              </a:ext>
            </a:extLst>
          </p:cNvPr>
          <p:cNvSpPr/>
          <p:nvPr/>
        </p:nvSpPr>
        <p:spPr>
          <a:xfrm>
            <a:off x="3857396" y="1999273"/>
            <a:ext cx="4729896" cy="1564511"/>
          </a:xfrm>
          <a:custGeom>
            <a:avLst/>
            <a:gdLst>
              <a:gd name="csX0" fmla="*/ 0 w 5378824"/>
              <a:gd name="csY0" fmla="*/ 2343587 h 2424332"/>
              <a:gd name="csX1" fmla="*/ 1775012 w 5378824"/>
              <a:gd name="csY1" fmla="*/ 2101540 h 2424332"/>
              <a:gd name="csX2" fmla="*/ 2770094 w 5378824"/>
              <a:gd name="csY2" fmla="*/ 218951 h 2424332"/>
              <a:gd name="csX3" fmla="*/ 3792071 w 5378824"/>
              <a:gd name="csY3" fmla="*/ 245846 h 2424332"/>
              <a:gd name="csX4" fmla="*/ 4679576 w 5378824"/>
              <a:gd name="csY4" fmla="*/ 2074646 h 2424332"/>
              <a:gd name="csX5" fmla="*/ 5378824 w 5378824"/>
              <a:gd name="csY5" fmla="*/ 2424269 h 2424332"/>
              <a:gd name="csX6" fmla="*/ 5378824 w 5378824"/>
              <a:gd name="csY6" fmla="*/ 2424269 h 2424332"/>
              <a:gd name="csX0" fmla="*/ 0 w 5378824"/>
              <a:gd name="csY0" fmla="*/ 2424131 h 2449149"/>
              <a:gd name="csX1" fmla="*/ 1775012 w 5378824"/>
              <a:gd name="csY1" fmla="*/ 2101540 h 2449149"/>
              <a:gd name="csX2" fmla="*/ 2770094 w 5378824"/>
              <a:gd name="csY2" fmla="*/ 218951 h 2449149"/>
              <a:gd name="csX3" fmla="*/ 3792071 w 5378824"/>
              <a:gd name="csY3" fmla="*/ 245846 h 2449149"/>
              <a:gd name="csX4" fmla="*/ 4679576 w 5378824"/>
              <a:gd name="csY4" fmla="*/ 2074646 h 2449149"/>
              <a:gd name="csX5" fmla="*/ 5378824 w 5378824"/>
              <a:gd name="csY5" fmla="*/ 2424269 h 2449149"/>
              <a:gd name="csX6" fmla="*/ 5378824 w 5378824"/>
              <a:gd name="csY6" fmla="*/ 2424269 h 2449149"/>
              <a:gd name="csX0" fmla="*/ 0 w 5378824"/>
              <a:gd name="csY0" fmla="*/ 2424131 h 2424332"/>
              <a:gd name="csX1" fmla="*/ 1775012 w 5378824"/>
              <a:gd name="csY1" fmla="*/ 2101540 h 2424332"/>
              <a:gd name="csX2" fmla="*/ 2770094 w 5378824"/>
              <a:gd name="csY2" fmla="*/ 218951 h 2424332"/>
              <a:gd name="csX3" fmla="*/ 3792071 w 5378824"/>
              <a:gd name="csY3" fmla="*/ 245846 h 2424332"/>
              <a:gd name="csX4" fmla="*/ 4679576 w 5378824"/>
              <a:gd name="csY4" fmla="*/ 2074646 h 2424332"/>
              <a:gd name="csX5" fmla="*/ 5378824 w 5378824"/>
              <a:gd name="csY5" fmla="*/ 2424269 h 2424332"/>
              <a:gd name="csX6" fmla="*/ 5378824 w 5378824"/>
              <a:gd name="csY6" fmla="*/ 2424269 h 2424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78824" h="2424332">
                <a:moveTo>
                  <a:pt x="0" y="2424131"/>
                </a:moveTo>
                <a:cubicBezTo>
                  <a:pt x="696531" y="2372767"/>
                  <a:pt x="1313330" y="2469070"/>
                  <a:pt x="1775012" y="2101540"/>
                </a:cubicBezTo>
                <a:cubicBezTo>
                  <a:pt x="2236694" y="1734010"/>
                  <a:pt x="2433918" y="528233"/>
                  <a:pt x="2770094" y="218951"/>
                </a:cubicBezTo>
                <a:cubicBezTo>
                  <a:pt x="3106270" y="-90331"/>
                  <a:pt x="3473824" y="-63436"/>
                  <a:pt x="3792071" y="245846"/>
                </a:cubicBezTo>
                <a:cubicBezTo>
                  <a:pt x="4110318" y="555128"/>
                  <a:pt x="4415117" y="1711576"/>
                  <a:pt x="4679576" y="2074646"/>
                </a:cubicBezTo>
                <a:cubicBezTo>
                  <a:pt x="4944035" y="2437716"/>
                  <a:pt x="5378824" y="2424269"/>
                  <a:pt x="5378824" y="2424269"/>
                </a:cubicBezTo>
                <a:lnTo>
                  <a:pt x="5378824" y="2424269"/>
                </a:lnTo>
              </a:path>
            </a:pathLst>
          </a:custGeom>
          <a:pattFill prst="wdDn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1A231-31A5-2C8A-FC1F-8051F556608C}"/>
              </a:ext>
            </a:extLst>
          </p:cNvPr>
          <p:cNvSpPr txBox="1"/>
          <p:nvPr/>
        </p:nvSpPr>
        <p:spPr>
          <a:xfrm>
            <a:off x="3449362" y="3530069"/>
            <a:ext cx="32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5DFB7E-D6BB-246D-3133-0800195C566E}"/>
              </a:ext>
            </a:extLst>
          </p:cNvPr>
          <p:cNvCxnSpPr>
            <a:cxnSpLocks/>
            <a:endCxn id="10" idx="5"/>
          </p:cNvCxnSpPr>
          <p:nvPr/>
        </p:nvCxnSpPr>
        <p:spPr>
          <a:xfrm>
            <a:off x="3694176" y="1240836"/>
            <a:ext cx="4893116" cy="232290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4674228-CC7A-6E0A-EC0C-916328C6CF9C}"/>
              </a:ext>
            </a:extLst>
          </p:cNvPr>
          <p:cNvSpPr txBox="1"/>
          <p:nvPr/>
        </p:nvSpPr>
        <p:spPr>
          <a:xfrm>
            <a:off x="7999517" y="3091970"/>
            <a:ext cx="191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Safety Constraint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D3F99B-5B4B-6408-3F25-7210864B17BB}"/>
              </a:ext>
            </a:extLst>
          </p:cNvPr>
          <p:cNvCxnSpPr>
            <a:cxnSpLocks/>
          </p:cNvCxnSpPr>
          <p:nvPr/>
        </p:nvCxnSpPr>
        <p:spPr>
          <a:xfrm>
            <a:off x="5915176" y="1892653"/>
            <a:ext cx="0" cy="192067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9298687-6E94-A4F3-E7F9-24E8DBD24833}"/>
              </a:ext>
            </a:extLst>
          </p:cNvPr>
          <p:cNvSpPr txBox="1"/>
          <p:nvPr/>
        </p:nvSpPr>
        <p:spPr>
          <a:xfrm>
            <a:off x="4788134" y="3714735"/>
            <a:ext cx="2254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Failure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Threshold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76A562-1064-D4C0-3177-DB1D6679D7ED}"/>
              </a:ext>
            </a:extLst>
          </p:cNvPr>
          <p:cNvSpPr txBox="1"/>
          <p:nvPr/>
        </p:nvSpPr>
        <p:spPr>
          <a:xfrm>
            <a:off x="4073681" y="3791015"/>
            <a:ext cx="1535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Reliability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FB9D71E8-2553-4447-85C5-5917B90386E7}"/>
              </a:ext>
            </a:extLst>
          </p:cNvPr>
          <p:cNvSpPr/>
          <p:nvPr/>
        </p:nvSpPr>
        <p:spPr>
          <a:xfrm rot="5400000">
            <a:off x="4719456" y="2703683"/>
            <a:ext cx="277746" cy="2113694"/>
          </a:xfrm>
          <a:prstGeom prst="rightBrace">
            <a:avLst>
              <a:gd name="adj1" fmla="val 35768"/>
              <a:gd name="adj2" fmla="val 50000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F204FDA-5690-96D0-BDEF-1059210DF68E}"/>
              </a:ext>
            </a:extLst>
          </p:cNvPr>
          <p:cNvCxnSpPr>
            <a:cxnSpLocks/>
          </p:cNvCxnSpPr>
          <p:nvPr/>
        </p:nvCxnSpPr>
        <p:spPr>
          <a:xfrm>
            <a:off x="3449364" y="3581011"/>
            <a:ext cx="5137928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960CD0B-BE49-D85B-286C-FAA954B15F9A}"/>
                  </a:ext>
                </a:extLst>
              </p:cNvPr>
              <p:cNvSpPr txBox="1"/>
              <p:nvPr/>
            </p:nvSpPr>
            <p:spPr>
              <a:xfrm>
                <a:off x="6287628" y="4395527"/>
                <a:ext cx="2186240" cy="8742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𝑅𝑖𝑠𝑘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960CD0B-BE49-D85B-286C-FAA954B15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628" y="4395527"/>
                <a:ext cx="2186240" cy="8742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0B235A45-11BF-D805-EAE1-4E20A997C7B0}"/>
              </a:ext>
            </a:extLst>
          </p:cNvPr>
          <p:cNvSpPr txBox="1"/>
          <p:nvPr/>
        </p:nvSpPr>
        <p:spPr>
          <a:xfrm>
            <a:off x="7279369" y="1862873"/>
            <a:ext cx="191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407C731-AA45-91DF-7FBE-DF156A6F3EA3}"/>
                  </a:ext>
                </a:extLst>
              </p:cNvPr>
              <p:cNvSpPr txBox="1"/>
              <p:nvPr/>
            </p:nvSpPr>
            <p:spPr>
              <a:xfrm>
                <a:off x="6094352" y="5262516"/>
                <a:ext cx="4496708" cy="1075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𝑅𝑒𝑙𝑖𝑎𝑏𝑖𝑙𝑖𝑡𝑦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𝑑𝑥</m:t>
                          </m:r>
                        </m:e>
                      </m:nary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=1−</m:t>
                      </m:r>
                      <m:nary>
                        <m:naryPr>
                          <m:limLoc m:val="undOvr"/>
                          <m:ctrlPr>
                            <a:rPr kumimoji="0" lang="en-US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0" 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brk/>
                                </m:rPr>
                                <a:rPr kumimoji="0" 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/>
                                </m:rPr>
                                <a:rPr kumimoji="0" lang="en-US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sub>
                          </m:sSub>
                        </m:sub>
                        <m:sup>
                          <m:r>
                            <a:rPr kumimoji="0" lang="en-US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r>
                            <a:rPr kumimoji="0" lang="en-US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US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407C731-AA45-91DF-7FBE-DF156A6F3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352" y="5262516"/>
                <a:ext cx="4496708" cy="10751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790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/>
      <p:bldP spid="24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18925DB-5C86-892A-7E28-1E4CEDB2774D}"/>
              </a:ext>
            </a:extLst>
          </p:cNvPr>
          <p:cNvSpPr/>
          <p:nvPr/>
        </p:nvSpPr>
        <p:spPr>
          <a:xfrm>
            <a:off x="580355" y="5184598"/>
            <a:ext cx="10167457" cy="121705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3C44C763-1CB3-7BB9-B8C9-AF215AC21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79992"/>
            <a:ext cx="10515600" cy="1020691"/>
          </a:xfrm>
          <a:noFill/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Resilience is a </a:t>
            </a:r>
            <a:r>
              <a:rPr lang="en-US" b="1" dirty="0"/>
              <a:t>behavior the system performs </a:t>
            </a:r>
            <a:r>
              <a:rPr lang="en-US" dirty="0"/>
              <a:t>to mitigate risk, e.g., recovering performance, switching to a redundant system, or reconfiguring the mission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9C8D9E-4590-13A5-E9D5-232B78195148}"/>
              </a:ext>
            </a:extLst>
          </p:cNvPr>
          <p:cNvCxnSpPr>
            <a:cxnSpLocks/>
          </p:cNvCxnSpPr>
          <p:nvPr/>
        </p:nvCxnSpPr>
        <p:spPr>
          <a:xfrm>
            <a:off x="3777726" y="1752533"/>
            <a:ext cx="0" cy="2146868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E2DB578-C9EB-4BC4-64BB-4F9232D9108D}"/>
              </a:ext>
            </a:extLst>
          </p:cNvPr>
          <p:cNvSpPr txBox="1"/>
          <p:nvPr/>
        </p:nvSpPr>
        <p:spPr>
          <a:xfrm>
            <a:off x="7803619" y="3591898"/>
            <a:ext cx="1340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A9E5C2-6A2D-828B-F5F9-EEFEC9C93467}"/>
              </a:ext>
            </a:extLst>
          </p:cNvPr>
          <p:cNvSpPr txBox="1"/>
          <p:nvPr/>
        </p:nvSpPr>
        <p:spPr>
          <a:xfrm>
            <a:off x="3236651" y="1392994"/>
            <a:ext cx="1580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Likelihood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p(x)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118FF88-D2E9-71DB-FAAD-5A6CB72CD363}"/>
              </a:ext>
            </a:extLst>
          </p:cNvPr>
          <p:cNvSpPr/>
          <p:nvPr/>
        </p:nvSpPr>
        <p:spPr>
          <a:xfrm>
            <a:off x="3857396" y="1999273"/>
            <a:ext cx="4729896" cy="1564511"/>
          </a:xfrm>
          <a:custGeom>
            <a:avLst/>
            <a:gdLst>
              <a:gd name="csX0" fmla="*/ 0 w 5378824"/>
              <a:gd name="csY0" fmla="*/ 2343587 h 2424332"/>
              <a:gd name="csX1" fmla="*/ 1775012 w 5378824"/>
              <a:gd name="csY1" fmla="*/ 2101540 h 2424332"/>
              <a:gd name="csX2" fmla="*/ 2770094 w 5378824"/>
              <a:gd name="csY2" fmla="*/ 218951 h 2424332"/>
              <a:gd name="csX3" fmla="*/ 3792071 w 5378824"/>
              <a:gd name="csY3" fmla="*/ 245846 h 2424332"/>
              <a:gd name="csX4" fmla="*/ 4679576 w 5378824"/>
              <a:gd name="csY4" fmla="*/ 2074646 h 2424332"/>
              <a:gd name="csX5" fmla="*/ 5378824 w 5378824"/>
              <a:gd name="csY5" fmla="*/ 2424269 h 2424332"/>
              <a:gd name="csX6" fmla="*/ 5378824 w 5378824"/>
              <a:gd name="csY6" fmla="*/ 2424269 h 2424332"/>
              <a:gd name="csX0" fmla="*/ 0 w 5378824"/>
              <a:gd name="csY0" fmla="*/ 2424131 h 2449149"/>
              <a:gd name="csX1" fmla="*/ 1775012 w 5378824"/>
              <a:gd name="csY1" fmla="*/ 2101540 h 2449149"/>
              <a:gd name="csX2" fmla="*/ 2770094 w 5378824"/>
              <a:gd name="csY2" fmla="*/ 218951 h 2449149"/>
              <a:gd name="csX3" fmla="*/ 3792071 w 5378824"/>
              <a:gd name="csY3" fmla="*/ 245846 h 2449149"/>
              <a:gd name="csX4" fmla="*/ 4679576 w 5378824"/>
              <a:gd name="csY4" fmla="*/ 2074646 h 2449149"/>
              <a:gd name="csX5" fmla="*/ 5378824 w 5378824"/>
              <a:gd name="csY5" fmla="*/ 2424269 h 2449149"/>
              <a:gd name="csX6" fmla="*/ 5378824 w 5378824"/>
              <a:gd name="csY6" fmla="*/ 2424269 h 2449149"/>
              <a:gd name="csX0" fmla="*/ 0 w 5378824"/>
              <a:gd name="csY0" fmla="*/ 2424131 h 2424332"/>
              <a:gd name="csX1" fmla="*/ 1775012 w 5378824"/>
              <a:gd name="csY1" fmla="*/ 2101540 h 2424332"/>
              <a:gd name="csX2" fmla="*/ 2770094 w 5378824"/>
              <a:gd name="csY2" fmla="*/ 218951 h 2424332"/>
              <a:gd name="csX3" fmla="*/ 3792071 w 5378824"/>
              <a:gd name="csY3" fmla="*/ 245846 h 2424332"/>
              <a:gd name="csX4" fmla="*/ 4679576 w 5378824"/>
              <a:gd name="csY4" fmla="*/ 2074646 h 2424332"/>
              <a:gd name="csX5" fmla="*/ 5378824 w 5378824"/>
              <a:gd name="csY5" fmla="*/ 2424269 h 2424332"/>
              <a:gd name="csX6" fmla="*/ 5378824 w 5378824"/>
              <a:gd name="csY6" fmla="*/ 2424269 h 2424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78824" h="2424332">
                <a:moveTo>
                  <a:pt x="0" y="2424131"/>
                </a:moveTo>
                <a:cubicBezTo>
                  <a:pt x="696531" y="2372767"/>
                  <a:pt x="1313330" y="2469070"/>
                  <a:pt x="1775012" y="2101540"/>
                </a:cubicBezTo>
                <a:cubicBezTo>
                  <a:pt x="2236694" y="1734010"/>
                  <a:pt x="2433918" y="528233"/>
                  <a:pt x="2770094" y="218951"/>
                </a:cubicBezTo>
                <a:cubicBezTo>
                  <a:pt x="3106270" y="-90331"/>
                  <a:pt x="3473824" y="-63436"/>
                  <a:pt x="3792071" y="245846"/>
                </a:cubicBezTo>
                <a:cubicBezTo>
                  <a:pt x="4110318" y="555128"/>
                  <a:pt x="4415117" y="1711576"/>
                  <a:pt x="4679576" y="2074646"/>
                </a:cubicBezTo>
                <a:cubicBezTo>
                  <a:pt x="4944035" y="2437716"/>
                  <a:pt x="5378824" y="2424269"/>
                  <a:pt x="5378824" y="2424269"/>
                </a:cubicBezTo>
                <a:lnTo>
                  <a:pt x="5378824" y="2424269"/>
                </a:lnTo>
              </a:path>
            </a:pathLst>
          </a:custGeom>
          <a:pattFill prst="wdDn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E92330E-DA86-C649-D81E-C26CCEB9D445}"/>
              </a:ext>
            </a:extLst>
          </p:cNvPr>
          <p:cNvSpPr/>
          <p:nvPr/>
        </p:nvSpPr>
        <p:spPr>
          <a:xfrm>
            <a:off x="3921909" y="2123421"/>
            <a:ext cx="4487446" cy="1471669"/>
          </a:xfrm>
          <a:custGeom>
            <a:avLst/>
            <a:gdLst>
              <a:gd name="csX0" fmla="*/ 0 w 5378824"/>
              <a:gd name="csY0" fmla="*/ 2343587 h 2424332"/>
              <a:gd name="csX1" fmla="*/ 1775012 w 5378824"/>
              <a:gd name="csY1" fmla="*/ 2101540 h 2424332"/>
              <a:gd name="csX2" fmla="*/ 2770094 w 5378824"/>
              <a:gd name="csY2" fmla="*/ 218951 h 2424332"/>
              <a:gd name="csX3" fmla="*/ 3792071 w 5378824"/>
              <a:gd name="csY3" fmla="*/ 245846 h 2424332"/>
              <a:gd name="csX4" fmla="*/ 4679576 w 5378824"/>
              <a:gd name="csY4" fmla="*/ 2074646 h 2424332"/>
              <a:gd name="csX5" fmla="*/ 5378824 w 5378824"/>
              <a:gd name="csY5" fmla="*/ 2424269 h 2424332"/>
              <a:gd name="csX6" fmla="*/ 5378824 w 5378824"/>
              <a:gd name="csY6" fmla="*/ 2424269 h 2424332"/>
              <a:gd name="csX0" fmla="*/ 0 w 6666334"/>
              <a:gd name="csY0" fmla="*/ 2343587 h 2424332"/>
              <a:gd name="csX1" fmla="*/ 1775012 w 6666334"/>
              <a:gd name="csY1" fmla="*/ 2101540 h 2424332"/>
              <a:gd name="csX2" fmla="*/ 2770094 w 6666334"/>
              <a:gd name="csY2" fmla="*/ 218951 h 2424332"/>
              <a:gd name="csX3" fmla="*/ 3792071 w 6666334"/>
              <a:gd name="csY3" fmla="*/ 245846 h 2424332"/>
              <a:gd name="csX4" fmla="*/ 4679576 w 6666334"/>
              <a:gd name="csY4" fmla="*/ 2074646 h 2424332"/>
              <a:gd name="csX5" fmla="*/ 5378824 w 6666334"/>
              <a:gd name="csY5" fmla="*/ 2424269 h 2424332"/>
              <a:gd name="csX6" fmla="*/ 6666334 w 6666334"/>
              <a:gd name="csY6" fmla="*/ 2209483 h 2424332"/>
              <a:gd name="csX0" fmla="*/ 0 w 6666334"/>
              <a:gd name="csY0" fmla="*/ 2343587 h 2385005"/>
              <a:gd name="csX1" fmla="*/ 1775012 w 6666334"/>
              <a:gd name="csY1" fmla="*/ 2101540 h 2385005"/>
              <a:gd name="csX2" fmla="*/ 2770094 w 6666334"/>
              <a:gd name="csY2" fmla="*/ 218951 h 2385005"/>
              <a:gd name="csX3" fmla="*/ 3792071 w 6666334"/>
              <a:gd name="csY3" fmla="*/ 245846 h 2385005"/>
              <a:gd name="csX4" fmla="*/ 4679576 w 6666334"/>
              <a:gd name="csY4" fmla="*/ 2074646 h 2385005"/>
              <a:gd name="csX5" fmla="*/ 6081102 w 6666334"/>
              <a:gd name="csY5" fmla="*/ 2343725 h 2385005"/>
              <a:gd name="csX6" fmla="*/ 6666334 w 6666334"/>
              <a:gd name="csY6" fmla="*/ 2209483 h 2385005"/>
              <a:gd name="csX0" fmla="*/ 0 w 9982647"/>
              <a:gd name="csY0" fmla="*/ 2343587 h 2385005"/>
              <a:gd name="csX1" fmla="*/ 1775012 w 9982647"/>
              <a:gd name="csY1" fmla="*/ 2101540 h 2385005"/>
              <a:gd name="csX2" fmla="*/ 2770094 w 9982647"/>
              <a:gd name="csY2" fmla="*/ 218951 h 2385005"/>
              <a:gd name="csX3" fmla="*/ 3792071 w 9982647"/>
              <a:gd name="csY3" fmla="*/ 245846 h 2385005"/>
              <a:gd name="csX4" fmla="*/ 4679576 w 9982647"/>
              <a:gd name="csY4" fmla="*/ 2074646 h 2385005"/>
              <a:gd name="csX5" fmla="*/ 6081102 w 9982647"/>
              <a:gd name="csY5" fmla="*/ 2343725 h 2385005"/>
              <a:gd name="csX6" fmla="*/ 9982647 w 9982647"/>
              <a:gd name="csY6" fmla="*/ 2370573 h 2385005"/>
              <a:gd name="csX0" fmla="*/ 0 w 9982647"/>
              <a:gd name="csY0" fmla="*/ 2343587 h 2385005"/>
              <a:gd name="csX1" fmla="*/ 1775012 w 9982647"/>
              <a:gd name="csY1" fmla="*/ 2101540 h 2385005"/>
              <a:gd name="csX2" fmla="*/ 2770094 w 9982647"/>
              <a:gd name="csY2" fmla="*/ 218951 h 2385005"/>
              <a:gd name="csX3" fmla="*/ 3792071 w 9982647"/>
              <a:gd name="csY3" fmla="*/ 245846 h 2385005"/>
              <a:gd name="csX4" fmla="*/ 4679576 w 9982647"/>
              <a:gd name="csY4" fmla="*/ 2074646 h 2385005"/>
              <a:gd name="csX5" fmla="*/ 7563690 w 9982647"/>
              <a:gd name="csY5" fmla="*/ 2316877 h 2385005"/>
              <a:gd name="csX6" fmla="*/ 9982647 w 9982647"/>
              <a:gd name="csY6" fmla="*/ 2370573 h 2385005"/>
              <a:gd name="csX0" fmla="*/ 0 w 9982647"/>
              <a:gd name="csY0" fmla="*/ 2329471 h 2370889"/>
              <a:gd name="csX1" fmla="*/ 1775012 w 9982647"/>
              <a:gd name="csY1" fmla="*/ 2087424 h 2370889"/>
              <a:gd name="csX2" fmla="*/ 2770094 w 9982647"/>
              <a:gd name="csY2" fmla="*/ 204835 h 2370889"/>
              <a:gd name="csX3" fmla="*/ 3792071 w 9982647"/>
              <a:gd name="csY3" fmla="*/ 231730 h 2370889"/>
              <a:gd name="csX4" fmla="*/ 5381854 w 9982647"/>
              <a:gd name="csY4" fmla="*/ 1818896 h 2370889"/>
              <a:gd name="csX5" fmla="*/ 7563690 w 9982647"/>
              <a:gd name="csY5" fmla="*/ 2302761 h 2370889"/>
              <a:gd name="csX6" fmla="*/ 9982647 w 9982647"/>
              <a:gd name="csY6" fmla="*/ 2356457 h 2370889"/>
              <a:gd name="csX0" fmla="*/ 0 w 9982647"/>
              <a:gd name="csY0" fmla="*/ 2283220 h 2321268"/>
              <a:gd name="csX1" fmla="*/ 1775012 w 9982647"/>
              <a:gd name="csY1" fmla="*/ 2041173 h 2321268"/>
              <a:gd name="csX2" fmla="*/ 2106831 w 9982647"/>
              <a:gd name="csY2" fmla="*/ 239128 h 2321268"/>
              <a:gd name="csX3" fmla="*/ 3792071 w 9982647"/>
              <a:gd name="csY3" fmla="*/ 185479 h 2321268"/>
              <a:gd name="csX4" fmla="*/ 5381854 w 9982647"/>
              <a:gd name="csY4" fmla="*/ 1772645 h 2321268"/>
              <a:gd name="csX5" fmla="*/ 7563690 w 9982647"/>
              <a:gd name="csY5" fmla="*/ 2256510 h 2321268"/>
              <a:gd name="csX6" fmla="*/ 9982647 w 9982647"/>
              <a:gd name="csY6" fmla="*/ 2310206 h 2321268"/>
              <a:gd name="csX0" fmla="*/ 0 w 9982647"/>
              <a:gd name="csY0" fmla="*/ 2276907 h 2303893"/>
              <a:gd name="csX1" fmla="*/ 760611 w 9982647"/>
              <a:gd name="csY1" fmla="*/ 1927467 h 2303893"/>
              <a:gd name="csX2" fmla="*/ 2106831 w 9982647"/>
              <a:gd name="csY2" fmla="*/ 232815 h 2303893"/>
              <a:gd name="csX3" fmla="*/ 3792071 w 9982647"/>
              <a:gd name="csY3" fmla="*/ 179166 h 2303893"/>
              <a:gd name="csX4" fmla="*/ 5381854 w 9982647"/>
              <a:gd name="csY4" fmla="*/ 1766332 h 2303893"/>
              <a:gd name="csX5" fmla="*/ 7563690 w 9982647"/>
              <a:gd name="csY5" fmla="*/ 2250197 h 2303893"/>
              <a:gd name="csX6" fmla="*/ 9982647 w 9982647"/>
              <a:gd name="csY6" fmla="*/ 2303893 h 2303893"/>
              <a:gd name="csX0" fmla="*/ 0 w 9982647"/>
              <a:gd name="csY0" fmla="*/ 2245953 h 2272939"/>
              <a:gd name="csX1" fmla="*/ 760611 w 9982647"/>
              <a:gd name="csY1" fmla="*/ 1896513 h 2272939"/>
              <a:gd name="csX2" fmla="*/ 2106831 w 9982647"/>
              <a:gd name="csY2" fmla="*/ 201861 h 2272939"/>
              <a:gd name="csX3" fmla="*/ 3206840 w 9982647"/>
              <a:gd name="csY3" fmla="*/ 201908 h 2272939"/>
              <a:gd name="csX4" fmla="*/ 5381854 w 9982647"/>
              <a:gd name="csY4" fmla="*/ 1735378 h 2272939"/>
              <a:gd name="csX5" fmla="*/ 7563690 w 9982647"/>
              <a:gd name="csY5" fmla="*/ 2219243 h 2272939"/>
              <a:gd name="csX6" fmla="*/ 9982647 w 9982647"/>
              <a:gd name="csY6" fmla="*/ 2272939 h 2272939"/>
              <a:gd name="csX0" fmla="*/ 0 w 9982647"/>
              <a:gd name="csY0" fmla="*/ 2230812 h 2257798"/>
              <a:gd name="csX1" fmla="*/ 760611 w 9982647"/>
              <a:gd name="csY1" fmla="*/ 1881372 h 2257798"/>
              <a:gd name="csX2" fmla="*/ 1092429 w 9982647"/>
              <a:gd name="csY2" fmla="*/ 213568 h 2257798"/>
              <a:gd name="csX3" fmla="*/ 3206840 w 9982647"/>
              <a:gd name="csY3" fmla="*/ 186767 h 2257798"/>
              <a:gd name="csX4" fmla="*/ 5381854 w 9982647"/>
              <a:gd name="csY4" fmla="*/ 1720237 h 2257798"/>
              <a:gd name="csX5" fmla="*/ 7563690 w 9982647"/>
              <a:gd name="csY5" fmla="*/ 2204102 h 2257798"/>
              <a:gd name="csX6" fmla="*/ 9982647 w 9982647"/>
              <a:gd name="csY6" fmla="*/ 2257798 h 2257798"/>
              <a:gd name="csX0" fmla="*/ 0 w 9982647"/>
              <a:gd name="csY0" fmla="*/ 2178910 h 2205896"/>
              <a:gd name="csX1" fmla="*/ 760611 w 9982647"/>
              <a:gd name="csY1" fmla="*/ 1829470 h 2205896"/>
              <a:gd name="csX2" fmla="*/ 1404553 w 9982647"/>
              <a:gd name="csY2" fmla="*/ 269059 h 2205896"/>
              <a:gd name="csX3" fmla="*/ 3206840 w 9982647"/>
              <a:gd name="csY3" fmla="*/ 134865 h 2205896"/>
              <a:gd name="csX4" fmla="*/ 5381854 w 9982647"/>
              <a:gd name="csY4" fmla="*/ 1668335 h 2205896"/>
              <a:gd name="csX5" fmla="*/ 7563690 w 9982647"/>
              <a:gd name="csY5" fmla="*/ 2152200 h 2205896"/>
              <a:gd name="csX6" fmla="*/ 9982647 w 9982647"/>
              <a:gd name="csY6" fmla="*/ 2205896 h 2205896"/>
              <a:gd name="csX0" fmla="*/ 0 w 9982647"/>
              <a:gd name="csY0" fmla="*/ 2178910 h 2205896"/>
              <a:gd name="csX1" fmla="*/ 760611 w 9982647"/>
              <a:gd name="csY1" fmla="*/ 1829470 h 2205896"/>
              <a:gd name="csX2" fmla="*/ 1716677 w 9982647"/>
              <a:gd name="csY2" fmla="*/ 269059 h 2205896"/>
              <a:gd name="csX3" fmla="*/ 3206840 w 9982647"/>
              <a:gd name="csY3" fmla="*/ 134865 h 2205896"/>
              <a:gd name="csX4" fmla="*/ 5381854 w 9982647"/>
              <a:gd name="csY4" fmla="*/ 1668335 h 2205896"/>
              <a:gd name="csX5" fmla="*/ 7563690 w 9982647"/>
              <a:gd name="csY5" fmla="*/ 2152200 h 2205896"/>
              <a:gd name="csX6" fmla="*/ 9982647 w 9982647"/>
              <a:gd name="csY6" fmla="*/ 2205896 h 2205896"/>
              <a:gd name="csX0" fmla="*/ 0 w 9982647"/>
              <a:gd name="csY0" fmla="*/ 2142800 h 2169786"/>
              <a:gd name="csX1" fmla="*/ 760611 w 9982647"/>
              <a:gd name="csY1" fmla="*/ 1793360 h 2169786"/>
              <a:gd name="csX2" fmla="*/ 1716677 w 9982647"/>
              <a:gd name="csY2" fmla="*/ 232949 h 2169786"/>
              <a:gd name="csX3" fmla="*/ 3323886 w 9982647"/>
              <a:gd name="csY3" fmla="*/ 152452 h 2169786"/>
              <a:gd name="csX4" fmla="*/ 5381854 w 9982647"/>
              <a:gd name="csY4" fmla="*/ 1632225 h 2169786"/>
              <a:gd name="csX5" fmla="*/ 7563690 w 9982647"/>
              <a:gd name="csY5" fmla="*/ 2116090 h 2169786"/>
              <a:gd name="csX6" fmla="*/ 9982647 w 9982647"/>
              <a:gd name="csY6" fmla="*/ 2169786 h 2169786"/>
              <a:gd name="csX0" fmla="*/ 0 w 9982647"/>
              <a:gd name="csY0" fmla="*/ 2089205 h 2116191"/>
              <a:gd name="csX1" fmla="*/ 760611 w 9982647"/>
              <a:gd name="csY1" fmla="*/ 1739765 h 2116191"/>
              <a:gd name="csX2" fmla="*/ 1716677 w 9982647"/>
              <a:gd name="csY2" fmla="*/ 313594 h 2116191"/>
              <a:gd name="csX3" fmla="*/ 3323886 w 9982647"/>
              <a:gd name="csY3" fmla="*/ 98857 h 2116191"/>
              <a:gd name="csX4" fmla="*/ 5381854 w 9982647"/>
              <a:gd name="csY4" fmla="*/ 1578630 h 2116191"/>
              <a:gd name="csX5" fmla="*/ 7563690 w 9982647"/>
              <a:gd name="csY5" fmla="*/ 2062495 h 2116191"/>
              <a:gd name="csX6" fmla="*/ 9982647 w 9982647"/>
              <a:gd name="csY6" fmla="*/ 2116191 h 21161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982647" h="2116191">
                <a:moveTo>
                  <a:pt x="0" y="2089205"/>
                </a:moveTo>
                <a:cubicBezTo>
                  <a:pt x="656665" y="2145234"/>
                  <a:pt x="474498" y="2035700"/>
                  <a:pt x="760611" y="1739765"/>
                </a:cubicBezTo>
                <a:cubicBezTo>
                  <a:pt x="1046724" y="1443830"/>
                  <a:pt x="1289464" y="587079"/>
                  <a:pt x="1716677" y="313594"/>
                </a:cubicBezTo>
                <a:cubicBezTo>
                  <a:pt x="2143890" y="40109"/>
                  <a:pt x="2713023" y="-111982"/>
                  <a:pt x="3323886" y="98857"/>
                </a:cubicBezTo>
                <a:cubicBezTo>
                  <a:pt x="3934749" y="309696"/>
                  <a:pt x="4675220" y="1251357"/>
                  <a:pt x="5381854" y="1578630"/>
                </a:cubicBezTo>
                <a:cubicBezTo>
                  <a:pt x="6088488" y="1905903"/>
                  <a:pt x="7563690" y="2062495"/>
                  <a:pt x="7563690" y="2062495"/>
                </a:cubicBezTo>
                <a:lnTo>
                  <a:pt x="9982647" y="2116191"/>
                </a:lnTo>
              </a:path>
            </a:pathLst>
          </a:custGeom>
          <a:solidFill>
            <a:schemeClr val="accent6">
              <a:lumMod val="20000"/>
              <a:lumOff val="80000"/>
              <a:alpha val="72000"/>
            </a:schemeClr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D11BAE-76CF-EE76-DD85-00A6D46A261B}"/>
              </a:ext>
            </a:extLst>
          </p:cNvPr>
          <p:cNvSpPr txBox="1"/>
          <p:nvPr/>
        </p:nvSpPr>
        <p:spPr>
          <a:xfrm>
            <a:off x="6837826" y="1707987"/>
            <a:ext cx="191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Unmitigated Risk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BC7E47-964E-6E5F-FEC6-E9C1AF2C9F4E}"/>
              </a:ext>
            </a:extLst>
          </p:cNvPr>
          <p:cNvSpPr txBox="1"/>
          <p:nvPr/>
        </p:nvSpPr>
        <p:spPr>
          <a:xfrm>
            <a:off x="3801482" y="1831819"/>
            <a:ext cx="168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Mitigated Risk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392D49-B1C8-2619-F58C-4C236A49EFA5}"/>
              </a:ext>
            </a:extLst>
          </p:cNvPr>
          <p:cNvSpPr txBox="1"/>
          <p:nvPr/>
        </p:nvSpPr>
        <p:spPr>
          <a:xfrm>
            <a:off x="3449362" y="3530069"/>
            <a:ext cx="32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2356E1-F573-E1FB-BB46-4B5216B9C74A}"/>
              </a:ext>
            </a:extLst>
          </p:cNvPr>
          <p:cNvSpPr txBox="1"/>
          <p:nvPr/>
        </p:nvSpPr>
        <p:spPr>
          <a:xfrm>
            <a:off x="5054391" y="1490204"/>
            <a:ext cx="2190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Resilient Behavior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A605B38-4F45-EF99-5286-14D1D911DAE5}"/>
              </a:ext>
            </a:extLst>
          </p:cNvPr>
          <p:cNvCxnSpPr>
            <a:cxnSpLocks/>
            <a:endCxn id="33" idx="5"/>
          </p:cNvCxnSpPr>
          <p:nvPr/>
        </p:nvCxnSpPr>
        <p:spPr>
          <a:xfrm>
            <a:off x="3694176" y="1240836"/>
            <a:ext cx="4893116" cy="232290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BD61FEA-41C9-1F74-DA5C-14D3E91A3207}"/>
              </a:ext>
            </a:extLst>
          </p:cNvPr>
          <p:cNvSpPr txBox="1"/>
          <p:nvPr/>
        </p:nvSpPr>
        <p:spPr>
          <a:xfrm>
            <a:off x="7999517" y="3091970"/>
            <a:ext cx="191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Safety Constraint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1316C78-FF23-5439-3339-AB93E04F7FD1}"/>
              </a:ext>
            </a:extLst>
          </p:cNvPr>
          <p:cNvCxnSpPr>
            <a:cxnSpLocks/>
          </p:cNvCxnSpPr>
          <p:nvPr/>
        </p:nvCxnSpPr>
        <p:spPr>
          <a:xfrm>
            <a:off x="5915176" y="1892653"/>
            <a:ext cx="0" cy="192067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E5D9122-A66B-04BE-7BD8-E0BF18E4B914}"/>
              </a:ext>
            </a:extLst>
          </p:cNvPr>
          <p:cNvSpPr txBox="1"/>
          <p:nvPr/>
        </p:nvSpPr>
        <p:spPr>
          <a:xfrm>
            <a:off x="4788134" y="3714735"/>
            <a:ext cx="2254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Failure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Threshold</a:t>
            </a:r>
          </a:p>
        </p:txBody>
      </p:sp>
      <p:sp>
        <p:nvSpPr>
          <p:cNvPr id="43" name="Arrow: Bent 42">
            <a:extLst>
              <a:ext uri="{FF2B5EF4-FFF2-40B4-BE49-F238E27FC236}">
                <a16:creationId xmlns:a16="http://schemas.microsoft.com/office/drawing/2014/main" id="{C22D76CA-2A52-AA06-A2E9-976CDB92C9F1}"/>
              </a:ext>
            </a:extLst>
          </p:cNvPr>
          <p:cNvSpPr/>
          <p:nvPr/>
        </p:nvSpPr>
        <p:spPr>
          <a:xfrm rot="19575794" flipH="1">
            <a:off x="5359433" y="1848230"/>
            <a:ext cx="1394560" cy="98164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C2D317-38FB-1A46-D657-FD01AB234B2C}"/>
              </a:ext>
            </a:extLst>
          </p:cNvPr>
          <p:cNvSpPr txBox="1"/>
          <p:nvPr/>
        </p:nvSpPr>
        <p:spPr>
          <a:xfrm>
            <a:off x="4073681" y="3791015"/>
            <a:ext cx="1535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Reliability</a:t>
            </a:r>
          </a:p>
        </p:txBody>
      </p:sp>
      <p:sp>
        <p:nvSpPr>
          <p:cNvPr id="45" name="Right Brace 44">
            <a:extLst>
              <a:ext uri="{FF2B5EF4-FFF2-40B4-BE49-F238E27FC236}">
                <a16:creationId xmlns:a16="http://schemas.microsoft.com/office/drawing/2014/main" id="{7B6B9988-F343-5642-7E0A-DDB27E027232}"/>
              </a:ext>
            </a:extLst>
          </p:cNvPr>
          <p:cNvSpPr/>
          <p:nvPr/>
        </p:nvSpPr>
        <p:spPr>
          <a:xfrm rot="5400000">
            <a:off x="4719456" y="2703683"/>
            <a:ext cx="277746" cy="2113694"/>
          </a:xfrm>
          <a:prstGeom prst="rightBrace">
            <a:avLst>
              <a:gd name="adj1" fmla="val 35768"/>
              <a:gd name="adj2" fmla="val 50000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C90D982-E62A-DEF4-4D55-C4DE6FF6D0DE}"/>
              </a:ext>
            </a:extLst>
          </p:cNvPr>
          <p:cNvCxnSpPr>
            <a:cxnSpLocks/>
          </p:cNvCxnSpPr>
          <p:nvPr/>
        </p:nvCxnSpPr>
        <p:spPr>
          <a:xfrm>
            <a:off x="3449364" y="3581011"/>
            <a:ext cx="5137928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35BA9E3-4584-A66E-13F8-B8967F309DB0}"/>
                  </a:ext>
                </a:extLst>
              </p:cNvPr>
              <p:cNvSpPr txBox="1"/>
              <p:nvPr/>
            </p:nvSpPr>
            <p:spPr>
              <a:xfrm>
                <a:off x="6554599" y="5184598"/>
                <a:ext cx="3289362" cy="5305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Unmitigated Risk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sub>
                    </m:sSub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/>
                      <m:sup/>
                      <m:e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𝑢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∗</m:t>
                        </m:r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𝑑𝑥</m:t>
                        </m:r>
                      </m:e>
                    </m:nary>
                  </m:oMath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35BA9E3-4584-A66E-13F8-B8967F309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599" y="5184598"/>
                <a:ext cx="3289362" cy="530530"/>
              </a:xfrm>
              <a:prstGeom prst="rect">
                <a:avLst/>
              </a:prstGeom>
              <a:blipFill>
                <a:blip r:embed="rId2"/>
                <a:stretch>
                  <a:fillRect l="-3704" t="-96591" r="-926" b="-9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DC7DD95-2D00-243E-C59E-EB83B2D7BF38}"/>
                  </a:ext>
                </a:extLst>
              </p:cNvPr>
              <p:cNvSpPr txBox="1"/>
              <p:nvPr/>
            </p:nvSpPr>
            <p:spPr>
              <a:xfrm>
                <a:off x="6554599" y="5532020"/>
                <a:ext cx="3310906" cy="5305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Mitigated Risk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    </m:t>
                        </m:r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sub>
                    </m:sSub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/>
                      <m:sup/>
                      <m:e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∗</m:t>
                        </m:r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𝑑𝑥</m:t>
                        </m:r>
                      </m:e>
                    </m:nary>
                  </m:oMath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DC7DD95-2D00-243E-C59E-EB83B2D7B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599" y="5532020"/>
                <a:ext cx="3310906" cy="530530"/>
              </a:xfrm>
              <a:prstGeom prst="rect">
                <a:avLst/>
              </a:prstGeom>
              <a:blipFill>
                <a:blip r:embed="rId3"/>
                <a:stretch>
                  <a:fillRect l="-3683" t="-96591" r="-1105" b="-9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504F2DA-EC35-1AD3-42EF-C48376AAA6DC}"/>
                  </a:ext>
                </a:extLst>
              </p:cNvPr>
              <p:cNvSpPr txBox="1"/>
              <p:nvPr/>
            </p:nvSpPr>
            <p:spPr>
              <a:xfrm>
                <a:off x="6543317" y="5909210"/>
                <a:ext cx="279185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Risk Mitigation</a:t>
                </a:r>
                <a14:m>
                  <m:oMath xmlns:m="http://schemas.openxmlformats.org/officeDocument/2006/math">
                    <m:r>
                      <a:rPr kumimoji="0" lang="en-US" sz="1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    </m:t>
                    </m:r>
                    <m:r>
                      <m:rPr>
                        <m:sty m:val="p"/>
                      </m:rPr>
                      <a:rPr kumimoji="0" lang="en-US" sz="1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Δ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sub>
                    </m:sSub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sSub>
                      <m:sSubPr>
                        <m:ctrlP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sub>
                    </m:sSub>
                  </m:oMath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504F2DA-EC35-1AD3-42EF-C48376AAA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317" y="5909210"/>
                <a:ext cx="2791855" cy="492443"/>
              </a:xfrm>
              <a:prstGeom prst="rect">
                <a:avLst/>
              </a:prstGeom>
              <a:blipFill>
                <a:blip r:embed="rId4"/>
                <a:stretch>
                  <a:fillRect l="-4367" t="-1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6A23C647-107E-4B0C-498E-CDD2C0C0CD2D}"/>
              </a:ext>
            </a:extLst>
          </p:cNvPr>
          <p:cNvSpPr txBox="1">
            <a:spLocks/>
          </p:cNvSpPr>
          <p:nvPr/>
        </p:nvSpPr>
        <p:spPr>
          <a:xfrm>
            <a:off x="843338" y="5294971"/>
            <a:ext cx="5378042" cy="92064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One result of this is that risk mitigation is a good (but not the sole) measure of resilience:</a:t>
            </a:r>
          </a:p>
        </p:txBody>
      </p:sp>
    </p:spTree>
    <p:extLst>
      <p:ext uri="{BB962C8B-B14F-4D97-AF65-F5344CB8AC3E}">
        <p14:creationId xmlns:p14="http://schemas.microsoft.com/office/powerpoint/2010/main" val="217610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4" grpId="0" animBg="1"/>
      <p:bldP spid="36" grpId="0"/>
      <p:bldP spid="38" grpId="0"/>
      <p:bldP spid="42" grpId="0"/>
      <p:bldP spid="43" grpId="0" animBg="1"/>
      <p:bldP spid="44" grpId="0"/>
      <p:bldP spid="47" grpId="0"/>
      <p:bldP spid="48" grpId="0"/>
      <p:bldP spid="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Maze outline">
            <a:extLst>
              <a:ext uri="{FF2B5EF4-FFF2-40B4-BE49-F238E27FC236}">
                <a16:creationId xmlns:a16="http://schemas.microsoft.com/office/drawing/2014/main" id="{1061EA30-06AC-D315-7D57-5A62688CD8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846" y="1756357"/>
            <a:ext cx="4195796" cy="419579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57BB654-F548-AE2B-2D62-0905E463F530}"/>
                  </a:ext>
                </a:extLst>
              </p14:cNvPr>
              <p14:cNvContentPartPr/>
              <p14:nvPr/>
            </p14:nvContentPartPr>
            <p14:xfrm>
              <a:off x="2953309" y="3879142"/>
              <a:ext cx="1792440" cy="1116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57BB654-F548-AE2B-2D62-0905E463F5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44309" y="3870142"/>
                <a:ext cx="1810080" cy="1134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Explosion: 8 Points 7">
            <a:extLst>
              <a:ext uri="{FF2B5EF4-FFF2-40B4-BE49-F238E27FC236}">
                <a16:creationId xmlns:a16="http://schemas.microsoft.com/office/drawing/2014/main" id="{685E81FD-65E7-D91C-AA53-2B6245A31D07}"/>
              </a:ext>
            </a:extLst>
          </p:cNvPr>
          <p:cNvSpPr/>
          <p:nvPr/>
        </p:nvSpPr>
        <p:spPr>
          <a:xfrm>
            <a:off x="4254180" y="2817992"/>
            <a:ext cx="663702" cy="567461"/>
          </a:xfrm>
          <a:prstGeom prst="irregularSeal1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F94692-95B0-D117-2D51-38B61BE16AB0}"/>
              </a:ext>
            </a:extLst>
          </p:cNvPr>
          <p:cNvSpPr txBox="1"/>
          <p:nvPr/>
        </p:nvSpPr>
        <p:spPr>
          <a:xfrm>
            <a:off x="3234728" y="1353730"/>
            <a:ext cx="20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Scenario Setup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8EF325-276D-827F-FC0E-268B2DEE31D0}"/>
              </a:ext>
            </a:extLst>
          </p:cNvPr>
          <p:cNvSpPr txBox="1"/>
          <p:nvPr/>
        </p:nvSpPr>
        <p:spPr>
          <a:xfrm>
            <a:off x="2103544" y="5556563"/>
            <a:ext cx="533120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Behavior: </a:t>
            </a:r>
            <a:r>
              <a:rPr lang="en-US" dirty="0"/>
              <a:t>Locomotion and navigation through airspace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E9B3B9-4CEF-DF90-794C-470656E759F3}"/>
              </a:ext>
            </a:extLst>
          </p:cNvPr>
          <p:cNvCxnSpPr>
            <a:cxnSpLocks/>
          </p:cNvCxnSpPr>
          <p:nvPr/>
        </p:nvCxnSpPr>
        <p:spPr>
          <a:xfrm flipH="1" flipV="1">
            <a:off x="3893874" y="4944769"/>
            <a:ext cx="381602" cy="611794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903C059-3A70-B7D4-1E9E-3952F56F1569}"/>
              </a:ext>
            </a:extLst>
          </p:cNvPr>
          <p:cNvSpPr txBox="1"/>
          <p:nvPr/>
        </p:nvSpPr>
        <p:spPr>
          <a:xfrm>
            <a:off x="2214271" y="3188917"/>
            <a:ext cx="803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2BC436-11BA-4839-A435-BDB6BACBE372}"/>
              </a:ext>
            </a:extLst>
          </p:cNvPr>
          <p:cNvSpPr txBox="1"/>
          <p:nvPr/>
        </p:nvSpPr>
        <p:spPr>
          <a:xfrm>
            <a:off x="4061364" y="2062240"/>
            <a:ext cx="930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Finish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15EBF3E-51FB-CE9F-1209-6DCBCA48D48D}"/>
              </a:ext>
            </a:extLst>
          </p:cNvPr>
          <p:cNvCxnSpPr>
            <a:cxnSpLocks/>
          </p:cNvCxnSpPr>
          <p:nvPr/>
        </p:nvCxnSpPr>
        <p:spPr>
          <a:xfrm>
            <a:off x="3214700" y="2388792"/>
            <a:ext cx="1060776" cy="523888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2CFFC56-7248-1B14-5A80-D2EE674449F7}"/>
              </a:ext>
            </a:extLst>
          </p:cNvPr>
          <p:cNvSpPr txBox="1"/>
          <p:nvPr/>
        </p:nvSpPr>
        <p:spPr>
          <a:xfrm>
            <a:off x="2174958" y="1802853"/>
            <a:ext cx="1927206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Condition: </a:t>
            </a:r>
            <a:r>
              <a:rPr lang="en-US" dirty="0"/>
              <a:t>Hazard blocks path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313D2F-4156-AE1D-C62E-C0842C831B8E}"/>
              </a:ext>
            </a:extLst>
          </p:cNvPr>
          <p:cNvSpPr/>
          <p:nvPr/>
        </p:nvSpPr>
        <p:spPr>
          <a:xfrm>
            <a:off x="5032558" y="2961968"/>
            <a:ext cx="510287" cy="2044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Graphic 27" descr="Quadcopter with solid fill">
            <a:extLst>
              <a:ext uri="{FF2B5EF4-FFF2-40B4-BE49-F238E27FC236}">
                <a16:creationId xmlns:a16="http://schemas.microsoft.com/office/drawing/2014/main" id="{85CED83C-6BB2-07D9-F5CB-3D0851B323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8236" y="3538680"/>
            <a:ext cx="710692" cy="710692"/>
          </a:xfrm>
          <a:prstGeom prst="rect">
            <a:avLst/>
          </a:prstGeom>
        </p:spPr>
      </p:pic>
      <p:pic>
        <p:nvPicPr>
          <p:cNvPr id="29" name="Graphic 28" descr="Quadcopter with solid fill">
            <a:extLst>
              <a:ext uri="{FF2B5EF4-FFF2-40B4-BE49-F238E27FC236}">
                <a16:creationId xmlns:a16="http://schemas.microsoft.com/office/drawing/2014/main" id="{162AC3A2-F7C1-853A-8C09-A808FDBAE1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44104" y="4069212"/>
            <a:ext cx="710692" cy="710692"/>
          </a:xfrm>
          <a:prstGeom prst="rect">
            <a:avLst/>
          </a:prstGeom>
        </p:spPr>
      </p:pic>
      <p:pic>
        <p:nvPicPr>
          <p:cNvPr id="33" name="Graphic 32" descr="Maze outline">
            <a:extLst>
              <a:ext uri="{FF2B5EF4-FFF2-40B4-BE49-F238E27FC236}">
                <a16:creationId xmlns:a16="http://schemas.microsoft.com/office/drawing/2014/main" id="{811345C5-3CE7-C6ED-5778-B97008CCC7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0" y="1783372"/>
            <a:ext cx="4195796" cy="419579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220A572-EE20-6DDA-BCF1-891244095ED7}"/>
                  </a:ext>
                </a:extLst>
              </p14:cNvPr>
              <p14:cNvContentPartPr/>
              <p14:nvPr/>
            </p14:nvContentPartPr>
            <p14:xfrm>
              <a:off x="6796463" y="3906157"/>
              <a:ext cx="1792440" cy="1116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220A572-EE20-6DDA-BCF1-891244095E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87463" y="3897157"/>
                <a:ext cx="1810080" cy="113400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Explosion: 8 Points 34">
            <a:extLst>
              <a:ext uri="{FF2B5EF4-FFF2-40B4-BE49-F238E27FC236}">
                <a16:creationId xmlns:a16="http://schemas.microsoft.com/office/drawing/2014/main" id="{92CCC97F-0337-50D8-245E-8F872E390182}"/>
              </a:ext>
            </a:extLst>
          </p:cNvPr>
          <p:cNvSpPr/>
          <p:nvPr/>
        </p:nvSpPr>
        <p:spPr>
          <a:xfrm>
            <a:off x="8097334" y="2845007"/>
            <a:ext cx="663702" cy="567461"/>
          </a:xfrm>
          <a:prstGeom prst="irregularSeal1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642907-119C-1BB2-F475-EBA1BC5E977E}"/>
              </a:ext>
            </a:extLst>
          </p:cNvPr>
          <p:cNvSpPr txBox="1"/>
          <p:nvPr/>
        </p:nvSpPr>
        <p:spPr>
          <a:xfrm>
            <a:off x="6708720" y="1404315"/>
            <a:ext cx="2905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Resilience Simulation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5CA73FF-1054-A2E9-8541-3C0BEED03BC0}"/>
              </a:ext>
            </a:extLst>
          </p:cNvPr>
          <p:cNvGrpSpPr/>
          <p:nvPr/>
        </p:nvGrpSpPr>
        <p:grpSpPr>
          <a:xfrm>
            <a:off x="8865526" y="2345335"/>
            <a:ext cx="249120" cy="108360"/>
            <a:chOff x="10648560" y="2066576"/>
            <a:chExt cx="249120" cy="10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23DEF2E-BB8E-D14B-7E75-BEF63FB23153}"/>
                    </a:ext>
                  </a:extLst>
                </p14:cNvPr>
                <p14:cNvContentPartPr/>
                <p14:nvPr/>
              </p14:nvContentPartPr>
              <p14:xfrm>
                <a:off x="10648560" y="2066576"/>
                <a:ext cx="100440" cy="106560"/>
              </p14:xfrm>
            </p:contentPart>
          </mc:Choice>
          <mc:Fallback xmlns=""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E297E7BD-D4F1-0897-9CF6-5B904660C20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630920" y="2048936"/>
                  <a:ext cx="1360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771C2E9-3757-613E-A075-F8F686C5EAAA}"/>
                    </a:ext>
                  </a:extLst>
                </p14:cNvPr>
                <p14:cNvContentPartPr/>
                <p14:nvPr/>
              </p14:nvContentPartPr>
              <p14:xfrm>
                <a:off x="10741800" y="2080976"/>
                <a:ext cx="155880" cy="93960"/>
              </p14:xfrm>
            </p:contentPart>
          </mc:Choice>
          <mc:Fallback xmlns=""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F7189445-9C51-2CBC-B6D3-B0B0371EBFE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723800" y="2063336"/>
                  <a:ext cx="19152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CEF4F15-3D48-40D7-5EC4-3A9811B7CBBA}"/>
                  </a:ext>
                </a:extLst>
              </p14:cNvPr>
              <p14:cNvContentPartPr/>
              <p14:nvPr/>
            </p14:nvContentPartPr>
            <p14:xfrm>
              <a:off x="8421414" y="3583732"/>
              <a:ext cx="16920" cy="5130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CEF4F15-3D48-40D7-5EC4-3A9811B7CBB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403414" y="3565745"/>
                <a:ext cx="52560" cy="548615"/>
              </a:xfrm>
              <a:prstGeom prst="rect">
                <a:avLst/>
              </a:prstGeom>
            </p:spPr>
          </p:pic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C9AF6B2E-649D-5827-FFA8-D5122141565C}"/>
              </a:ext>
            </a:extLst>
          </p:cNvPr>
          <p:cNvSpPr txBox="1"/>
          <p:nvPr/>
        </p:nvSpPr>
        <p:spPr>
          <a:xfrm>
            <a:off x="6057425" y="3215932"/>
            <a:ext cx="803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Start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D4352C-D3BC-4161-27DB-9927A91C2A6A}"/>
              </a:ext>
            </a:extLst>
          </p:cNvPr>
          <p:cNvSpPr txBox="1"/>
          <p:nvPr/>
        </p:nvSpPr>
        <p:spPr>
          <a:xfrm>
            <a:off x="7904518" y="2089255"/>
            <a:ext cx="930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Finish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4F4F5F-1852-A53F-22F4-3AE23FE3AF21}"/>
              </a:ext>
            </a:extLst>
          </p:cNvPr>
          <p:cNvSpPr txBox="1"/>
          <p:nvPr/>
        </p:nvSpPr>
        <p:spPr>
          <a:xfrm>
            <a:off x="9442661" y="4348807"/>
            <a:ext cx="1764382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Strategy: </a:t>
            </a:r>
            <a:r>
              <a:rPr lang="en-US" dirty="0">
                <a:solidFill>
                  <a:srgbClr val="00B050"/>
                </a:solidFill>
              </a:rPr>
              <a:t>Detect and re-plan!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C3C7D49-C822-72AD-9A8A-DB120C9AD6AD}"/>
              </a:ext>
            </a:extLst>
          </p:cNvPr>
          <p:cNvCxnSpPr>
            <a:cxnSpLocks/>
          </p:cNvCxnSpPr>
          <p:nvPr/>
        </p:nvCxnSpPr>
        <p:spPr>
          <a:xfrm flipH="1" flipV="1">
            <a:off x="8895945" y="3809866"/>
            <a:ext cx="985335" cy="559135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986DAC9-C838-962F-CD56-D3E18565A884}"/>
              </a:ext>
            </a:extLst>
          </p:cNvPr>
          <p:cNvSpPr txBox="1"/>
          <p:nvPr/>
        </p:nvSpPr>
        <p:spPr>
          <a:xfrm>
            <a:off x="9328734" y="1789392"/>
            <a:ext cx="1673614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Outcome: </a:t>
            </a:r>
            <a:r>
              <a:rPr lang="en-US" dirty="0">
                <a:solidFill>
                  <a:srgbClr val="00B050"/>
                </a:solidFill>
              </a:rPr>
              <a:t>Maze finished! </a:t>
            </a:r>
            <a:r>
              <a:rPr lang="en-US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43D004-551E-F909-5223-A208A0D1D819}"/>
              </a:ext>
            </a:extLst>
          </p:cNvPr>
          <p:cNvSpPr txBox="1"/>
          <p:nvPr/>
        </p:nvSpPr>
        <p:spPr>
          <a:xfrm>
            <a:off x="6535544" y="2198676"/>
            <a:ext cx="1167251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Outcome: </a:t>
            </a:r>
            <a:r>
              <a:rPr lang="en-US" dirty="0">
                <a:solidFill>
                  <a:srgbClr val="FF0000"/>
                </a:solidFill>
              </a:rPr>
              <a:t>Crash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7AF36A7-1CEC-E465-FB6E-A1387CF30A42}"/>
              </a:ext>
            </a:extLst>
          </p:cNvPr>
          <p:cNvSpPr/>
          <p:nvPr/>
        </p:nvSpPr>
        <p:spPr>
          <a:xfrm>
            <a:off x="8875712" y="2988983"/>
            <a:ext cx="510287" cy="2044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0C7ABB1-84A0-5F4D-1417-80B32A145D78}"/>
                  </a:ext>
                </a:extLst>
              </p14:cNvPr>
              <p14:cNvContentPartPr/>
              <p14:nvPr/>
            </p14:nvContentPartPr>
            <p14:xfrm>
              <a:off x="8439105" y="2398720"/>
              <a:ext cx="540360" cy="16315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0C7ABB1-84A0-5F4D-1417-80B32A145D7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421105" y="2380720"/>
                <a:ext cx="576000" cy="1667160"/>
              </a:xfrm>
              <a:prstGeom prst="rect">
                <a:avLst/>
              </a:prstGeom>
            </p:spPr>
          </p:pic>
        </mc:Fallback>
      </mc:AlternateContent>
      <p:pic>
        <p:nvPicPr>
          <p:cNvPr id="55" name="Graphic 54" descr="Quadcopter with solid fill">
            <a:extLst>
              <a:ext uri="{FF2B5EF4-FFF2-40B4-BE49-F238E27FC236}">
                <a16:creationId xmlns:a16="http://schemas.microsoft.com/office/drawing/2014/main" id="{F64C665D-1C63-4482-E1AF-2ADA6B3C93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1390" y="3565695"/>
            <a:ext cx="710692" cy="710692"/>
          </a:xfrm>
          <a:prstGeom prst="rect">
            <a:avLst/>
          </a:prstGeom>
        </p:spPr>
      </p:pic>
      <p:pic>
        <p:nvPicPr>
          <p:cNvPr id="56" name="Graphic 55" descr="Quadcopter with solid fill">
            <a:extLst>
              <a:ext uri="{FF2B5EF4-FFF2-40B4-BE49-F238E27FC236}">
                <a16:creationId xmlns:a16="http://schemas.microsoft.com/office/drawing/2014/main" id="{2D3C9AC6-6570-F8F1-2112-805153A4C0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87258" y="4096227"/>
            <a:ext cx="710692" cy="710692"/>
          </a:xfrm>
          <a:prstGeom prst="rect">
            <a:avLst/>
          </a:prstGeom>
        </p:spPr>
      </p:pic>
      <p:pic>
        <p:nvPicPr>
          <p:cNvPr id="57" name="Graphic 56" descr="Quadcopter with solid fill">
            <a:extLst>
              <a:ext uri="{FF2B5EF4-FFF2-40B4-BE49-F238E27FC236}">
                <a16:creationId xmlns:a16="http://schemas.microsoft.com/office/drawing/2014/main" id="{D61FF9A8-A348-0379-CFB1-54FE31445C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082988" y="3099174"/>
            <a:ext cx="710692" cy="710692"/>
          </a:xfrm>
          <a:prstGeom prst="rect">
            <a:avLst/>
          </a:prstGeom>
        </p:spPr>
      </p:pic>
      <p:pic>
        <p:nvPicPr>
          <p:cNvPr id="58" name="Graphic 57" descr="Quadcopter with solid fill">
            <a:extLst>
              <a:ext uri="{FF2B5EF4-FFF2-40B4-BE49-F238E27FC236}">
                <a16:creationId xmlns:a16="http://schemas.microsoft.com/office/drawing/2014/main" id="{D2BD6BEE-2A04-78CD-A90C-4AD4E4F020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618042" y="1740867"/>
            <a:ext cx="710692" cy="710692"/>
          </a:xfrm>
          <a:prstGeom prst="rect">
            <a:avLst/>
          </a:prstGeom>
        </p:spPr>
      </p:pic>
      <p:pic>
        <p:nvPicPr>
          <p:cNvPr id="59" name="Graphic 58" descr="Quadcopter with solid fill">
            <a:extLst>
              <a:ext uri="{FF2B5EF4-FFF2-40B4-BE49-F238E27FC236}">
                <a16:creationId xmlns:a16="http://schemas.microsoft.com/office/drawing/2014/main" id="{176C1B2F-D56F-3097-286A-0ED3B27500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225967" y="2972253"/>
            <a:ext cx="356728" cy="356728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0E9E605-6F9F-AE0C-7AB1-D508CC7A6323}"/>
              </a:ext>
            </a:extLst>
          </p:cNvPr>
          <p:cNvCxnSpPr>
            <a:cxnSpLocks/>
          </p:cNvCxnSpPr>
          <p:nvPr/>
        </p:nvCxnSpPr>
        <p:spPr>
          <a:xfrm>
            <a:off x="7688406" y="2845007"/>
            <a:ext cx="473116" cy="264133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E8B1A39-A772-1C25-70F9-7544BABE2596}"/>
              </a:ext>
            </a:extLst>
          </p:cNvPr>
          <p:cNvSpPr txBox="1"/>
          <p:nvPr/>
        </p:nvSpPr>
        <p:spPr>
          <a:xfrm>
            <a:off x="5994276" y="3704194"/>
            <a:ext cx="2065677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Strategy: </a:t>
            </a:r>
            <a:r>
              <a:rPr lang="en-US" dirty="0">
                <a:solidFill>
                  <a:srgbClr val="FF0000"/>
                </a:solidFill>
              </a:rPr>
              <a:t>No Intrusion Detection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BB8AF9C-EE4B-87B1-DD6B-0C8EFEF0C306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8059953" y="3704194"/>
            <a:ext cx="334156" cy="323166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44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4" grpId="0" animBg="1"/>
      <p:bldP spid="16" grpId="0"/>
      <p:bldP spid="17" grpId="0"/>
      <p:bldP spid="19" grpId="0" animBg="1"/>
      <p:bldP spid="35" grpId="0" animBg="1"/>
      <p:bldP spid="36" grpId="0"/>
      <p:bldP spid="43" grpId="0"/>
      <p:bldP spid="44" grpId="0"/>
      <p:bldP spid="47" grpId="0" animBg="1"/>
      <p:bldP spid="50" grpId="0" animBg="1"/>
      <p:bldP spid="51" grpId="0" animBg="1"/>
      <p:bldP spid="5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EDCCFB5-24E1-F946-3B48-858E4C74C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46" y="1191865"/>
            <a:ext cx="7092654" cy="505648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CDBAC21-2269-B344-AE0F-15C7C882F6E3}"/>
              </a:ext>
            </a:extLst>
          </p:cNvPr>
          <p:cNvCxnSpPr>
            <a:cxnSpLocks/>
          </p:cNvCxnSpPr>
          <p:nvPr/>
        </p:nvCxnSpPr>
        <p:spPr>
          <a:xfrm>
            <a:off x="3992041" y="1945669"/>
            <a:ext cx="1947959" cy="0"/>
          </a:xfrm>
          <a:prstGeom prst="straightConnector1">
            <a:avLst/>
          </a:prstGeom>
          <a:ln w="57150">
            <a:tailEnd type="triangle"/>
          </a:ln>
          <a:effectLst>
            <a:outerShdw blurRad="177800" sx="102000" sy="102000" algn="ctr" rotWithShape="0">
              <a:prstClr val="black">
                <a:alpha val="66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DE8A0CE-D1EC-77A7-3B8E-B923375B2579}"/>
              </a:ext>
            </a:extLst>
          </p:cNvPr>
          <p:cNvSpPr txBox="1"/>
          <p:nvPr/>
        </p:nvSpPr>
        <p:spPr>
          <a:xfrm>
            <a:off x="1025236" y="1495013"/>
            <a:ext cx="3101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Restricted: </a:t>
            </a:r>
            <a:r>
              <a:rPr lang="en-US" dirty="0"/>
              <a:t>airspace the aircraft isn’t allowed to fly 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BE9D1E-A113-541D-DF5D-F2B45912C3EE}"/>
              </a:ext>
            </a:extLst>
          </p:cNvPr>
          <p:cNvSpPr txBox="1"/>
          <p:nvPr/>
        </p:nvSpPr>
        <p:spPr>
          <a:xfrm>
            <a:off x="273340" y="2624901"/>
            <a:ext cx="4168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Occupied</a:t>
            </a:r>
            <a:r>
              <a:rPr lang="en-US" dirty="0"/>
              <a:t>: Ground area where it would be unsafe to land due to proximity to people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BB73CC0-022C-CF42-2194-26EF97ABB631}"/>
              </a:ext>
            </a:extLst>
          </p:cNvPr>
          <p:cNvCxnSpPr>
            <a:cxnSpLocks/>
          </p:cNvCxnSpPr>
          <p:nvPr/>
        </p:nvCxnSpPr>
        <p:spPr>
          <a:xfrm>
            <a:off x="3938400" y="2260815"/>
            <a:ext cx="2735999" cy="0"/>
          </a:xfrm>
          <a:prstGeom prst="straightConnector1">
            <a:avLst/>
          </a:prstGeom>
          <a:ln w="57150">
            <a:tailEnd type="triangle"/>
          </a:ln>
          <a:effectLst>
            <a:outerShdw blurRad="177800" sx="102000" sy="102000" algn="ctr" rotWithShape="0">
              <a:prstClr val="black">
                <a:alpha val="66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F5A381-90BA-69D8-3E88-E57112342AEB}"/>
              </a:ext>
            </a:extLst>
          </p:cNvPr>
          <p:cNvCxnSpPr>
            <a:cxnSpLocks/>
          </p:cNvCxnSpPr>
          <p:nvPr/>
        </p:nvCxnSpPr>
        <p:spPr>
          <a:xfrm flipV="1">
            <a:off x="3826180" y="3389993"/>
            <a:ext cx="2908799" cy="11385"/>
          </a:xfrm>
          <a:prstGeom prst="straightConnector1">
            <a:avLst/>
          </a:prstGeom>
          <a:ln w="57150">
            <a:tailEnd type="triangle"/>
          </a:ln>
          <a:effectLst>
            <a:outerShdw blurRad="177800" sx="102000" sy="102000" algn="ctr" rotWithShape="0">
              <a:prstClr val="black">
                <a:alpha val="66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7DA5057-1180-B4D2-46C1-69500E1C29FC}"/>
              </a:ext>
            </a:extLst>
          </p:cNvPr>
          <p:cNvSpPr txBox="1"/>
          <p:nvPr/>
        </p:nvSpPr>
        <p:spPr>
          <a:xfrm>
            <a:off x="367199" y="2041968"/>
            <a:ext cx="4168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Disallowed</a:t>
            </a:r>
            <a:r>
              <a:rPr lang="en-US" dirty="0"/>
              <a:t>: Ground area where the aircraft isn’t allowed to land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372FF8-5B79-AAF2-359C-EA0CE838E3C6}"/>
              </a:ext>
            </a:extLst>
          </p:cNvPr>
          <p:cNvSpPr txBox="1"/>
          <p:nvPr/>
        </p:nvSpPr>
        <p:spPr>
          <a:xfrm>
            <a:off x="273340" y="3171856"/>
            <a:ext cx="3600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Suitable</a:t>
            </a:r>
            <a:r>
              <a:rPr lang="en-US" dirty="0"/>
              <a:t>: Ground area where an allowed safe landing is possible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7C0120F-D419-034F-9DF6-D803BE1F6CE5}"/>
              </a:ext>
            </a:extLst>
          </p:cNvPr>
          <p:cNvCxnSpPr>
            <a:cxnSpLocks/>
          </p:cNvCxnSpPr>
          <p:nvPr/>
        </p:nvCxnSpPr>
        <p:spPr>
          <a:xfrm>
            <a:off x="3581400" y="4610322"/>
            <a:ext cx="2304959" cy="0"/>
          </a:xfrm>
          <a:prstGeom prst="straightConnector1">
            <a:avLst/>
          </a:prstGeom>
          <a:ln w="57150">
            <a:tailEnd type="triangle"/>
          </a:ln>
          <a:effectLst>
            <a:outerShdw blurRad="177800" sx="102000" sy="102000" algn="ctr" rotWithShape="0">
              <a:prstClr val="black">
                <a:alpha val="66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1344971-FB6F-1D55-8CBE-B69C8DFCC7EE}"/>
              </a:ext>
            </a:extLst>
          </p:cNvPr>
          <p:cNvCxnSpPr>
            <a:cxnSpLocks/>
          </p:cNvCxnSpPr>
          <p:nvPr/>
        </p:nvCxnSpPr>
        <p:spPr>
          <a:xfrm>
            <a:off x="4261146" y="2963681"/>
            <a:ext cx="2466894" cy="0"/>
          </a:xfrm>
          <a:prstGeom prst="straightConnector1">
            <a:avLst/>
          </a:prstGeom>
          <a:ln w="57150">
            <a:tailEnd type="triangle"/>
          </a:ln>
          <a:effectLst>
            <a:outerShdw blurRad="177800" sx="102000" sy="102000" algn="ctr" rotWithShape="0">
              <a:prstClr val="black">
                <a:alpha val="66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9096D64-36C8-15B2-7891-53D24001D041}"/>
              </a:ext>
            </a:extLst>
          </p:cNvPr>
          <p:cNvSpPr txBox="1"/>
          <p:nvPr/>
        </p:nvSpPr>
        <p:spPr>
          <a:xfrm>
            <a:off x="367199" y="3936948"/>
            <a:ext cx="36002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Self: </a:t>
            </a:r>
            <a:r>
              <a:rPr lang="en-US" dirty="0" err="1"/>
              <a:t>Ownship</a:t>
            </a:r>
            <a:r>
              <a:rPr lang="en-US" dirty="0"/>
              <a:t> aircraft, along with various envelopes for </a:t>
            </a:r>
            <a:r>
              <a:rPr lang="en-US" b="1" dirty="0"/>
              <a:t>safety</a:t>
            </a:r>
            <a:r>
              <a:rPr lang="en-US" dirty="0"/>
              <a:t> (distance deemed unsafe) </a:t>
            </a:r>
            <a:r>
              <a:rPr lang="en-US" b="1" dirty="0"/>
              <a:t>speed</a:t>
            </a:r>
            <a:r>
              <a:rPr lang="en-US" dirty="0"/>
              <a:t> (potential locations at next timestep), and </a:t>
            </a:r>
            <a:r>
              <a:rPr lang="en-US" b="1" dirty="0"/>
              <a:t>envelope</a:t>
            </a:r>
            <a:r>
              <a:rPr lang="en-US" dirty="0"/>
              <a:t> (physical boundary of aircraft)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6BCB226-70A7-DAEF-8297-B442BB2E92B5}"/>
              </a:ext>
            </a:extLst>
          </p:cNvPr>
          <p:cNvCxnSpPr>
            <a:cxnSpLocks/>
          </p:cNvCxnSpPr>
          <p:nvPr/>
        </p:nvCxnSpPr>
        <p:spPr>
          <a:xfrm flipH="1" flipV="1">
            <a:off x="8610600" y="4665600"/>
            <a:ext cx="990230" cy="216000"/>
          </a:xfrm>
          <a:prstGeom prst="straightConnector1">
            <a:avLst/>
          </a:prstGeom>
          <a:ln w="57150">
            <a:tailEnd type="triangle"/>
          </a:ln>
          <a:effectLst>
            <a:outerShdw blurRad="177800" sx="102000" sy="102000" algn="ctr" rotWithShape="0">
              <a:prstClr val="black">
                <a:alpha val="66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957DFA2-0AFE-1172-B442-9DBCB61A86E1}"/>
              </a:ext>
            </a:extLst>
          </p:cNvPr>
          <p:cNvSpPr txBox="1"/>
          <p:nvPr/>
        </p:nvSpPr>
        <p:spPr>
          <a:xfrm>
            <a:off x="9514430" y="4750934"/>
            <a:ext cx="25911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uav</a:t>
            </a:r>
            <a:r>
              <a:rPr lang="en-US" b="1" dirty="0"/>
              <a:t>: </a:t>
            </a:r>
            <a:r>
              <a:rPr lang="en-US" dirty="0"/>
              <a:t>Other aircraft(s) in the local airspace with given envelopes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DEA327-F592-A407-A7EC-BC2444806EBD}"/>
              </a:ext>
            </a:extLst>
          </p:cNvPr>
          <p:cNvSpPr txBox="1"/>
          <p:nvPr/>
        </p:nvSpPr>
        <p:spPr>
          <a:xfrm>
            <a:off x="5748094" y="4236675"/>
            <a:ext cx="695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Start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F90E6F-9EC7-7EDF-DCCF-20445F870FBB}"/>
              </a:ext>
            </a:extLst>
          </p:cNvPr>
          <p:cNvSpPr txBox="1"/>
          <p:nvPr/>
        </p:nvSpPr>
        <p:spPr>
          <a:xfrm>
            <a:off x="8298994" y="1717688"/>
            <a:ext cx="695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End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B5CDDA-314D-7CE1-1F03-728AC7E8BB84}"/>
              </a:ext>
            </a:extLst>
          </p:cNvPr>
          <p:cNvSpPr txBox="1"/>
          <p:nvPr/>
        </p:nvSpPr>
        <p:spPr>
          <a:xfrm>
            <a:off x="662028" y="5879018"/>
            <a:ext cx="1029637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Aspects of the map are randomly generated in this instance – but parameterizable such that we can change locations (start, end) and distributions (e.g., to match a real environment for a mission).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10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21" grpId="0"/>
      <p:bldP spid="29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59A4A6D-FA4F-6B05-650E-6FC0997F5E87}"/>
              </a:ext>
            </a:extLst>
          </p:cNvPr>
          <p:cNvSpPr/>
          <p:nvPr/>
        </p:nvSpPr>
        <p:spPr>
          <a:xfrm>
            <a:off x="5331357" y="2461552"/>
            <a:ext cx="632024" cy="25868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48C8EA-493E-4681-AFC6-8978FF882C24}"/>
              </a:ext>
            </a:extLst>
          </p:cNvPr>
          <p:cNvCxnSpPr>
            <a:cxnSpLocks/>
          </p:cNvCxnSpPr>
          <p:nvPr/>
        </p:nvCxnSpPr>
        <p:spPr>
          <a:xfrm>
            <a:off x="1384734" y="1385755"/>
            <a:ext cx="0" cy="4380614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0FD721-12A0-4641-9A34-F02F0357B324}"/>
              </a:ext>
            </a:extLst>
          </p:cNvPr>
          <p:cNvCxnSpPr>
            <a:cxnSpLocks/>
          </p:cNvCxnSpPr>
          <p:nvPr/>
        </p:nvCxnSpPr>
        <p:spPr>
          <a:xfrm flipH="1">
            <a:off x="977154" y="5504100"/>
            <a:ext cx="6248399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0AD7AC-0DB7-4C69-994E-3803ABCB0DCC}"/>
              </a:ext>
            </a:extLst>
          </p:cNvPr>
          <p:cNvCxnSpPr>
            <a:cxnSpLocks/>
          </p:cNvCxnSpPr>
          <p:nvPr/>
        </p:nvCxnSpPr>
        <p:spPr>
          <a:xfrm flipH="1">
            <a:off x="1384734" y="2787537"/>
            <a:ext cx="136096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13E66B-2A49-4C7E-A2C0-BE309A27E4F7}"/>
              </a:ext>
            </a:extLst>
          </p:cNvPr>
          <p:cNvCxnSpPr>
            <a:cxnSpLocks/>
          </p:cNvCxnSpPr>
          <p:nvPr/>
        </p:nvCxnSpPr>
        <p:spPr>
          <a:xfrm flipH="1">
            <a:off x="2745703" y="2780448"/>
            <a:ext cx="1" cy="1858869"/>
          </a:xfrm>
          <a:prstGeom prst="line">
            <a:avLst/>
          </a:prstGeom>
          <a:ln w="38100">
            <a:solidFill>
              <a:srgbClr val="FE7F00">
                <a:alpha val="61961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684F00-20D1-4D9E-9AC5-CB340D18319C}"/>
              </a:ext>
            </a:extLst>
          </p:cNvPr>
          <p:cNvCxnSpPr>
            <a:cxnSpLocks/>
          </p:cNvCxnSpPr>
          <p:nvPr/>
        </p:nvCxnSpPr>
        <p:spPr>
          <a:xfrm flipH="1">
            <a:off x="1055126" y="4171486"/>
            <a:ext cx="6333459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B8CB440-A52B-4F6E-AD50-917A9C2CE46D}"/>
              </a:ext>
            </a:extLst>
          </p:cNvPr>
          <p:cNvCxnSpPr>
            <a:cxnSpLocks/>
          </p:cNvCxnSpPr>
          <p:nvPr/>
        </p:nvCxnSpPr>
        <p:spPr>
          <a:xfrm flipH="1" flipV="1">
            <a:off x="2745702" y="4639317"/>
            <a:ext cx="2758483" cy="15275"/>
          </a:xfrm>
          <a:prstGeom prst="line">
            <a:avLst/>
          </a:prstGeom>
          <a:ln w="38100">
            <a:solidFill>
              <a:srgbClr val="FE7F00">
                <a:alpha val="61961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17A68A-0E67-4E8E-9F96-199153A60EAA}"/>
              </a:ext>
            </a:extLst>
          </p:cNvPr>
          <p:cNvCxnSpPr>
            <a:cxnSpLocks/>
          </p:cNvCxnSpPr>
          <p:nvPr/>
        </p:nvCxnSpPr>
        <p:spPr>
          <a:xfrm flipH="1" flipV="1">
            <a:off x="2745702" y="2787537"/>
            <a:ext cx="404037" cy="922345"/>
          </a:xfrm>
          <a:prstGeom prst="line">
            <a:avLst/>
          </a:prstGeom>
          <a:ln w="38100">
            <a:solidFill>
              <a:srgbClr val="FE7F00">
                <a:alpha val="61961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A0C75D-FEC4-4479-B303-907B449F1F43}"/>
              </a:ext>
            </a:extLst>
          </p:cNvPr>
          <p:cNvCxnSpPr>
            <a:cxnSpLocks/>
          </p:cNvCxnSpPr>
          <p:nvPr/>
        </p:nvCxnSpPr>
        <p:spPr>
          <a:xfrm flipV="1">
            <a:off x="3149739" y="3679486"/>
            <a:ext cx="2512384" cy="30398"/>
          </a:xfrm>
          <a:prstGeom prst="line">
            <a:avLst/>
          </a:prstGeom>
          <a:ln w="38100">
            <a:solidFill>
              <a:srgbClr val="FE7F00">
                <a:alpha val="61961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9378DA1-1609-449C-A348-4FF986CA930A}"/>
              </a:ext>
            </a:extLst>
          </p:cNvPr>
          <p:cNvCxnSpPr>
            <a:cxnSpLocks/>
          </p:cNvCxnSpPr>
          <p:nvPr/>
        </p:nvCxnSpPr>
        <p:spPr>
          <a:xfrm flipH="1">
            <a:off x="1384734" y="3134813"/>
            <a:ext cx="4908698" cy="2406503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98D0017-3703-4F17-9FEA-71C7E0F07544}"/>
              </a:ext>
            </a:extLst>
          </p:cNvPr>
          <p:cNvCxnSpPr>
            <a:cxnSpLocks/>
          </p:cNvCxnSpPr>
          <p:nvPr/>
        </p:nvCxnSpPr>
        <p:spPr>
          <a:xfrm flipV="1">
            <a:off x="4747279" y="2891546"/>
            <a:ext cx="877188" cy="830315"/>
          </a:xfrm>
          <a:prstGeom prst="line">
            <a:avLst/>
          </a:prstGeom>
          <a:ln w="38100">
            <a:solidFill>
              <a:srgbClr val="FE7F00">
                <a:alpha val="61961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B12D252-CD2A-464D-957B-5BF91B28DFF9}"/>
              </a:ext>
            </a:extLst>
          </p:cNvPr>
          <p:cNvSpPr txBox="1"/>
          <p:nvPr/>
        </p:nvSpPr>
        <p:spPr>
          <a:xfrm>
            <a:off x="290553" y="3785928"/>
            <a:ext cx="30674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Robustness Safety Threshold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F251B9-2313-41E2-BB3B-9DC881291524}"/>
              </a:ext>
            </a:extLst>
          </p:cNvPr>
          <p:cNvSpPr txBox="1"/>
          <p:nvPr/>
        </p:nvSpPr>
        <p:spPr>
          <a:xfrm>
            <a:off x="1467328" y="4718090"/>
            <a:ext cx="30674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Recovery Time Safety Threshold</a:t>
            </a:r>
          </a:p>
        </p:txBody>
      </p:sp>
      <p:sp>
        <p:nvSpPr>
          <p:cNvPr id="39" name="Explosion: 8 Points 38">
            <a:extLst>
              <a:ext uri="{FF2B5EF4-FFF2-40B4-BE49-F238E27FC236}">
                <a16:creationId xmlns:a16="http://schemas.microsoft.com/office/drawing/2014/main" id="{C37E24B3-0D3D-4566-9940-744CBC27DDDD}"/>
              </a:ext>
            </a:extLst>
          </p:cNvPr>
          <p:cNvSpPr/>
          <p:nvPr/>
        </p:nvSpPr>
        <p:spPr>
          <a:xfrm>
            <a:off x="5426325" y="4449192"/>
            <a:ext cx="425303" cy="409763"/>
          </a:xfrm>
          <a:prstGeom prst="irregularSeal1">
            <a:avLst/>
          </a:prstGeom>
          <a:solidFill>
            <a:schemeClr val="accent2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Explosion: 8 Points 39">
            <a:extLst>
              <a:ext uri="{FF2B5EF4-FFF2-40B4-BE49-F238E27FC236}">
                <a16:creationId xmlns:a16="http://schemas.microsoft.com/office/drawing/2014/main" id="{7217CDF7-C7AA-4A65-99F4-485155D83140}"/>
              </a:ext>
            </a:extLst>
          </p:cNvPr>
          <p:cNvSpPr/>
          <p:nvPr/>
        </p:nvSpPr>
        <p:spPr>
          <a:xfrm>
            <a:off x="5432526" y="3516979"/>
            <a:ext cx="425303" cy="409763"/>
          </a:xfrm>
          <a:prstGeom prst="irregularSeal1">
            <a:avLst/>
          </a:prstGeom>
          <a:solidFill>
            <a:schemeClr val="accent2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25B9684-2968-4453-BF0F-8E3C96CC5821}"/>
              </a:ext>
            </a:extLst>
          </p:cNvPr>
          <p:cNvSpPr/>
          <p:nvPr/>
        </p:nvSpPr>
        <p:spPr>
          <a:xfrm>
            <a:off x="5481038" y="2737467"/>
            <a:ext cx="315876" cy="31879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D54CFF-F3D1-42DE-98AE-DB0FCB713DBC}"/>
              </a:ext>
            </a:extLst>
          </p:cNvPr>
          <p:cNvSpPr txBox="1"/>
          <p:nvPr/>
        </p:nvSpPr>
        <p:spPr>
          <a:xfrm>
            <a:off x="5173025" y="3828036"/>
            <a:ext cx="1839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Unsafe Disruptions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D4EA7D-F715-7E6E-D3F9-08DDD4089B35}"/>
              </a:ext>
            </a:extLst>
          </p:cNvPr>
          <p:cNvSpPr txBox="1"/>
          <p:nvPr/>
        </p:nvSpPr>
        <p:spPr>
          <a:xfrm>
            <a:off x="1549539" y="1042709"/>
            <a:ext cx="4302088" cy="707886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Nova" panose="020B0604020202020204" pitchFamily="34" charset="0"/>
              </a:rPr>
              <a:t>Resilience means taking  a </a:t>
            </a:r>
            <a:r>
              <a:rPr lang="en-US" sz="2000" b="1" dirty="0">
                <a:latin typeface="Arial Nova" panose="020B0604020202020204" pitchFamily="34" charset="0"/>
              </a:rPr>
              <a:t>dynamic understanding of risk/safety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CD600-8846-AB22-19A4-A900EDCFB37E}"/>
              </a:ext>
            </a:extLst>
          </p:cNvPr>
          <p:cNvSpPr txBox="1"/>
          <p:nvPr/>
        </p:nvSpPr>
        <p:spPr>
          <a:xfrm>
            <a:off x="4713556" y="2438349"/>
            <a:ext cx="2046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Safe Disruptions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09EC55-A97D-3D35-A50D-2E3523828561}"/>
              </a:ext>
            </a:extLst>
          </p:cNvPr>
          <p:cNvSpPr txBox="1"/>
          <p:nvPr/>
        </p:nvSpPr>
        <p:spPr>
          <a:xfrm>
            <a:off x="4817021" y="2018914"/>
            <a:ext cx="1839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Risk Outcomes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8FCA1C-7C8E-FD4B-76AD-0A82D09B5957}"/>
              </a:ext>
            </a:extLst>
          </p:cNvPr>
          <p:cNvSpPr txBox="1"/>
          <p:nvPr/>
        </p:nvSpPr>
        <p:spPr>
          <a:xfrm>
            <a:off x="6639438" y="1690062"/>
            <a:ext cx="5148372" cy="347787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Nova" panose="020B0604020202020204" pitchFamily="34" charset="0"/>
              </a:rPr>
              <a:t>Considering resilience is important when our system has dynamic attributes, e.g.: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latin typeface="Arial Nova" panose="020B0604020202020204" pitchFamily="34" charset="0"/>
              </a:rPr>
              <a:t>The system state changes over time</a:t>
            </a:r>
          </a:p>
          <a:p>
            <a:pPr marL="800100" lvl="1" indent="-342900">
              <a:buFontTx/>
              <a:buChar char="-"/>
            </a:pPr>
            <a:r>
              <a:rPr lang="en-US" sz="2000" dirty="0">
                <a:latin typeface="Arial Nova" panose="020B0604020202020204" pitchFamily="34" charset="0"/>
              </a:rPr>
              <a:t>(e.g., position, velocity, </a:t>
            </a:r>
            <a:r>
              <a:rPr lang="en-US" sz="2000" dirty="0" err="1">
                <a:latin typeface="Arial Nova" panose="020B0604020202020204" pitchFamily="34" charset="0"/>
              </a:rPr>
              <a:t>etc</a:t>
            </a:r>
            <a:r>
              <a:rPr lang="en-US" sz="2000" dirty="0">
                <a:latin typeface="Arial Nova" panose="020B0604020202020204" pitchFamily="34" charset="0"/>
              </a:rPr>
              <a:t>)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latin typeface="Arial Nova" panose="020B0604020202020204" pitchFamily="34" charset="0"/>
              </a:rPr>
              <a:t>We can control this state</a:t>
            </a:r>
          </a:p>
          <a:p>
            <a:pPr marL="800100" lvl="1" indent="-342900">
              <a:buFontTx/>
              <a:buChar char="-"/>
            </a:pPr>
            <a:r>
              <a:rPr lang="en-US" sz="2000" dirty="0">
                <a:latin typeface="Arial Nova" panose="020B0604020202020204" pitchFamily="34" charset="0"/>
              </a:rPr>
              <a:t>(e.g., operators, autopilot)</a:t>
            </a:r>
          </a:p>
          <a:p>
            <a:r>
              <a:rPr lang="en-US" sz="2000" dirty="0">
                <a:latin typeface="Arial Nova" panose="020B0604020202020204" pitchFamily="34" charset="0"/>
              </a:rPr>
              <a:t>Because we can use it to determine </a:t>
            </a:r>
            <a:r>
              <a:rPr lang="en-US" sz="2000" b="1" dirty="0">
                <a:latin typeface="Arial Nova" panose="020B0604020202020204" pitchFamily="34" charset="0"/>
              </a:rPr>
              <a:t>how to control the system to a safe outcome </a:t>
            </a:r>
            <a:r>
              <a:rPr lang="en-US" sz="2000" dirty="0">
                <a:latin typeface="Arial Nova" panose="020B0604020202020204" pitchFamily="34" charset="0"/>
              </a:rPr>
              <a:t>in unsafe circumstances and what </a:t>
            </a:r>
            <a:r>
              <a:rPr lang="en-US" sz="2000" b="1" dirty="0">
                <a:latin typeface="Arial Nova" panose="020B0604020202020204" pitchFamily="34" charset="0"/>
              </a:rPr>
              <a:t>design/operational features </a:t>
            </a:r>
            <a:r>
              <a:rPr lang="en-US" sz="2000" dirty="0">
                <a:latin typeface="Arial Nova" panose="020B0604020202020204" pitchFamily="34" charset="0"/>
              </a:rPr>
              <a:t>we need to enable this control		</a:t>
            </a:r>
            <a:endParaRPr lang="en-US" sz="2000" b="1" dirty="0">
              <a:latin typeface="Arial Nov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6CB193-CC5A-4278-8295-36675E34E0DF}"/>
              </a:ext>
            </a:extLst>
          </p:cNvPr>
          <p:cNvCxnSpPr>
            <a:cxnSpLocks/>
          </p:cNvCxnSpPr>
          <p:nvPr/>
        </p:nvCxnSpPr>
        <p:spPr>
          <a:xfrm flipV="1">
            <a:off x="612590" y="3634893"/>
            <a:ext cx="10973896" cy="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6998740-AB07-475C-9D25-7D49572187AB}"/>
              </a:ext>
            </a:extLst>
          </p:cNvPr>
          <p:cNvSpPr txBox="1"/>
          <p:nvPr/>
        </p:nvSpPr>
        <p:spPr>
          <a:xfrm>
            <a:off x="566922" y="3632428"/>
            <a:ext cx="1491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Proactive</a:t>
            </a:r>
          </a:p>
          <a:p>
            <a:pPr algn="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Design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049193-815A-423B-ADAF-091605594844}"/>
              </a:ext>
            </a:extLst>
          </p:cNvPr>
          <p:cNvSpPr txBox="1"/>
          <p:nvPr/>
        </p:nvSpPr>
        <p:spPr>
          <a:xfrm>
            <a:off x="651311" y="1833827"/>
            <a:ext cx="13644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Reactive</a:t>
            </a:r>
          </a:p>
          <a:p>
            <a:pPr algn="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Design</a:t>
            </a:r>
            <a:endParaRPr lang="en-US" dirty="0">
              <a:solidFill>
                <a:schemeClr val="bg1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F790511-87B3-46FF-A129-98B127376086}"/>
              </a:ext>
            </a:extLst>
          </p:cNvPr>
          <p:cNvCxnSpPr>
            <a:cxnSpLocks/>
          </p:cNvCxnSpPr>
          <p:nvPr/>
        </p:nvCxnSpPr>
        <p:spPr>
          <a:xfrm flipH="1" flipV="1">
            <a:off x="2015787" y="1270221"/>
            <a:ext cx="1" cy="432396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D08FB50-0D25-4F69-BA95-D2A84496BAB9}"/>
              </a:ext>
            </a:extLst>
          </p:cNvPr>
          <p:cNvCxnSpPr>
            <a:cxnSpLocks/>
          </p:cNvCxnSpPr>
          <p:nvPr/>
        </p:nvCxnSpPr>
        <p:spPr>
          <a:xfrm flipV="1">
            <a:off x="607464" y="1760123"/>
            <a:ext cx="10973896" cy="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BA9A444-C1DA-41D7-BEAF-EF87CADCEDA1}"/>
              </a:ext>
            </a:extLst>
          </p:cNvPr>
          <p:cNvSpPr txBox="1"/>
          <p:nvPr/>
        </p:nvSpPr>
        <p:spPr>
          <a:xfrm>
            <a:off x="2015786" y="1270922"/>
            <a:ext cx="3157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Concept Design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4E0248-08A9-43C2-AC82-17C23582A46C}"/>
              </a:ext>
            </a:extLst>
          </p:cNvPr>
          <p:cNvSpPr txBox="1"/>
          <p:nvPr/>
        </p:nvSpPr>
        <p:spPr>
          <a:xfrm>
            <a:off x="5173266" y="1281712"/>
            <a:ext cx="3231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Embodiment Design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F0EC5E-F22E-45B7-816C-48BE90F848C5}"/>
              </a:ext>
            </a:extLst>
          </p:cNvPr>
          <p:cNvSpPr txBox="1"/>
          <p:nvPr/>
        </p:nvSpPr>
        <p:spPr>
          <a:xfrm>
            <a:off x="8405171" y="1252016"/>
            <a:ext cx="3157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Implementation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0F9C2B6-D898-4A14-81C1-6F4172DD5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851" y="2209421"/>
            <a:ext cx="1879025" cy="129817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775EFAE-BBA2-45B7-8726-43169A007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716" y="4106132"/>
            <a:ext cx="2174538" cy="1502334"/>
          </a:xfrm>
          <a:prstGeom prst="rect">
            <a:avLst/>
          </a:prstGeom>
        </p:spPr>
      </p:pic>
      <p:pic>
        <p:nvPicPr>
          <p:cNvPr id="28" name="Picture 27" descr="A close up of an engine&#10;&#10;Description automatically generated">
            <a:extLst>
              <a:ext uri="{FF2B5EF4-FFF2-40B4-BE49-F238E27FC236}">
                <a16:creationId xmlns:a16="http://schemas.microsoft.com/office/drawing/2014/main" id="{8EBADF3D-218D-44C8-89E2-8012DE949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973" y="2161858"/>
            <a:ext cx="1945713" cy="1267493"/>
          </a:xfrm>
          <a:prstGeom prst="rect">
            <a:avLst/>
          </a:prstGeom>
        </p:spPr>
      </p:pic>
      <p:pic>
        <p:nvPicPr>
          <p:cNvPr id="29" name="Picture 28" descr="A close up of an engine&#10;&#10;Description automatically generated">
            <a:extLst>
              <a:ext uri="{FF2B5EF4-FFF2-40B4-BE49-F238E27FC236}">
                <a16:creationId xmlns:a16="http://schemas.microsoft.com/office/drawing/2014/main" id="{DBE073DC-1694-481B-B47C-906F1A658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080" y="4087412"/>
            <a:ext cx="2414061" cy="157258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DC59CCD-5C7C-4D35-8A99-35E3FD829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1163" y="2446870"/>
            <a:ext cx="2828976" cy="77998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7B72C1D-19CE-43F7-800A-9CAA28E02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333" y="4264841"/>
            <a:ext cx="3011096" cy="83020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FD83675-A76F-4272-AD3B-96FFBED154E9}"/>
              </a:ext>
            </a:extLst>
          </p:cNvPr>
          <p:cNvSpPr txBox="1"/>
          <p:nvPr/>
        </p:nvSpPr>
        <p:spPr>
          <a:xfrm>
            <a:off x="2015786" y="3650764"/>
            <a:ext cx="31574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Bahnschrift SemiBold" panose="020B0502040204020203" pitchFamily="34" charset="0"/>
              </a:rPr>
              <a:t>Establish resilience approach</a:t>
            </a:r>
            <a:endParaRPr lang="en-US" sz="1600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FD4E24-EE60-4271-88AB-507D8497EF0F}"/>
              </a:ext>
            </a:extLst>
          </p:cNvPr>
          <p:cNvSpPr txBox="1"/>
          <p:nvPr/>
        </p:nvSpPr>
        <p:spPr>
          <a:xfrm>
            <a:off x="5173267" y="3644467"/>
            <a:ext cx="32319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Bahnschrift SemiBold" panose="020B0502040204020203" pitchFamily="34" charset="0"/>
              </a:rPr>
              <a:t>Integrate resilient features in design</a:t>
            </a:r>
            <a:endParaRPr lang="en-US" sz="1600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84858D-E724-4A77-80B4-FF2D0F704C7F}"/>
              </a:ext>
            </a:extLst>
          </p:cNvPr>
          <p:cNvSpPr txBox="1"/>
          <p:nvPr/>
        </p:nvSpPr>
        <p:spPr>
          <a:xfrm>
            <a:off x="8405173" y="3656351"/>
            <a:ext cx="3157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Bahnschrift SemiBold" panose="020B0502040204020203" pitchFamily="34" charset="0"/>
              </a:rPr>
              <a:t>Verify resilient function</a:t>
            </a:r>
            <a:endParaRPr lang="en-US" sz="1600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D54583-F142-4105-AB12-DFCCA31C903E}"/>
              </a:ext>
            </a:extLst>
          </p:cNvPr>
          <p:cNvSpPr txBox="1"/>
          <p:nvPr/>
        </p:nvSpPr>
        <p:spPr>
          <a:xfrm>
            <a:off x="2464084" y="3964762"/>
            <a:ext cx="439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?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3A3A8F-5B2A-4A43-BEA4-99B5B1B767BF}"/>
              </a:ext>
            </a:extLst>
          </p:cNvPr>
          <p:cNvSpPr txBox="1"/>
          <p:nvPr/>
        </p:nvSpPr>
        <p:spPr>
          <a:xfrm>
            <a:off x="2623537" y="4848443"/>
            <a:ext cx="439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?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D8A68D-8787-4A62-A4C8-CFBBDE8A7AE9}"/>
              </a:ext>
            </a:extLst>
          </p:cNvPr>
          <p:cNvSpPr txBox="1"/>
          <p:nvPr/>
        </p:nvSpPr>
        <p:spPr>
          <a:xfrm>
            <a:off x="3506901" y="4327121"/>
            <a:ext cx="439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?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EF22B8-0872-47D5-85FB-560F137C25BB}"/>
              </a:ext>
            </a:extLst>
          </p:cNvPr>
          <p:cNvSpPr txBox="1"/>
          <p:nvPr/>
        </p:nvSpPr>
        <p:spPr>
          <a:xfrm>
            <a:off x="3905694" y="4909244"/>
            <a:ext cx="439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?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34DD3A-2CA9-4CF4-8C3C-6307109C2A37}"/>
              </a:ext>
            </a:extLst>
          </p:cNvPr>
          <p:cNvSpPr txBox="1"/>
          <p:nvPr/>
        </p:nvSpPr>
        <p:spPr>
          <a:xfrm>
            <a:off x="4327336" y="4000510"/>
            <a:ext cx="439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?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D25BF0-A926-4A13-8B7A-A532AA26B26F}"/>
              </a:ext>
            </a:extLst>
          </p:cNvPr>
          <p:cNvSpPr txBox="1"/>
          <p:nvPr/>
        </p:nvSpPr>
        <p:spPr>
          <a:xfrm>
            <a:off x="8414534" y="1772009"/>
            <a:ext cx="3157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Bahnschrift SemiBold" panose="020B0502040204020203" pitchFamily="34" charset="0"/>
              </a:rPr>
              <a:t>Retrofit for resilience</a:t>
            </a:r>
            <a:endParaRPr lang="en-US" sz="1600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BE14E3-8887-47FE-8D24-868CD8FD1E25}"/>
              </a:ext>
            </a:extLst>
          </p:cNvPr>
          <p:cNvSpPr txBox="1"/>
          <p:nvPr/>
        </p:nvSpPr>
        <p:spPr>
          <a:xfrm>
            <a:off x="10561167" y="2884067"/>
            <a:ext cx="439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?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9C857B-188A-4C1C-8696-E4177A71FC8C}"/>
              </a:ext>
            </a:extLst>
          </p:cNvPr>
          <p:cNvSpPr txBox="1"/>
          <p:nvPr/>
        </p:nvSpPr>
        <p:spPr>
          <a:xfrm>
            <a:off x="8829032" y="2140683"/>
            <a:ext cx="439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?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E833FF-948B-4EEC-B133-F0C593033907}"/>
              </a:ext>
            </a:extLst>
          </p:cNvPr>
          <p:cNvSpPr txBox="1"/>
          <p:nvPr/>
        </p:nvSpPr>
        <p:spPr>
          <a:xfrm>
            <a:off x="8889087" y="3034642"/>
            <a:ext cx="439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?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7028B1-C521-4D60-871A-CE914221A2CA}"/>
              </a:ext>
            </a:extLst>
          </p:cNvPr>
          <p:cNvSpPr txBox="1"/>
          <p:nvPr/>
        </p:nvSpPr>
        <p:spPr>
          <a:xfrm>
            <a:off x="9909821" y="1976749"/>
            <a:ext cx="439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?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CD9F35-42D2-4F69-B512-BD9CBD0B4441}"/>
              </a:ext>
            </a:extLst>
          </p:cNvPr>
          <p:cNvSpPr txBox="1"/>
          <p:nvPr/>
        </p:nvSpPr>
        <p:spPr>
          <a:xfrm>
            <a:off x="5210486" y="1762639"/>
            <a:ext cx="3157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Bahnschrift SemiBold" panose="020B0502040204020203" pitchFamily="34" charset="0"/>
              </a:rPr>
              <a:t>Design system</a:t>
            </a:r>
            <a:endParaRPr lang="en-US" sz="1600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61CEB4-48E5-4703-98ED-F517A0EBB71B}"/>
              </a:ext>
            </a:extLst>
          </p:cNvPr>
          <p:cNvSpPr txBox="1"/>
          <p:nvPr/>
        </p:nvSpPr>
        <p:spPr>
          <a:xfrm>
            <a:off x="2015802" y="1772848"/>
            <a:ext cx="3157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Bahnschrift SemiBold" panose="020B0502040204020203" pitchFamily="34" charset="0"/>
              </a:rPr>
              <a:t>Choose concept</a:t>
            </a:r>
            <a:endParaRPr lang="en-US" sz="1600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B107CD-1218-4260-A00F-F980DFD7EB40}"/>
              </a:ext>
            </a:extLst>
          </p:cNvPr>
          <p:cNvSpPr txBox="1"/>
          <p:nvPr/>
        </p:nvSpPr>
        <p:spPr>
          <a:xfrm>
            <a:off x="8798925" y="5285180"/>
            <a:ext cx="439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✔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154123-1329-4104-B613-09C8FC1A5512}"/>
              </a:ext>
            </a:extLst>
          </p:cNvPr>
          <p:cNvSpPr txBox="1"/>
          <p:nvPr/>
        </p:nvSpPr>
        <p:spPr>
          <a:xfrm>
            <a:off x="8878091" y="3979899"/>
            <a:ext cx="439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✔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E4BD47-3CF0-4F30-AA34-7FE774FC0B4C}"/>
              </a:ext>
            </a:extLst>
          </p:cNvPr>
          <p:cNvSpPr txBox="1"/>
          <p:nvPr/>
        </p:nvSpPr>
        <p:spPr>
          <a:xfrm>
            <a:off x="10440838" y="4957216"/>
            <a:ext cx="439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✔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95DB36-EE63-4B53-9112-8A5FCA6401DD}"/>
              </a:ext>
            </a:extLst>
          </p:cNvPr>
          <p:cNvSpPr txBox="1"/>
          <p:nvPr/>
        </p:nvSpPr>
        <p:spPr>
          <a:xfrm>
            <a:off x="10014709" y="3889780"/>
            <a:ext cx="439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✔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A43B10-F27A-49B8-A2A4-5C54595AB281}"/>
              </a:ext>
            </a:extLst>
          </p:cNvPr>
          <p:cNvSpPr txBox="1"/>
          <p:nvPr/>
        </p:nvSpPr>
        <p:spPr>
          <a:xfrm>
            <a:off x="5904697" y="5423394"/>
            <a:ext cx="66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S1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12ADE2-CE99-40C8-B7C9-BAE4B314E294}"/>
              </a:ext>
            </a:extLst>
          </p:cNvPr>
          <p:cNvSpPr txBox="1"/>
          <p:nvPr/>
        </p:nvSpPr>
        <p:spPr>
          <a:xfrm>
            <a:off x="7110886" y="5384879"/>
            <a:ext cx="66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S2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3B8DCD-011F-4410-AB30-5E368ACC6115}"/>
              </a:ext>
            </a:extLst>
          </p:cNvPr>
          <p:cNvSpPr txBox="1"/>
          <p:nvPr/>
        </p:nvSpPr>
        <p:spPr>
          <a:xfrm>
            <a:off x="7493922" y="4038375"/>
            <a:ext cx="66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S3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4F3B55D-37A1-4A50-8220-59E93F8D413E}"/>
              </a:ext>
            </a:extLst>
          </p:cNvPr>
          <p:cNvCxnSpPr>
            <a:cxnSpLocks/>
          </p:cNvCxnSpPr>
          <p:nvPr/>
        </p:nvCxnSpPr>
        <p:spPr>
          <a:xfrm flipV="1">
            <a:off x="6327444" y="4957216"/>
            <a:ext cx="488503" cy="579857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083FB34-F7B7-45C2-A0F8-30E5DA0654E9}"/>
              </a:ext>
            </a:extLst>
          </p:cNvPr>
          <p:cNvCxnSpPr>
            <a:cxnSpLocks/>
          </p:cNvCxnSpPr>
          <p:nvPr/>
        </p:nvCxnSpPr>
        <p:spPr>
          <a:xfrm flipH="1" flipV="1">
            <a:off x="7172711" y="5012737"/>
            <a:ext cx="241319" cy="444098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F6B22DD-FEFA-42FD-9791-41FB5BD51A1D}"/>
              </a:ext>
            </a:extLst>
          </p:cNvPr>
          <p:cNvCxnSpPr>
            <a:cxnSpLocks/>
          </p:cNvCxnSpPr>
          <p:nvPr/>
        </p:nvCxnSpPr>
        <p:spPr>
          <a:xfrm flipH="1">
            <a:off x="7304213" y="4393628"/>
            <a:ext cx="329484" cy="28631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0D05F7FE-8FE9-4FF1-B3A6-8EDA28CCD4A3}"/>
              </a:ext>
            </a:extLst>
          </p:cNvPr>
          <p:cNvSpPr/>
          <p:nvPr/>
        </p:nvSpPr>
        <p:spPr>
          <a:xfrm>
            <a:off x="1899137" y="3213269"/>
            <a:ext cx="3401837" cy="2647031"/>
          </a:xfrm>
          <a:prstGeom prst="ellipse">
            <a:avLst/>
          </a:prstGeom>
          <a:noFill/>
          <a:ln w="38100"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C34AF2A-F48C-4D03-8326-044E852396F0}"/>
              </a:ext>
            </a:extLst>
          </p:cNvPr>
          <p:cNvSpPr/>
          <p:nvPr/>
        </p:nvSpPr>
        <p:spPr>
          <a:xfrm>
            <a:off x="566922" y="5756198"/>
            <a:ext cx="105155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Bahnschrift Light Condensed" panose="020B0502040204020203" pitchFamily="34" charset="0"/>
              </a:rPr>
              <a:t>Image 1 &amp; 2 Credit: 	User’s Guide for the Commercial Modular Aero-Propulsion System Simulation (C-MAPSS)</a:t>
            </a:r>
          </a:p>
          <a:p>
            <a:r>
              <a:rPr lang="en-US" dirty="0">
                <a:latin typeface="Bahnschrift Light Condensed" panose="020B0502040204020203" pitchFamily="34" charset="0"/>
              </a:rPr>
              <a:t>Image 3 Credit: 		https://en.wikipedia.org/wiki/File:General_Electric_Passport.jpg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D5818-B191-4477-A464-B3BACE7AC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7682" y="513940"/>
            <a:ext cx="10515600" cy="66008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Idea: the system should be </a:t>
            </a:r>
            <a:r>
              <a:rPr lang="en-US" sz="3600" b="1" dirty="0"/>
              <a:t>resilient-by-design</a:t>
            </a:r>
          </a:p>
        </p:txBody>
      </p:sp>
    </p:spTree>
    <p:extLst>
      <p:ext uri="{BB962C8B-B14F-4D97-AF65-F5344CB8AC3E}">
        <p14:creationId xmlns:p14="http://schemas.microsoft.com/office/powerpoint/2010/main" val="1343228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7" grpId="0" animBg="1"/>
      <p:bldP spid="3" grpId="0" uiExpand="1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1540383C-3EA8-4ED8-9A70-A40F3DD1A822}"/>
              </a:ext>
            </a:extLst>
          </p:cNvPr>
          <p:cNvSpPr/>
          <p:nvPr/>
        </p:nvSpPr>
        <p:spPr>
          <a:xfrm>
            <a:off x="631774" y="4328655"/>
            <a:ext cx="3380504" cy="1892077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Definition Packages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/define/block/function.py,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/define/container/state.py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/define/flow/base.py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/define/architecture/function.py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/define/container/mode.py, … 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3D3BE12B-6349-4563-B46E-86C629E58B2A}"/>
              </a:ext>
            </a:extLst>
          </p:cNvPr>
          <p:cNvSpPr/>
          <p:nvPr/>
        </p:nvSpPr>
        <p:spPr>
          <a:xfrm>
            <a:off x="816427" y="639165"/>
            <a:ext cx="3005832" cy="2503504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System Model File: </a:t>
            </a:r>
            <a:r>
              <a:rPr lang="en-US" dirty="0">
                <a:solidFill>
                  <a:schemeClr val="tx1"/>
                </a:solidFill>
              </a:rPr>
              <a:t>model.py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State Classes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Flow Classes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Function Classes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Mode Classes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Model Classes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Parameter Classes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6B31D56D-D92D-4C53-A275-5E2248801105}"/>
              </a:ext>
            </a:extLst>
          </p:cNvPr>
          <p:cNvSpPr/>
          <p:nvPr/>
        </p:nvSpPr>
        <p:spPr>
          <a:xfrm>
            <a:off x="5325175" y="633021"/>
            <a:ext cx="6186088" cy="2503503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Analysis Script: </a:t>
            </a:r>
            <a:r>
              <a:rPr lang="en-US" dirty="0">
                <a:solidFill>
                  <a:schemeClr val="tx1"/>
                </a:solidFill>
              </a:rPr>
              <a:t>Script.py or </a:t>
            </a:r>
            <a:r>
              <a:rPr lang="en-US" dirty="0" err="1">
                <a:solidFill>
                  <a:schemeClr val="tx1"/>
                </a:solidFill>
              </a:rPr>
              <a:t>Notebook.ipynb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Model instantiation (e.g. mdl = Model())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Simulation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result, history = </a:t>
            </a:r>
            <a:r>
              <a:rPr lang="en-US" dirty="0" err="1">
                <a:solidFill>
                  <a:schemeClr val="tx1"/>
                </a:solidFill>
              </a:rPr>
              <a:t>propagate.one_fault</a:t>
            </a:r>
            <a:r>
              <a:rPr lang="en-US" dirty="0">
                <a:solidFill>
                  <a:schemeClr val="tx1"/>
                </a:solidFill>
              </a:rPr>
              <a:t>(mdl, fault, t) …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Results processing and visualization</a:t>
            </a:r>
          </a:p>
          <a:p>
            <a:pPr marL="742950" lvl="1" indent="-285750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ModelGraph</a:t>
            </a:r>
            <a:r>
              <a:rPr lang="en-US" dirty="0">
                <a:solidFill>
                  <a:schemeClr val="tx1"/>
                </a:solidFill>
              </a:rPr>
              <a:t>(mdl).draw()</a:t>
            </a:r>
          </a:p>
          <a:p>
            <a:pPr marL="742950" lvl="1" indent="-285750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History.plot_line</a:t>
            </a:r>
            <a:r>
              <a:rPr lang="en-US" dirty="0">
                <a:solidFill>
                  <a:schemeClr val="tx1"/>
                </a:solidFill>
              </a:rPr>
              <a:t>(‘value’)</a:t>
            </a:r>
          </a:p>
          <a:p>
            <a:pPr marL="742950" lvl="1" indent="-285750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1122B242-5CD6-42DB-A53F-231BB3191CF2}"/>
              </a:ext>
            </a:extLst>
          </p:cNvPr>
          <p:cNvSpPr/>
          <p:nvPr/>
        </p:nvSpPr>
        <p:spPr>
          <a:xfrm>
            <a:off x="5281631" y="4912807"/>
            <a:ext cx="2423604" cy="1300389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Simulation Modules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/sim/propagate.py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/sim/sample.py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/sim/search.py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21CD0CAC-98C0-4442-9753-3738841B0D2F}"/>
              </a:ext>
            </a:extLst>
          </p:cNvPr>
          <p:cNvSpPr/>
          <p:nvPr/>
        </p:nvSpPr>
        <p:spPr>
          <a:xfrm>
            <a:off x="8440370" y="4912807"/>
            <a:ext cx="2538707" cy="1300389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Analysis Modules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/analyze/phases.py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/analyze/tabulate.py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/analyze/phases.py …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F478BC-6B51-407E-A838-C81F687395CA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H="1" flipV="1">
            <a:off x="2319343" y="3142669"/>
            <a:ext cx="2683" cy="11859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B512B11-1004-426B-A592-9EE37D5D6225}"/>
              </a:ext>
            </a:extLst>
          </p:cNvPr>
          <p:cNvSpPr txBox="1"/>
          <p:nvPr/>
        </p:nvSpPr>
        <p:spPr>
          <a:xfrm>
            <a:off x="816427" y="3472336"/>
            <a:ext cx="300583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FunctionArchitecture</a:t>
            </a:r>
            <a:r>
              <a:rPr lang="en-US" dirty="0"/>
              <a:t>, Function, Flow, State…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82FAAB-3F9F-45B5-B4B6-8A63E25BA06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822259" y="1884773"/>
            <a:ext cx="1502916" cy="614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382B6BE-68F7-42D9-A836-B5601F2DAE17}"/>
              </a:ext>
            </a:extLst>
          </p:cNvPr>
          <p:cNvSpPr txBox="1"/>
          <p:nvPr/>
        </p:nvSpPr>
        <p:spPr>
          <a:xfrm>
            <a:off x="4012278" y="1561606"/>
            <a:ext cx="893321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Model</a:t>
            </a:r>
          </a:p>
          <a:p>
            <a:r>
              <a:rPr lang="en-US" dirty="0"/>
              <a:t>Class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684030B-ACD1-49E9-BFF7-F3573FA82298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6493433" y="3136524"/>
            <a:ext cx="0" cy="177628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223216-9717-4C42-94B9-1626AFE49D5D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9709724" y="3203750"/>
            <a:ext cx="0" cy="170905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1CA3C83-A594-412D-9259-73E7F167A2BA}"/>
              </a:ext>
            </a:extLst>
          </p:cNvPr>
          <p:cNvSpPr txBox="1"/>
          <p:nvPr/>
        </p:nvSpPr>
        <p:spPr>
          <a:xfrm>
            <a:off x="5543604" y="3655562"/>
            <a:ext cx="208073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ParameterSample</a:t>
            </a:r>
            <a:r>
              <a:rPr lang="en-US" dirty="0"/>
              <a:t>, </a:t>
            </a:r>
            <a:r>
              <a:rPr lang="en-US" dirty="0" err="1"/>
              <a:t>one_fault</a:t>
            </a:r>
            <a:r>
              <a:rPr lang="en-US" dirty="0"/>
              <a:t>(),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21BB88-BD25-F257-C447-D28801EDCAC1}"/>
              </a:ext>
            </a:extLst>
          </p:cNvPr>
          <p:cNvSpPr txBox="1"/>
          <p:nvPr/>
        </p:nvSpPr>
        <p:spPr>
          <a:xfrm>
            <a:off x="8679498" y="3655562"/>
            <a:ext cx="208073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PhaseMap</a:t>
            </a:r>
            <a:r>
              <a:rPr lang="en-US" dirty="0"/>
              <a:t>,</a:t>
            </a:r>
          </a:p>
          <a:p>
            <a:r>
              <a:rPr lang="en-US" dirty="0" err="1"/>
              <a:t>fmea</a:t>
            </a:r>
            <a:r>
              <a:rPr lang="en-US" dirty="0"/>
              <a:t>(),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90996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86D203-4C4C-408C-AAA4-C2AB373AFB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5" b="1124"/>
          <a:stretch/>
        </p:blipFill>
        <p:spPr>
          <a:xfrm>
            <a:off x="2361091" y="225993"/>
            <a:ext cx="6230834" cy="590526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F2659D8-B2DB-4752-A8B3-2489B08AE953}"/>
              </a:ext>
            </a:extLst>
          </p:cNvPr>
          <p:cNvSpPr/>
          <p:nvPr/>
        </p:nvSpPr>
        <p:spPr>
          <a:xfrm>
            <a:off x="2361090" y="1573328"/>
            <a:ext cx="3392559" cy="137148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DC62A0-2F61-4A71-A0B1-60E9AAEFB4E8}"/>
              </a:ext>
            </a:extLst>
          </p:cNvPr>
          <p:cNvSpPr/>
          <p:nvPr/>
        </p:nvSpPr>
        <p:spPr>
          <a:xfrm>
            <a:off x="5887874" y="467380"/>
            <a:ext cx="2190530" cy="257572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3C9141-FEA2-4C3F-B992-0024BBBAE2C1}"/>
              </a:ext>
            </a:extLst>
          </p:cNvPr>
          <p:cNvSpPr/>
          <p:nvPr/>
        </p:nvSpPr>
        <p:spPr>
          <a:xfrm>
            <a:off x="2361090" y="3143995"/>
            <a:ext cx="6291461" cy="140273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876322-5CBC-4F55-B504-B1CE63E97F0E}"/>
              </a:ext>
            </a:extLst>
          </p:cNvPr>
          <p:cNvSpPr/>
          <p:nvPr/>
        </p:nvSpPr>
        <p:spPr>
          <a:xfrm>
            <a:off x="4386244" y="4781549"/>
            <a:ext cx="2105638" cy="1371485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99FEAA-0EA3-466E-88AC-F01798A9A3CD}"/>
              </a:ext>
            </a:extLst>
          </p:cNvPr>
          <p:cNvSpPr/>
          <p:nvPr/>
        </p:nvSpPr>
        <p:spPr>
          <a:xfrm>
            <a:off x="3440297" y="5113229"/>
            <a:ext cx="945947" cy="54666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0AC886-4F04-41AB-857D-ECE02726E195}"/>
              </a:ext>
            </a:extLst>
          </p:cNvPr>
          <p:cNvSpPr/>
          <p:nvPr/>
        </p:nvSpPr>
        <p:spPr>
          <a:xfrm>
            <a:off x="6595956" y="4791424"/>
            <a:ext cx="1003272" cy="99648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9EB927-49A9-4B49-B9D9-FF8A587ED265}"/>
              </a:ext>
            </a:extLst>
          </p:cNvPr>
          <p:cNvSpPr/>
          <p:nvPr/>
        </p:nvSpPr>
        <p:spPr>
          <a:xfrm>
            <a:off x="5993125" y="1323363"/>
            <a:ext cx="2017163" cy="88084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83FC92-7BAF-4287-B9CA-C3FF9E38E343}"/>
              </a:ext>
            </a:extLst>
          </p:cNvPr>
          <p:cNvSpPr/>
          <p:nvPr/>
        </p:nvSpPr>
        <p:spPr>
          <a:xfrm>
            <a:off x="5932499" y="553034"/>
            <a:ext cx="2077789" cy="52563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A4E683-33E7-46AD-8F8E-D47C47FA81F2}"/>
              </a:ext>
            </a:extLst>
          </p:cNvPr>
          <p:cNvSpPr/>
          <p:nvPr/>
        </p:nvSpPr>
        <p:spPr>
          <a:xfrm>
            <a:off x="5974028" y="2462374"/>
            <a:ext cx="2036260" cy="48243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67A59D-C946-4A87-855B-2EB6F469DDBF}"/>
              </a:ext>
            </a:extLst>
          </p:cNvPr>
          <p:cNvSpPr/>
          <p:nvPr/>
        </p:nvSpPr>
        <p:spPr>
          <a:xfrm>
            <a:off x="6688431" y="2042590"/>
            <a:ext cx="626549" cy="54571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8DBDCA-E487-4644-995B-2A8B4C819AEC}"/>
              </a:ext>
            </a:extLst>
          </p:cNvPr>
          <p:cNvSpPr/>
          <p:nvPr/>
        </p:nvSpPr>
        <p:spPr>
          <a:xfrm>
            <a:off x="6658118" y="970704"/>
            <a:ext cx="626549" cy="54571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731E54-2FCF-4A70-83F6-7E604C9DA7B9}"/>
              </a:ext>
            </a:extLst>
          </p:cNvPr>
          <p:cNvSpPr/>
          <p:nvPr/>
        </p:nvSpPr>
        <p:spPr>
          <a:xfrm>
            <a:off x="297514" y="390235"/>
            <a:ext cx="5178128" cy="9192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FunctionArchitecture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Agglomeration of Functions, Flows, and Hazard Metrics in overall graph structure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F01190B-310F-0D1F-3869-5336E01056F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5475642" y="849878"/>
            <a:ext cx="388741" cy="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F107415-FEE4-91A4-078A-7D4868D603FE}"/>
              </a:ext>
            </a:extLst>
          </p:cNvPr>
          <p:cNvCxnSpPr>
            <a:cxnSpLocks/>
          </p:cNvCxnSpPr>
          <p:nvPr/>
        </p:nvCxnSpPr>
        <p:spPr>
          <a:xfrm>
            <a:off x="2903484" y="1309522"/>
            <a:ext cx="0" cy="29962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72DAE71-C101-4229-549E-36534CD49233}"/>
              </a:ext>
            </a:extLst>
          </p:cNvPr>
          <p:cNvSpPr/>
          <p:nvPr/>
        </p:nvSpPr>
        <p:spPr>
          <a:xfrm>
            <a:off x="-1" y="5241889"/>
            <a:ext cx="3379264" cy="8893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Sub-behavior internal to a Function with its own behaviors and properties, etc.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F1CF85D-CB82-03BC-A266-20803C89DE7E}"/>
              </a:ext>
            </a:extLst>
          </p:cNvPr>
          <p:cNvCxnSpPr>
            <a:cxnSpLocks/>
          </p:cNvCxnSpPr>
          <p:nvPr/>
        </p:nvCxnSpPr>
        <p:spPr>
          <a:xfrm flipH="1" flipV="1">
            <a:off x="7599228" y="5462695"/>
            <a:ext cx="411060" cy="4596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2C9151D-1B20-FED4-491B-AEFAF32215A2}"/>
              </a:ext>
            </a:extLst>
          </p:cNvPr>
          <p:cNvCxnSpPr>
            <a:cxnSpLocks/>
          </p:cNvCxnSpPr>
          <p:nvPr/>
        </p:nvCxnSpPr>
        <p:spPr>
          <a:xfrm flipH="1" flipV="1">
            <a:off x="8010286" y="1945759"/>
            <a:ext cx="763424" cy="48619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D1C9704-EA6F-D15D-EAF4-321904A9BDCD}"/>
              </a:ext>
            </a:extLst>
          </p:cNvPr>
          <p:cNvCxnSpPr>
            <a:cxnSpLocks/>
          </p:cNvCxnSpPr>
          <p:nvPr/>
        </p:nvCxnSpPr>
        <p:spPr>
          <a:xfrm flipH="1">
            <a:off x="8652551" y="3181478"/>
            <a:ext cx="783865" cy="86800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E489C4A-C92E-4F85-77DF-D44F46CFFF86}"/>
              </a:ext>
            </a:extLst>
          </p:cNvPr>
          <p:cNvCxnSpPr>
            <a:cxnSpLocks/>
          </p:cNvCxnSpPr>
          <p:nvPr/>
        </p:nvCxnSpPr>
        <p:spPr>
          <a:xfrm flipH="1" flipV="1">
            <a:off x="7336373" y="2577498"/>
            <a:ext cx="1316178" cy="2453691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BB0ED7B-3E8B-CFD8-F947-19D3CDA1C33B}"/>
              </a:ext>
            </a:extLst>
          </p:cNvPr>
          <p:cNvSpPr/>
          <p:nvPr/>
        </p:nvSpPr>
        <p:spPr>
          <a:xfrm>
            <a:off x="7879976" y="5052961"/>
            <a:ext cx="4238732" cy="6039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Flow: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 (inputs/outputs) that connect Functions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B3951B-A22F-C4EA-1A39-FF84D7392A61}"/>
              </a:ext>
            </a:extLst>
          </p:cNvPr>
          <p:cNvSpPr/>
          <p:nvPr/>
        </p:nvSpPr>
        <p:spPr>
          <a:xfrm>
            <a:off x="8212629" y="2431949"/>
            <a:ext cx="3906079" cy="9192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Function: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Defines high-level system behaviors as well as failure modes and component architectures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3BED53B-69DC-458E-FB3B-BFA996A327B8}"/>
              </a:ext>
            </a:extLst>
          </p:cNvPr>
          <p:cNvSpPr/>
          <p:nvPr/>
        </p:nvSpPr>
        <p:spPr>
          <a:xfrm>
            <a:off x="60759" y="4563741"/>
            <a:ext cx="2898547" cy="625753"/>
          </a:xfrm>
          <a:prstGeom prst="rect">
            <a:avLst/>
          </a:pr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State: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Entries that define Function/Flow state  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5728A5F-01AE-49A0-E20F-F9DCE817D6B0}"/>
              </a:ext>
            </a:extLst>
          </p:cNvPr>
          <p:cNvSpPr/>
          <p:nvPr/>
        </p:nvSpPr>
        <p:spPr>
          <a:xfrm>
            <a:off x="6624619" y="5136303"/>
            <a:ext cx="945947" cy="54666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F754629-3719-49B2-264E-06AE21B4CE67}"/>
              </a:ext>
            </a:extLst>
          </p:cNvPr>
          <p:cNvSpPr/>
          <p:nvPr/>
        </p:nvSpPr>
        <p:spPr>
          <a:xfrm>
            <a:off x="3407925" y="4765487"/>
            <a:ext cx="1003272" cy="99648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E38B42A-AF1F-004F-9F96-F27057EF9D9F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2959306" y="4876618"/>
            <a:ext cx="480990" cy="25414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636CE67-6B99-66D8-C11A-38D8120344DC}"/>
              </a:ext>
            </a:extLst>
          </p:cNvPr>
          <p:cNvCxnSpPr>
            <a:cxnSpLocks/>
          </p:cNvCxnSpPr>
          <p:nvPr/>
        </p:nvCxnSpPr>
        <p:spPr>
          <a:xfrm>
            <a:off x="3379263" y="5803055"/>
            <a:ext cx="1003272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70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2" grpId="1" animBg="1"/>
      <p:bldP spid="12" grpId="2" animBg="1"/>
      <p:bldP spid="13" grpId="0" animBg="1"/>
      <p:bldP spid="13" grpId="1" animBg="1"/>
      <p:bldP spid="14" grpId="0" animBg="1"/>
      <p:bldP spid="15" grpId="0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21" grpId="0" animBg="1"/>
      <p:bldP spid="24" grpId="0" animBg="1"/>
      <p:bldP spid="37" grpId="0" animBg="1"/>
      <p:bldP spid="35" grpId="0" animBg="1"/>
      <p:bldP spid="36" grpId="0" animBg="1"/>
      <p:bldP spid="53" grpId="0" animBg="1"/>
      <p:bldP spid="56" grpId="0" animBg="1"/>
      <p:bldP spid="5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5A03-5A28-46B1-AAFC-7417AC2B9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Fault Propagation</a:t>
            </a:r>
          </a:p>
        </p:txBody>
      </p:sp>
      <p:pic>
        <p:nvPicPr>
          <p:cNvPr id="5" name="Picture 4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455C8780-8A40-402F-A65B-5DFF471DA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637" y="2533101"/>
            <a:ext cx="8441414" cy="420160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F2DE22-DE48-4B04-B362-CE953892C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B2ECE-C27A-4FBC-A5B7-24ADD502157D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E407F-462F-4768-8039-6005D213B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9045-47C6-4ED3-A320-E2DFE9546330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696A40D-F9AA-4A6C-BDA7-6B7D47C6D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82" y="1442906"/>
            <a:ext cx="10515600" cy="4734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Behaviors defined in .behavior(), .</a:t>
            </a:r>
            <a:r>
              <a:rPr lang="en-US" dirty="0" err="1"/>
              <a:t>static_behavior</a:t>
            </a:r>
            <a:r>
              <a:rPr lang="en-US" dirty="0"/>
              <a:t>(), and .</a:t>
            </a:r>
            <a:r>
              <a:rPr lang="en-US" dirty="0" err="1"/>
              <a:t>condfaults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Stored in </a:t>
            </a:r>
            <a:r>
              <a:rPr lang="en-US" dirty="0" err="1"/>
              <a:t>mdl.staticfxns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242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0A97-77C4-4E67-94DA-2D0072EB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Fault Propagation</a:t>
            </a:r>
          </a:p>
        </p:txBody>
      </p:sp>
      <p:pic>
        <p:nvPicPr>
          <p:cNvPr id="5" name="Picture 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3B085D01-F403-4D53-B13F-6E5F02CED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366" y="1605641"/>
            <a:ext cx="5253356" cy="5115834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44B689-DA2E-485D-B459-0653D5458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67213-7DC7-4566-B4E8-39CBEF03CE40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510EE-E25A-4759-AFB7-904801DCE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9045-47C6-4ED3-A320-E2DFE9546330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8DF4BE-6367-4702-B6D2-C29E09645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82" y="1442906"/>
            <a:ext cx="5922818" cy="4734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Defined in .</a:t>
            </a:r>
            <a:r>
              <a:rPr lang="en-US" dirty="0" err="1"/>
              <a:t>dynamic_behavior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Runs once per timestep in a user-specified order.</a:t>
            </a:r>
          </a:p>
          <a:p>
            <a:pPr marL="0" indent="0">
              <a:buNone/>
            </a:pPr>
            <a:r>
              <a:rPr lang="en-US" dirty="0"/>
              <a:t>Accessible in </a:t>
            </a:r>
            <a:r>
              <a:rPr lang="en-US" dirty="0" err="1"/>
              <a:t>mdl.dynamicfxns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--------</a:t>
            </a:r>
          </a:p>
          <a:p>
            <a:pPr marL="0" indent="0">
              <a:buNone/>
            </a:pPr>
            <a:r>
              <a:rPr lang="en-US" dirty="0"/>
              <a:t>Static/Dynamic propagation can be visualized using </a:t>
            </a:r>
            <a:r>
              <a:rPr lang="en-US" dirty="0" err="1"/>
              <a:t>rd.graph.exec_order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667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F110-B99B-4195-BF2F-4BA75ECC4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Open and instantiate pump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654A1-0394-4F7C-9153-CE0CAC457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3851"/>
          </a:xfrm>
        </p:spPr>
        <p:txBody>
          <a:bodyPr/>
          <a:lstStyle/>
          <a:p>
            <a:r>
              <a:rPr lang="en-US" dirty="0"/>
              <a:t>Review code:</a:t>
            </a:r>
          </a:p>
          <a:p>
            <a:pPr lvl="1"/>
            <a:r>
              <a:rPr lang="en-US" dirty="0"/>
              <a:t>See pump code defining the Pump model class</a:t>
            </a:r>
          </a:p>
          <a:p>
            <a:pPr lvl="1"/>
            <a:r>
              <a:rPr lang="en-US" dirty="0"/>
              <a:t>See pump code defining </a:t>
            </a:r>
            <a:r>
              <a:rPr lang="en-US" dirty="0" err="1"/>
              <a:t>MoveWater</a:t>
            </a:r>
            <a:r>
              <a:rPr lang="en-US" dirty="0"/>
              <a:t> function class</a:t>
            </a:r>
          </a:p>
          <a:p>
            <a:r>
              <a:rPr lang="en-US" dirty="0"/>
              <a:t>Open tutorial notebook</a:t>
            </a:r>
          </a:p>
          <a:p>
            <a:pPr lvl="1"/>
            <a:r>
              <a:rPr lang="en-US" dirty="0" err="1"/>
              <a:t>Tutorial_unfilled.ipynb</a:t>
            </a:r>
            <a:endParaRPr lang="en-US" dirty="0"/>
          </a:p>
          <a:p>
            <a:r>
              <a:rPr lang="en-US" dirty="0"/>
              <a:t>Instantiate the model</a:t>
            </a:r>
          </a:p>
          <a:p>
            <a:pPr lvl="1"/>
            <a:r>
              <a:rPr lang="en-US" dirty="0"/>
              <a:t>mdl = Pump()</a:t>
            </a:r>
          </a:p>
          <a:p>
            <a:r>
              <a:rPr lang="en-US" dirty="0"/>
              <a:t>Explore</a:t>
            </a:r>
          </a:p>
          <a:p>
            <a:pPr lvl="1"/>
            <a:r>
              <a:rPr lang="en-US" dirty="0"/>
              <a:t>Try different parameters! Change things!</a:t>
            </a:r>
          </a:p>
          <a:p>
            <a:pPr lvl="1"/>
            <a:r>
              <a:rPr lang="en-US" dirty="0"/>
              <a:t>What does the model directory look like? </a:t>
            </a:r>
            <a:r>
              <a:rPr lang="en-US" dirty="0" err="1"/>
              <a:t>dir</a:t>
            </a:r>
            <a:r>
              <a:rPr lang="en-US" dirty="0"/>
              <a:t>(mdl)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48896-E84E-444B-891E-EFE2C9D0F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F9849-58D3-4F19-9398-5C19541DD8B5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0E850E-6593-450A-B187-79D6E0C2D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9045-47C6-4ED3-A320-E2DFE954633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14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7966E-FEC4-40D8-8371-72C763036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Quantify Resilience With Simulation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9EF587-E24D-4ADB-89B3-2E3C4EDF39EA}"/>
              </a:ext>
            </a:extLst>
          </p:cNvPr>
          <p:cNvCxnSpPr>
            <a:cxnSpLocks/>
          </p:cNvCxnSpPr>
          <p:nvPr/>
        </p:nvCxnSpPr>
        <p:spPr>
          <a:xfrm>
            <a:off x="3585581" y="3234973"/>
            <a:ext cx="2493922" cy="62769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1722B76-BCD8-4DDD-AAC2-33A94AE4765C}"/>
              </a:ext>
            </a:extLst>
          </p:cNvPr>
          <p:cNvSpPr/>
          <p:nvPr/>
        </p:nvSpPr>
        <p:spPr>
          <a:xfrm>
            <a:off x="8647112" y="3928494"/>
            <a:ext cx="1619249" cy="1333500"/>
          </a:xfrm>
          <a:prstGeom prst="rect">
            <a:avLst/>
          </a:prstGeom>
          <a:pattFill prst="wdDnDiag">
            <a:fgClr>
              <a:srgbClr val="FFD9D9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D21EC5-D6AA-458E-9EB0-1A35CE47585C}"/>
              </a:ext>
            </a:extLst>
          </p:cNvPr>
          <p:cNvSpPr/>
          <p:nvPr/>
        </p:nvSpPr>
        <p:spPr>
          <a:xfrm>
            <a:off x="6094412" y="3919989"/>
            <a:ext cx="2552700" cy="1333500"/>
          </a:xfrm>
          <a:prstGeom prst="rect">
            <a:avLst/>
          </a:prstGeom>
          <a:pattFill prst="wdDnDiag">
            <a:fgClr>
              <a:srgbClr val="FF0000"/>
            </a:fgClr>
            <a:bgClr>
              <a:schemeClr val="bg1"/>
            </a:bgClr>
          </a:patt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EE11A0-F0CE-4720-BE2A-1EE0416F0266}"/>
              </a:ext>
            </a:extLst>
          </p:cNvPr>
          <p:cNvCxnSpPr>
            <a:cxnSpLocks/>
          </p:cNvCxnSpPr>
          <p:nvPr/>
        </p:nvCxnSpPr>
        <p:spPr>
          <a:xfrm>
            <a:off x="5740400" y="3919990"/>
            <a:ext cx="4525962" cy="0"/>
          </a:xfrm>
          <a:prstGeom prst="line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F351EF-9852-40E8-AD39-D814E5C1A3FA}"/>
              </a:ext>
            </a:extLst>
          </p:cNvPr>
          <p:cNvCxnSpPr>
            <a:cxnSpLocks/>
          </p:cNvCxnSpPr>
          <p:nvPr/>
        </p:nvCxnSpPr>
        <p:spPr>
          <a:xfrm>
            <a:off x="6094412" y="3919989"/>
            <a:ext cx="0" cy="1333500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5FF928-AEA3-4C61-9EA3-A5D1728A4290}"/>
              </a:ext>
            </a:extLst>
          </p:cNvPr>
          <p:cNvCxnSpPr>
            <a:cxnSpLocks/>
          </p:cNvCxnSpPr>
          <p:nvPr/>
        </p:nvCxnSpPr>
        <p:spPr>
          <a:xfrm>
            <a:off x="6094412" y="5253489"/>
            <a:ext cx="2552700" cy="0"/>
          </a:xfrm>
          <a:prstGeom prst="line">
            <a:avLst/>
          </a:prstGeom>
          <a:ln w="38100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290E26-68C2-4EB6-AA4B-1C4666C6672E}"/>
              </a:ext>
            </a:extLst>
          </p:cNvPr>
          <p:cNvCxnSpPr>
            <a:cxnSpLocks/>
          </p:cNvCxnSpPr>
          <p:nvPr/>
        </p:nvCxnSpPr>
        <p:spPr>
          <a:xfrm flipV="1">
            <a:off x="8647112" y="3919989"/>
            <a:ext cx="0" cy="1333500"/>
          </a:xfrm>
          <a:prstGeom prst="line">
            <a:avLst/>
          </a:prstGeom>
          <a:ln w="38100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1A3A58-691D-4746-AF45-F2D570632B21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6079504" y="1967366"/>
            <a:ext cx="14908" cy="3793538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A2DDA50-212B-40A5-B898-F2D8F0786AFB}"/>
              </a:ext>
            </a:extLst>
          </p:cNvPr>
          <p:cNvSpPr txBox="1"/>
          <p:nvPr/>
        </p:nvSpPr>
        <p:spPr>
          <a:xfrm>
            <a:off x="5464271" y="5760904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Fault Time</a:t>
            </a:r>
          </a:p>
        </p:txBody>
      </p:sp>
      <p:sp>
        <p:nvSpPr>
          <p:cNvPr id="13" name="Explosion: 8 Points 12">
            <a:extLst>
              <a:ext uri="{FF2B5EF4-FFF2-40B4-BE49-F238E27FC236}">
                <a16:creationId xmlns:a16="http://schemas.microsoft.com/office/drawing/2014/main" id="{2CF3498A-2A3F-4612-BF09-9DC3F3CD45AF}"/>
              </a:ext>
            </a:extLst>
          </p:cNvPr>
          <p:cNvSpPr/>
          <p:nvPr/>
        </p:nvSpPr>
        <p:spPr>
          <a:xfrm>
            <a:off x="5380037" y="3156403"/>
            <a:ext cx="1428750" cy="1382711"/>
          </a:xfrm>
          <a:prstGeom prst="irregularSeal1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4A210E-6826-47E5-8D19-9AE42CF970BB}"/>
              </a:ext>
            </a:extLst>
          </p:cNvPr>
          <p:cNvSpPr txBox="1"/>
          <p:nvPr/>
        </p:nvSpPr>
        <p:spPr>
          <a:xfrm>
            <a:off x="6783654" y="3493331"/>
            <a:ext cx="29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Nominal Performance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E32D7B-E6A0-48BB-A6A8-64F515F9BBC5}"/>
              </a:ext>
            </a:extLst>
          </p:cNvPr>
          <p:cNvSpPr txBox="1"/>
          <p:nvPr/>
        </p:nvSpPr>
        <p:spPr>
          <a:xfrm>
            <a:off x="6184634" y="5217111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Faulty Performance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F3DAD6-10B9-4C0B-8A34-3500C70B2792}"/>
              </a:ext>
            </a:extLst>
          </p:cNvPr>
          <p:cNvSpPr txBox="1"/>
          <p:nvPr/>
        </p:nvSpPr>
        <p:spPr>
          <a:xfrm>
            <a:off x="8647111" y="3965595"/>
            <a:ext cx="120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Recovery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22E9C6-88EA-48BB-9D28-CD495A050370}"/>
              </a:ext>
            </a:extLst>
          </p:cNvPr>
          <p:cNvCxnSpPr>
            <a:cxnSpLocks/>
          </p:cNvCxnSpPr>
          <p:nvPr/>
        </p:nvCxnSpPr>
        <p:spPr>
          <a:xfrm flipH="1" flipV="1">
            <a:off x="8647111" y="5253489"/>
            <a:ext cx="1619250" cy="8505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8A47949-8816-4C84-9CBD-8D2B4328019A}"/>
              </a:ext>
            </a:extLst>
          </p:cNvPr>
          <p:cNvSpPr txBox="1"/>
          <p:nvPr/>
        </p:nvSpPr>
        <p:spPr>
          <a:xfrm>
            <a:off x="8647112" y="4908313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No Recovery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0FE350-9CCA-4E38-9E28-A5D65F480DDC}"/>
              </a:ext>
            </a:extLst>
          </p:cNvPr>
          <p:cNvSpPr txBox="1"/>
          <p:nvPr/>
        </p:nvSpPr>
        <p:spPr>
          <a:xfrm>
            <a:off x="3491514" y="1806861"/>
            <a:ext cx="1681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Prevention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8F60F-AA3D-42FE-BEAC-BC1E5800C220}"/>
              </a:ext>
            </a:extLst>
          </p:cNvPr>
          <p:cNvSpPr txBox="1"/>
          <p:nvPr/>
        </p:nvSpPr>
        <p:spPr>
          <a:xfrm>
            <a:off x="7263448" y="1806861"/>
            <a:ext cx="1471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rPr>
              <a:t>Recovery</a:t>
            </a:r>
            <a:endParaRPr lang="en-US" dirty="0">
              <a:solidFill>
                <a:schemeClr val="bg1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AD445B-D890-43E4-AAF6-BE22CAF808F1}"/>
              </a:ext>
            </a:extLst>
          </p:cNvPr>
          <p:cNvSpPr/>
          <p:nvPr/>
        </p:nvSpPr>
        <p:spPr>
          <a:xfrm>
            <a:off x="7039967" y="6233308"/>
            <a:ext cx="22252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Bahnschrift Light Condensed" panose="020B0502040204020203" pitchFamily="34" charset="0"/>
              </a:rPr>
              <a:t>Yodo</a:t>
            </a:r>
            <a:r>
              <a:rPr lang="en-US" dirty="0">
                <a:latin typeface="Bahnschrift Light Condensed" panose="020B0502040204020203" pitchFamily="34" charset="0"/>
              </a:rPr>
              <a:t>, N., &amp; Wang, P. (2016). 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F0C52C-9FB7-4AAD-86A6-1FC9BAA351B8}"/>
              </a:ext>
            </a:extLst>
          </p:cNvPr>
          <p:cNvSpPr txBox="1"/>
          <p:nvPr/>
        </p:nvSpPr>
        <p:spPr>
          <a:xfrm>
            <a:off x="6675153" y="4415164"/>
            <a:ext cx="1252266" cy="3693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Resilience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101FB2-D340-46DA-8EC7-29E474EB8564}"/>
              </a:ext>
            </a:extLst>
          </p:cNvPr>
          <p:cNvSpPr txBox="1"/>
          <p:nvPr/>
        </p:nvSpPr>
        <p:spPr>
          <a:xfrm>
            <a:off x="5598837" y="3633102"/>
            <a:ext cx="1000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Hazard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7C380F-CFFC-442F-BDF4-0744B33F9987}"/>
              </a:ext>
            </a:extLst>
          </p:cNvPr>
          <p:cNvCxnSpPr>
            <a:cxnSpLocks/>
          </p:cNvCxnSpPr>
          <p:nvPr/>
        </p:nvCxnSpPr>
        <p:spPr>
          <a:xfrm flipV="1">
            <a:off x="3585581" y="2752550"/>
            <a:ext cx="2493922" cy="464939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A28E7BE-FE66-4DB7-BC99-A2E18D727EED}"/>
              </a:ext>
            </a:extLst>
          </p:cNvPr>
          <p:cNvCxnSpPr>
            <a:cxnSpLocks/>
          </p:cNvCxnSpPr>
          <p:nvPr/>
        </p:nvCxnSpPr>
        <p:spPr>
          <a:xfrm>
            <a:off x="6038863" y="2740789"/>
            <a:ext cx="4227498" cy="0"/>
          </a:xfrm>
          <a:prstGeom prst="line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7D0EC3B-71E1-4B52-A2BE-82F2D2D11AA5}"/>
              </a:ext>
            </a:extLst>
          </p:cNvPr>
          <p:cNvSpPr txBox="1"/>
          <p:nvPr/>
        </p:nvSpPr>
        <p:spPr>
          <a:xfrm>
            <a:off x="6079503" y="2314112"/>
            <a:ext cx="29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Nominal Scenario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7D2B22-D005-489E-92FC-F14CA2DD74A2}"/>
              </a:ext>
            </a:extLst>
          </p:cNvPr>
          <p:cNvSpPr txBox="1"/>
          <p:nvPr/>
        </p:nvSpPr>
        <p:spPr>
          <a:xfrm>
            <a:off x="576284" y="3848931"/>
            <a:ext cx="1552694" cy="707886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FF0000"/>
                </a:solidFill>
                <a:latin typeface="Bahnschrift SemiBold" panose="020B0502040204020203" pitchFamily="34" charset="0"/>
              </a:rPr>
              <a:t>Expected</a:t>
            </a:r>
          </a:p>
          <a:p>
            <a:pPr algn="r"/>
            <a:r>
              <a:rPr lang="en-US" sz="2000" b="1" dirty="0">
                <a:solidFill>
                  <a:srgbClr val="FF0000"/>
                </a:solidFill>
                <a:latin typeface="Bahnschrift SemiBold" panose="020B0502040204020203" pitchFamily="34" charset="0"/>
              </a:rPr>
              <a:t>Resilience: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16A513A-6676-4909-91FB-148522A4F2EA}"/>
                  </a:ext>
                </a:extLst>
              </p:cNvPr>
              <p:cNvSpPr/>
              <p:nvPr/>
            </p:nvSpPr>
            <p:spPr>
              <a:xfrm>
                <a:off x="2681305" y="2629455"/>
                <a:ext cx="1096381" cy="109638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400" i="0" dirty="0" smtClean="0">
                          <a:solidFill>
                            <a:schemeClr val="tx1"/>
                          </a:solidFill>
                        </a:rPr>
                        <m:t>𝔼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𝑅𝑒𝑠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16A513A-6676-4909-91FB-148522A4F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305" y="2629455"/>
                <a:ext cx="1096381" cy="1096381"/>
              </a:xfrm>
              <a:prstGeom prst="ellipse">
                <a:avLst/>
              </a:prstGeom>
              <a:blipFill>
                <a:blip r:embed="rId2"/>
                <a:stretch>
                  <a:fillRect l="-3763" r="-1075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5E00E88-8724-4ED0-B23C-C91CC694E5EF}"/>
              </a:ext>
            </a:extLst>
          </p:cNvPr>
          <p:cNvSpPr txBox="1"/>
          <p:nvPr/>
        </p:nvSpPr>
        <p:spPr>
          <a:xfrm>
            <a:off x="2149298" y="3858364"/>
            <a:ext cx="3064886" cy="707886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Light" panose="020B0502040204020203" pitchFamily="34" charset="0"/>
              </a:rPr>
              <a:t>Resilience over a set of hazardous scenarios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39F54-2A57-4DE6-BD51-57F6CD8EE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B71A-C210-4A41-9D4A-E72BF6E30274}" type="datetime1">
              <a:rPr lang="en-US" smtClean="0"/>
              <a:t>9/17/2026</a:t>
            </a:fld>
            <a:endParaRPr lang="en-US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7109F3E7-E154-4086-983A-9FE80E0E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D9045-47C6-4ED3-A320-E2DFE954633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555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29CD9877-1DE7-4582-A01D-3D83E1F1A6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7" t="1361" r="615" b="1702"/>
          <a:stretch/>
        </p:blipFill>
        <p:spPr>
          <a:xfrm>
            <a:off x="2478559" y="1521645"/>
            <a:ext cx="7234881" cy="3237470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23EBE30-133F-4589-B481-54495292410F}"/>
              </a:ext>
            </a:extLst>
          </p:cNvPr>
          <p:cNvCxnSpPr>
            <a:cxnSpLocks/>
          </p:cNvCxnSpPr>
          <p:nvPr/>
        </p:nvCxnSpPr>
        <p:spPr>
          <a:xfrm flipH="1">
            <a:off x="4349578" y="1379542"/>
            <a:ext cx="1822622" cy="7705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Left Brace 41">
            <a:extLst>
              <a:ext uri="{FF2B5EF4-FFF2-40B4-BE49-F238E27FC236}">
                <a16:creationId xmlns:a16="http://schemas.microsoft.com/office/drawing/2014/main" id="{24477B90-3307-44DE-88AB-EE0FA93859E6}"/>
              </a:ext>
            </a:extLst>
          </p:cNvPr>
          <p:cNvSpPr/>
          <p:nvPr/>
        </p:nvSpPr>
        <p:spPr>
          <a:xfrm rot="16200000">
            <a:off x="5919915" y="1318558"/>
            <a:ext cx="352168" cy="7234881"/>
          </a:xfrm>
          <a:prstGeom prst="leftBrace">
            <a:avLst>
              <a:gd name="adj1" fmla="val 8333"/>
              <a:gd name="adj2" fmla="val 4949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D7EBE5-5AB3-42B2-847F-0D9A175C8F3B}"/>
              </a:ext>
            </a:extLst>
          </p:cNvPr>
          <p:cNvSpPr txBox="1"/>
          <p:nvPr/>
        </p:nvSpPr>
        <p:spPr>
          <a:xfrm>
            <a:off x="6172200" y="1013167"/>
            <a:ext cx="251331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Nominal performance</a:t>
            </a:r>
          </a:p>
          <a:p>
            <a:r>
              <a:rPr lang="en-US" b="1" dirty="0" err="1"/>
              <a:t>propagate.nominal</a:t>
            </a:r>
            <a:r>
              <a:rPr lang="en-US" b="1" dirty="0"/>
              <a:t>()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6B51C6-C2F0-4B3B-A674-4873FF9A8046}"/>
              </a:ext>
            </a:extLst>
          </p:cNvPr>
          <p:cNvSpPr txBox="1"/>
          <p:nvPr/>
        </p:nvSpPr>
        <p:spPr>
          <a:xfrm>
            <a:off x="86401" y="1350159"/>
            <a:ext cx="2142964" cy="1692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Performance over a set of possible operational parameters</a:t>
            </a:r>
          </a:p>
          <a:p>
            <a:r>
              <a:rPr lang="en-US" sz="1600" b="1" dirty="0">
                <a:latin typeface="Bahnschrift" panose="020B0502040204020203" pitchFamily="34" charset="0"/>
              </a:rPr>
              <a:t>propagate.</a:t>
            </a:r>
          </a:p>
          <a:p>
            <a:r>
              <a:rPr lang="en-US" sz="1600" b="1" dirty="0" err="1">
                <a:latin typeface="Bahnschrift" panose="020B0502040204020203" pitchFamily="34" charset="0"/>
              </a:rPr>
              <a:t>parameter_sample</a:t>
            </a:r>
            <a:r>
              <a:rPr lang="en-US" sz="1600" b="1" dirty="0">
                <a:latin typeface="Bahnschrift" panose="020B0502040204020203" pitchFamily="34" charset="0"/>
              </a:rPr>
              <a:t>()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7FC858-F87C-4201-BC6A-50FDA8218F85}"/>
              </a:ext>
            </a:extLst>
          </p:cNvPr>
          <p:cNvSpPr txBox="1"/>
          <p:nvPr/>
        </p:nvSpPr>
        <p:spPr>
          <a:xfrm>
            <a:off x="56538" y="3429000"/>
            <a:ext cx="2245937" cy="11387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Resilience over a set of fault modes</a:t>
            </a:r>
          </a:p>
          <a:p>
            <a:r>
              <a:rPr lang="en-US" sz="1600" b="1" dirty="0">
                <a:latin typeface="Bahnschrift" panose="020B0502040204020203" pitchFamily="34" charset="0"/>
              </a:rPr>
              <a:t>propagate.</a:t>
            </a:r>
          </a:p>
          <a:p>
            <a:r>
              <a:rPr lang="en-US" sz="1600" b="1" dirty="0" err="1">
                <a:latin typeface="Bahnschrift" panose="020B0502040204020203" pitchFamily="34" charset="0"/>
              </a:rPr>
              <a:t>fault_sample</a:t>
            </a:r>
            <a:r>
              <a:rPr lang="en-US" sz="1600" b="1" dirty="0">
                <a:latin typeface="Bahnschrift" panose="020B0502040204020203" pitchFamily="34" charset="0"/>
              </a:rPr>
              <a:t>()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2EE3FE-D0C4-4B96-9A28-5A58C73C6530}"/>
              </a:ext>
            </a:extLst>
          </p:cNvPr>
          <p:cNvSpPr txBox="1"/>
          <p:nvPr/>
        </p:nvSpPr>
        <p:spPr>
          <a:xfrm>
            <a:off x="9764857" y="2633916"/>
            <a:ext cx="2427143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Resilience to a single fault or hazard</a:t>
            </a:r>
          </a:p>
          <a:p>
            <a:r>
              <a:rPr lang="en-US" b="1" dirty="0" err="1"/>
              <a:t>propagate.one_fault</a:t>
            </a:r>
            <a:r>
              <a:rPr lang="en-US" b="1" dirty="0"/>
              <a:t>()</a:t>
            </a:r>
          </a:p>
          <a:p>
            <a:r>
              <a:rPr lang="en-US" b="1" dirty="0" err="1"/>
              <a:t>propagate.sequence</a:t>
            </a:r>
            <a:r>
              <a:rPr lang="en-US" b="1" dirty="0"/>
              <a:t>()</a:t>
            </a:r>
            <a:endParaRPr lang="en-US" b="1" dirty="0">
              <a:latin typeface="Bahnschrift" panose="020B050204020402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C4B4A7-0224-44F2-8A15-C4FEF945D9DE}"/>
              </a:ext>
            </a:extLst>
          </p:cNvPr>
          <p:cNvSpPr txBox="1"/>
          <p:nvPr/>
        </p:nvSpPr>
        <p:spPr>
          <a:xfrm>
            <a:off x="2581532" y="5155292"/>
            <a:ext cx="692596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Resilience to a set of fault modes over a set of operational parameters </a:t>
            </a:r>
            <a:r>
              <a:rPr lang="en-US" b="1" dirty="0" err="1"/>
              <a:t>propagate.nested_sample</a:t>
            </a:r>
            <a:r>
              <a:rPr lang="en-US" b="1" dirty="0"/>
              <a:t>()</a:t>
            </a:r>
            <a:endParaRPr lang="en-US" b="1" dirty="0">
              <a:latin typeface="Bahnschrift" panose="020B0502040204020203" pitchFamily="34" charset="0"/>
            </a:endParaRP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F8665085-0CE2-4A62-A85B-DDC65BE6F7B8}"/>
              </a:ext>
            </a:extLst>
          </p:cNvPr>
          <p:cNvSpPr/>
          <p:nvPr/>
        </p:nvSpPr>
        <p:spPr>
          <a:xfrm>
            <a:off x="2229364" y="2668385"/>
            <a:ext cx="352168" cy="2114631"/>
          </a:xfrm>
          <a:prstGeom prst="leftBrace">
            <a:avLst>
              <a:gd name="adj1" fmla="val 8333"/>
              <a:gd name="adj2" fmla="val 4949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74DDC081-A5AE-4541-8DD3-F8F093366A0E}"/>
              </a:ext>
            </a:extLst>
          </p:cNvPr>
          <p:cNvSpPr/>
          <p:nvPr/>
        </p:nvSpPr>
        <p:spPr>
          <a:xfrm>
            <a:off x="2126391" y="1521645"/>
            <a:ext cx="352168" cy="1075037"/>
          </a:xfrm>
          <a:prstGeom prst="leftBrace">
            <a:avLst>
              <a:gd name="adj1" fmla="val 8333"/>
              <a:gd name="adj2" fmla="val 4949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882FF0AF-54DF-44D0-9662-8FD6D5CA4FB3}"/>
              </a:ext>
            </a:extLst>
          </p:cNvPr>
          <p:cNvSpPr/>
          <p:nvPr/>
        </p:nvSpPr>
        <p:spPr>
          <a:xfrm rot="10800000">
            <a:off x="9507494" y="1617109"/>
            <a:ext cx="352168" cy="3195848"/>
          </a:xfrm>
          <a:prstGeom prst="leftBrace">
            <a:avLst>
              <a:gd name="adj1" fmla="val 8333"/>
              <a:gd name="adj2" fmla="val 4949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54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E7946FE6-8404-4AF4-BF23-2095E167C95C}"/>
              </a:ext>
            </a:extLst>
          </p:cNvPr>
          <p:cNvSpPr/>
          <p:nvPr/>
        </p:nvSpPr>
        <p:spPr>
          <a:xfrm>
            <a:off x="8716097" y="1525889"/>
            <a:ext cx="3475903" cy="4827246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/graph</a:t>
            </a:r>
          </a:p>
          <a:p>
            <a:r>
              <a:rPr lang="en-US" sz="1600" dirty="0">
                <a:solidFill>
                  <a:schemeClr val="tx1"/>
                </a:solidFill>
              </a:rPr>
              <a:t>Graph-based visualizations.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244AFF50-8015-411D-99F5-6441CA13542E}"/>
              </a:ext>
            </a:extLst>
          </p:cNvPr>
          <p:cNvSpPr/>
          <p:nvPr/>
        </p:nvSpPr>
        <p:spPr>
          <a:xfrm>
            <a:off x="8651" y="1525890"/>
            <a:ext cx="2972008" cy="2074025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result.py</a:t>
            </a:r>
          </a:p>
          <a:p>
            <a:r>
              <a:rPr lang="en-US" sz="1600" dirty="0">
                <a:solidFill>
                  <a:schemeClr val="tx1"/>
                </a:solidFill>
              </a:rPr>
              <a:t>Analysis and save/load of simulation results.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chemeClr val="tx1"/>
                </a:solidFill>
              </a:rPr>
              <a:t>Result</a:t>
            </a:r>
            <a:r>
              <a:rPr lang="en-US" sz="1600" dirty="0">
                <a:solidFill>
                  <a:schemeClr val="tx1"/>
                </a:solidFill>
              </a:rPr>
              <a:t>: Class for storing and analyzing results from a simulation specified in </a:t>
            </a:r>
            <a:r>
              <a:rPr lang="en-US" sz="1600" dirty="0" err="1">
                <a:solidFill>
                  <a:schemeClr val="tx1"/>
                </a:solidFill>
                <a:highlight>
                  <a:srgbClr val="C0C0C0"/>
                </a:highlight>
              </a:rPr>
              <a:t>desired_result</a:t>
            </a:r>
            <a:r>
              <a:rPr lang="en-US" sz="1600" dirty="0">
                <a:solidFill>
                  <a:schemeClr val="tx1"/>
                </a:solidFill>
                <a:highlight>
                  <a:srgbClr val="C0C0C0"/>
                </a:highlight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argument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BF883D02-5732-4B33-B279-BD73DACCC69B}"/>
              </a:ext>
            </a:extLst>
          </p:cNvPr>
          <p:cNvSpPr/>
          <p:nvPr/>
        </p:nvSpPr>
        <p:spPr>
          <a:xfrm>
            <a:off x="3106132" y="1525889"/>
            <a:ext cx="2775564" cy="3935373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tabulate.py</a:t>
            </a:r>
          </a:p>
          <a:p>
            <a:r>
              <a:rPr lang="en-US" sz="1600" dirty="0">
                <a:solidFill>
                  <a:schemeClr val="tx1"/>
                </a:solidFill>
              </a:rPr>
              <a:t>Construction of analyses based on samples.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chemeClr val="tx1"/>
                </a:solidFill>
              </a:rPr>
              <a:t>FMEA</a:t>
            </a:r>
            <a:r>
              <a:rPr lang="en-US" sz="1600" dirty="0">
                <a:solidFill>
                  <a:schemeClr val="tx1"/>
                </a:solidFill>
              </a:rPr>
              <a:t>: FMEA-like assessment with faults, probabilities, and costs.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chemeClr val="tx1"/>
                </a:solidFill>
              </a:rPr>
              <a:t>Comparison: </a:t>
            </a:r>
            <a:r>
              <a:rPr lang="en-US" sz="1600" dirty="0">
                <a:solidFill>
                  <a:schemeClr val="tx1"/>
                </a:solidFill>
              </a:rPr>
              <a:t>Class for comparing different metrics over different scenarios in a </a:t>
            </a:r>
            <a:r>
              <a:rPr lang="en-US" sz="1600" dirty="0" err="1">
                <a:solidFill>
                  <a:schemeClr val="tx1"/>
                </a:solidFill>
              </a:rPr>
              <a:t>ParameterSample</a:t>
            </a:r>
            <a:r>
              <a:rPr lang="en-US" sz="1600" dirty="0">
                <a:solidFill>
                  <a:schemeClr val="tx1"/>
                </a:solidFill>
              </a:rPr>
              <a:t>/</a:t>
            </a:r>
            <a:r>
              <a:rPr lang="en-US" sz="1600" dirty="0" err="1">
                <a:solidFill>
                  <a:schemeClr val="tx1"/>
                </a:solidFill>
              </a:rPr>
              <a:t>Faultsample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sz="1600" b="1" dirty="0" err="1">
                <a:solidFill>
                  <a:schemeClr val="tx1"/>
                </a:solidFill>
              </a:rPr>
              <a:t>NominalEnvelope</a:t>
            </a:r>
            <a:r>
              <a:rPr lang="en-US" sz="1600" b="1" dirty="0">
                <a:solidFill>
                  <a:schemeClr val="tx1"/>
                </a:solidFill>
              </a:rPr>
              <a:t>:</a:t>
            </a:r>
            <a:r>
              <a:rPr lang="en-US" sz="1600" dirty="0">
                <a:solidFill>
                  <a:schemeClr val="tx1"/>
                </a:solidFill>
              </a:rPr>
              <a:t> Class for determining nominal envelope of system over a </a:t>
            </a:r>
            <a:r>
              <a:rPr lang="en-US" sz="1600" dirty="0" err="1">
                <a:solidFill>
                  <a:schemeClr val="tx1"/>
                </a:solidFill>
              </a:rPr>
              <a:t>ParameterSample</a:t>
            </a:r>
            <a:endParaRPr lang="en-US" sz="1600" b="1" dirty="0">
              <a:solidFill>
                <a:schemeClr val="tx1"/>
              </a:solidFill>
            </a:endParaRPr>
          </a:p>
        </p:txBody>
      </p:sp>
      <p:pic>
        <p:nvPicPr>
          <p:cNvPr id="1028" name="Picture 4" descr="Revitalizing NetworkX for Complex Network Analysis - Chan ...">
            <a:extLst>
              <a:ext uri="{FF2B5EF4-FFF2-40B4-BE49-F238E27FC236}">
                <a16:creationId xmlns:a16="http://schemas.microsoft.com/office/drawing/2014/main" id="{5D808FB4-2BE9-46FB-9B7D-707B90CD3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7377" y="5777241"/>
            <a:ext cx="2048671" cy="45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5BFB8611-F122-DA60-B3A7-D1B438994E2D}"/>
              </a:ext>
            </a:extLst>
          </p:cNvPr>
          <p:cNvSpPr/>
          <p:nvPr/>
        </p:nvSpPr>
        <p:spPr>
          <a:xfrm>
            <a:off x="1" y="466132"/>
            <a:ext cx="12117786" cy="605193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common.py</a:t>
            </a:r>
          </a:p>
          <a:p>
            <a:r>
              <a:rPr lang="en-US" sz="1600" dirty="0">
                <a:solidFill>
                  <a:schemeClr val="tx1"/>
                </a:solidFill>
              </a:rPr>
              <a:t>Basic analysis utilities (plotting, calculations, </a:t>
            </a:r>
            <a:r>
              <a:rPr lang="en-US" sz="1600" dirty="0" err="1">
                <a:solidFill>
                  <a:schemeClr val="tx1"/>
                </a:solidFill>
              </a:rPr>
              <a:t>etc</a:t>
            </a:r>
            <a:r>
              <a:rPr lang="en-US" sz="1600" dirty="0">
                <a:solidFill>
                  <a:schemeClr val="tx1"/>
                </a:solidFill>
              </a:rPr>
              <a:t>) used throughout.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DBAF90-F5F0-4872-84E3-53C2B60D0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726" y="614503"/>
            <a:ext cx="1745673" cy="398790"/>
          </a:xfrm>
          <a:prstGeom prst="rect">
            <a:avLst/>
          </a:prstGeom>
        </p:spPr>
      </p:pic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F8183204-4E4B-7B56-7B2B-3F31B77B5F17}"/>
              </a:ext>
            </a:extLst>
          </p:cNvPr>
          <p:cNvSpPr/>
          <p:nvPr/>
        </p:nvSpPr>
        <p:spPr>
          <a:xfrm>
            <a:off x="8651" y="4042063"/>
            <a:ext cx="2983884" cy="2074025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history.py</a:t>
            </a:r>
          </a:p>
          <a:p>
            <a:r>
              <a:rPr lang="en-US" sz="1600" dirty="0">
                <a:solidFill>
                  <a:schemeClr val="tx1"/>
                </a:solidFill>
              </a:rPr>
              <a:t>Logging, processing, and simulation histories.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chemeClr val="tx1"/>
                </a:solidFill>
              </a:rPr>
              <a:t>History</a:t>
            </a:r>
            <a:r>
              <a:rPr lang="en-US" sz="1600" dirty="0">
                <a:solidFill>
                  <a:schemeClr val="tx1"/>
                </a:solidFill>
              </a:rPr>
              <a:t>: Class for logging and analyzing results from a simulation specified by tracking options.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64E68D44-CB30-B882-061B-B957F2F5E7F9}"/>
              </a:ext>
            </a:extLst>
          </p:cNvPr>
          <p:cNvSpPr/>
          <p:nvPr/>
        </p:nvSpPr>
        <p:spPr>
          <a:xfrm>
            <a:off x="6021537" y="1525887"/>
            <a:ext cx="2570566" cy="2929732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phases.py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Analysis of phases of operation in the system</a:t>
            </a:r>
          </a:p>
          <a:p>
            <a:pPr marL="285750" indent="-285750">
              <a:buFontTx/>
              <a:buChar char="-"/>
            </a:pPr>
            <a:r>
              <a:rPr lang="en-US" sz="1600" b="1" dirty="0" err="1">
                <a:solidFill>
                  <a:schemeClr val="tx1"/>
                </a:solidFill>
              </a:rPr>
              <a:t>PhaseMap</a:t>
            </a:r>
            <a:r>
              <a:rPr lang="en-US" sz="1600" b="1" dirty="0">
                <a:solidFill>
                  <a:schemeClr val="tx1"/>
                </a:solidFill>
              </a:rPr>
              <a:t>: </a:t>
            </a:r>
            <a:r>
              <a:rPr lang="en-US" sz="1600" dirty="0">
                <a:solidFill>
                  <a:schemeClr val="tx1"/>
                </a:solidFill>
              </a:rPr>
              <a:t>Class for interacting with model phases of operation for sampling and analysis.</a:t>
            </a:r>
          </a:p>
          <a:p>
            <a:pPr marL="285750" indent="-285750">
              <a:buFontTx/>
              <a:buChar char="-"/>
            </a:pPr>
            <a:r>
              <a:rPr lang="en-US" sz="1600" b="1" dirty="0" err="1">
                <a:solidFill>
                  <a:schemeClr val="tx1"/>
                </a:solidFill>
              </a:rPr>
              <a:t>from_hist</a:t>
            </a:r>
            <a:r>
              <a:rPr lang="en-US" sz="1600" b="1" dirty="0">
                <a:solidFill>
                  <a:schemeClr val="tx1"/>
                </a:solidFill>
              </a:rPr>
              <a:t>(): </a:t>
            </a:r>
            <a:r>
              <a:rPr lang="en-US" sz="1600" dirty="0">
                <a:solidFill>
                  <a:schemeClr val="tx1"/>
                </a:solidFill>
              </a:rPr>
              <a:t>method for generating </a:t>
            </a:r>
            <a:r>
              <a:rPr lang="en-US" sz="1600" dirty="0" err="1">
                <a:solidFill>
                  <a:schemeClr val="tx1"/>
                </a:solidFill>
              </a:rPr>
              <a:t>PhaseMaps</a:t>
            </a:r>
            <a:r>
              <a:rPr lang="en-US" sz="1600" dirty="0">
                <a:solidFill>
                  <a:schemeClr val="tx1"/>
                </a:solidFill>
              </a:rPr>
              <a:t> from throughout a model.</a:t>
            </a:r>
          </a:p>
          <a:p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557C6E-272A-E11E-08CB-25C971DB0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3786" y="441593"/>
            <a:ext cx="1399404" cy="629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pandas (software) - Wikipedia">
            <a:extLst>
              <a:ext uri="{FF2B5EF4-FFF2-40B4-BE49-F238E27FC236}">
                <a16:creationId xmlns:a16="http://schemas.microsoft.com/office/drawing/2014/main" id="{CDB94E6C-B997-7EC8-724A-FEEE544B1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085" y="504865"/>
            <a:ext cx="1529234" cy="618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2119A8-D698-909E-D2E5-9508E7CCF5B0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494655" y="1071325"/>
            <a:ext cx="0" cy="454565"/>
          </a:xfrm>
          <a:prstGeom prst="straightConnector1">
            <a:avLst/>
          </a:prstGeom>
          <a:ln w="38100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7DEE9E-9CD5-A418-7DE6-54DC87DBDECE}"/>
              </a:ext>
            </a:extLst>
          </p:cNvPr>
          <p:cNvCxnSpPr>
            <a:cxnSpLocks/>
          </p:cNvCxnSpPr>
          <p:nvPr/>
        </p:nvCxnSpPr>
        <p:spPr>
          <a:xfrm flipV="1">
            <a:off x="4493914" y="1071324"/>
            <a:ext cx="0" cy="454565"/>
          </a:xfrm>
          <a:prstGeom prst="straightConnector1">
            <a:avLst/>
          </a:prstGeom>
          <a:ln w="38100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8A6D77-39E5-E0D2-3362-41F2D037FA64}"/>
              </a:ext>
            </a:extLst>
          </p:cNvPr>
          <p:cNvCxnSpPr>
            <a:cxnSpLocks/>
          </p:cNvCxnSpPr>
          <p:nvPr/>
        </p:nvCxnSpPr>
        <p:spPr>
          <a:xfrm flipV="1">
            <a:off x="7298896" y="1071322"/>
            <a:ext cx="0" cy="454565"/>
          </a:xfrm>
          <a:prstGeom prst="straightConnector1">
            <a:avLst/>
          </a:prstGeom>
          <a:ln w="38100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84440F6-58FA-B609-7BBD-EF997BE1457C}"/>
              </a:ext>
            </a:extLst>
          </p:cNvPr>
          <p:cNvCxnSpPr>
            <a:cxnSpLocks/>
          </p:cNvCxnSpPr>
          <p:nvPr/>
        </p:nvCxnSpPr>
        <p:spPr>
          <a:xfrm flipV="1">
            <a:off x="1397673" y="3599915"/>
            <a:ext cx="0" cy="454565"/>
          </a:xfrm>
          <a:prstGeom prst="straightConnector1">
            <a:avLst/>
          </a:prstGeom>
          <a:ln w="38100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2F081A5-594D-F87A-A434-1549C23E144B}"/>
              </a:ext>
            </a:extLst>
          </p:cNvPr>
          <p:cNvCxnSpPr>
            <a:cxnSpLocks/>
          </p:cNvCxnSpPr>
          <p:nvPr/>
        </p:nvCxnSpPr>
        <p:spPr>
          <a:xfrm flipV="1">
            <a:off x="10466526" y="1071322"/>
            <a:ext cx="0" cy="454565"/>
          </a:xfrm>
          <a:prstGeom prst="straightConnector1">
            <a:avLst/>
          </a:prstGeom>
          <a:ln w="38100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66FCDDE0-2BC9-7D13-3256-1274F9535E88}"/>
              </a:ext>
            </a:extLst>
          </p:cNvPr>
          <p:cNvSpPr/>
          <p:nvPr/>
        </p:nvSpPr>
        <p:spPr>
          <a:xfrm>
            <a:off x="8804525" y="3225525"/>
            <a:ext cx="3324001" cy="1139695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base.py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Generic graph-based visualizations.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chemeClr val="tx1"/>
                </a:solidFill>
              </a:rPr>
              <a:t>Graph: </a:t>
            </a:r>
            <a:r>
              <a:rPr lang="en-US" sz="1600" dirty="0">
                <a:solidFill>
                  <a:schemeClr val="tx1"/>
                </a:solidFill>
              </a:rPr>
              <a:t>Base class for displaying and interacting with graphs.</a:t>
            </a:r>
          </a:p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11836C59-11E6-FBBE-895B-14262CF2A8D7}"/>
              </a:ext>
            </a:extLst>
          </p:cNvPr>
          <p:cNvSpPr/>
          <p:nvPr/>
        </p:nvSpPr>
        <p:spPr>
          <a:xfrm>
            <a:off x="8716097" y="2149559"/>
            <a:ext cx="1742359" cy="800375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label.py</a:t>
            </a:r>
          </a:p>
          <a:p>
            <a:r>
              <a:rPr lang="en-US" sz="1600" dirty="0">
                <a:solidFill>
                  <a:schemeClr val="tx1"/>
                </a:solidFill>
              </a:rPr>
              <a:t>Defines graph labels.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88279F10-B53E-23F2-92DF-C0404D68590C}"/>
              </a:ext>
            </a:extLst>
          </p:cNvPr>
          <p:cNvSpPr/>
          <p:nvPr/>
        </p:nvSpPr>
        <p:spPr>
          <a:xfrm>
            <a:off x="8792047" y="4622627"/>
            <a:ext cx="3324001" cy="1139695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model.py</a:t>
            </a:r>
          </a:p>
          <a:p>
            <a:r>
              <a:rPr lang="en-US" sz="1600" dirty="0">
                <a:solidFill>
                  <a:schemeClr val="tx1"/>
                </a:solidFill>
              </a:rPr>
              <a:t>Graph visualizations for models</a:t>
            </a:r>
          </a:p>
          <a:p>
            <a:pPr marL="285750" indent="-285750">
              <a:buFontTx/>
              <a:buChar char="-"/>
            </a:pPr>
            <a:r>
              <a:rPr lang="en-US" sz="1600" b="1" dirty="0" err="1">
                <a:solidFill>
                  <a:schemeClr val="tx1"/>
                </a:solidFill>
              </a:rPr>
              <a:t>ModelGraph</a:t>
            </a:r>
            <a:r>
              <a:rPr lang="en-US" sz="1600" b="1" dirty="0">
                <a:solidFill>
                  <a:schemeClr val="tx1"/>
                </a:solidFill>
              </a:rPr>
              <a:t>: </a:t>
            </a:r>
            <a:r>
              <a:rPr lang="en-US" sz="1600" dirty="0">
                <a:solidFill>
                  <a:schemeClr val="tx1"/>
                </a:solidFill>
              </a:rPr>
              <a:t>Class to represent model constructs as graphs</a:t>
            </a:r>
          </a:p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26DF5D43-C707-DDDB-8DFA-5BC6597D438F}"/>
              </a:ext>
            </a:extLst>
          </p:cNvPr>
          <p:cNvSpPr/>
          <p:nvPr/>
        </p:nvSpPr>
        <p:spPr>
          <a:xfrm>
            <a:off x="10458575" y="2143581"/>
            <a:ext cx="1742358" cy="800375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style.py</a:t>
            </a:r>
          </a:p>
          <a:p>
            <a:r>
              <a:rPr lang="en-US" sz="1600" dirty="0">
                <a:solidFill>
                  <a:schemeClr val="tx1"/>
                </a:solidFill>
              </a:rPr>
              <a:t>Defines node and edge styles.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C4125A-EAED-FF7E-18A7-EFF67A7FB8C9}"/>
              </a:ext>
            </a:extLst>
          </p:cNvPr>
          <p:cNvCxnSpPr>
            <a:cxnSpLocks/>
          </p:cNvCxnSpPr>
          <p:nvPr/>
        </p:nvCxnSpPr>
        <p:spPr>
          <a:xfrm flipV="1">
            <a:off x="9513325" y="2943956"/>
            <a:ext cx="0" cy="281569"/>
          </a:xfrm>
          <a:prstGeom prst="straightConnector1">
            <a:avLst/>
          </a:prstGeom>
          <a:ln w="38100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53837F-3657-A60D-41A1-BA981EA87136}"/>
              </a:ext>
            </a:extLst>
          </p:cNvPr>
          <p:cNvCxnSpPr>
            <a:cxnSpLocks/>
          </p:cNvCxnSpPr>
          <p:nvPr/>
        </p:nvCxnSpPr>
        <p:spPr>
          <a:xfrm flipV="1">
            <a:off x="11329754" y="2937849"/>
            <a:ext cx="0" cy="287676"/>
          </a:xfrm>
          <a:prstGeom prst="straightConnector1">
            <a:avLst/>
          </a:prstGeom>
          <a:ln w="38100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A5C5F95-ADB8-495F-227D-B258CCF4A766}"/>
              </a:ext>
            </a:extLst>
          </p:cNvPr>
          <p:cNvCxnSpPr>
            <a:cxnSpLocks/>
          </p:cNvCxnSpPr>
          <p:nvPr/>
        </p:nvCxnSpPr>
        <p:spPr>
          <a:xfrm flipV="1">
            <a:off x="10466525" y="4330630"/>
            <a:ext cx="0" cy="286137"/>
          </a:xfrm>
          <a:prstGeom prst="straightConnector1">
            <a:avLst/>
          </a:prstGeom>
          <a:ln w="38100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696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E3E3584-227D-7E46-0587-6F88879284F0}"/>
              </a:ext>
            </a:extLst>
          </p:cNvPr>
          <p:cNvSpPr/>
          <p:nvPr/>
        </p:nvSpPr>
        <p:spPr>
          <a:xfrm>
            <a:off x="646999" y="4653965"/>
            <a:ext cx="1583017" cy="3478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3E2ED7F-4DC9-2335-F24F-A1C31AA19CD2}"/>
              </a:ext>
            </a:extLst>
          </p:cNvPr>
          <p:cNvSpPr/>
          <p:nvPr/>
        </p:nvSpPr>
        <p:spPr>
          <a:xfrm>
            <a:off x="613775" y="4368335"/>
            <a:ext cx="2334698" cy="347847"/>
          </a:xfrm>
          <a:prstGeom prst="rect">
            <a:avLst/>
          </a:prstGeom>
          <a:solidFill>
            <a:srgbClr val="FA767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FDA4EB-098B-1E78-EDBE-908157E2832A}"/>
              </a:ext>
            </a:extLst>
          </p:cNvPr>
          <p:cNvSpPr/>
          <p:nvPr/>
        </p:nvSpPr>
        <p:spPr>
          <a:xfrm>
            <a:off x="646999" y="3765232"/>
            <a:ext cx="4100829" cy="665117"/>
          </a:xfrm>
          <a:prstGeom prst="rect">
            <a:avLst/>
          </a:prstGeom>
          <a:solidFill>
            <a:srgbClr val="F1D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D0A73A-8B97-E20D-C276-F3F28FF97A4D}"/>
              </a:ext>
            </a:extLst>
          </p:cNvPr>
          <p:cNvSpPr/>
          <p:nvPr/>
        </p:nvSpPr>
        <p:spPr>
          <a:xfrm>
            <a:off x="5145561" y="1938114"/>
            <a:ext cx="4992785" cy="33409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3E456E-4943-61DF-34C0-62DB5DA7A545}"/>
              </a:ext>
            </a:extLst>
          </p:cNvPr>
          <p:cNvSpPr/>
          <p:nvPr/>
        </p:nvSpPr>
        <p:spPr>
          <a:xfrm>
            <a:off x="5145562" y="1367209"/>
            <a:ext cx="264771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08E9D8-9C65-7752-4B6F-87BEE9AB394D}"/>
              </a:ext>
            </a:extLst>
          </p:cNvPr>
          <p:cNvSpPr/>
          <p:nvPr/>
        </p:nvSpPr>
        <p:spPr>
          <a:xfrm>
            <a:off x="994561" y="1214301"/>
            <a:ext cx="865097" cy="5678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4D2E71-19F1-3EBF-3C2C-0079DFF87A09}"/>
              </a:ext>
            </a:extLst>
          </p:cNvPr>
          <p:cNvSpPr/>
          <p:nvPr/>
        </p:nvSpPr>
        <p:spPr>
          <a:xfrm>
            <a:off x="1809557" y="1214301"/>
            <a:ext cx="653726" cy="5678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188504-BF51-14F1-B1F5-5BF81B37EC09}"/>
              </a:ext>
            </a:extLst>
          </p:cNvPr>
          <p:cNvSpPr/>
          <p:nvPr/>
        </p:nvSpPr>
        <p:spPr>
          <a:xfrm>
            <a:off x="2375490" y="1214301"/>
            <a:ext cx="1468722" cy="56784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070845-5D0F-5ACA-9BCF-31CFC714FB7B}"/>
              </a:ext>
            </a:extLst>
          </p:cNvPr>
          <p:cNvSpPr/>
          <p:nvPr/>
        </p:nvSpPr>
        <p:spPr>
          <a:xfrm>
            <a:off x="764651" y="956664"/>
            <a:ext cx="3900652" cy="93306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/>
              <a:t>class </a:t>
            </a:r>
            <a:r>
              <a:rPr lang="en-US" sz="1600" dirty="0" err="1"/>
              <a:t>StateName</a:t>
            </a:r>
            <a:r>
              <a:rPr lang="en-US" sz="1600" dirty="0"/>
              <a:t>(State):</a:t>
            </a:r>
          </a:p>
          <a:p>
            <a:r>
              <a:rPr lang="en-US" sz="1600" dirty="0"/>
              <a:t>    varname1: float = 1.0</a:t>
            </a:r>
          </a:p>
          <a:p>
            <a:r>
              <a:rPr lang="en-US" sz="1600" dirty="0"/>
              <a:t>    varname2: str = “</a:t>
            </a:r>
            <a:r>
              <a:rPr lang="en-US" sz="1600" dirty="0" err="1"/>
              <a:t>default_value</a:t>
            </a:r>
            <a:r>
              <a:rPr lang="en-US" sz="1600" dirty="0"/>
              <a:t>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D4A9F2-AB40-E7B4-93E6-86058C2BEB8C}"/>
              </a:ext>
            </a:extLst>
          </p:cNvPr>
          <p:cNvSpPr/>
          <p:nvPr/>
        </p:nvSpPr>
        <p:spPr>
          <a:xfrm>
            <a:off x="5026521" y="884341"/>
            <a:ext cx="5533509" cy="128762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/>
              <a:t>class </a:t>
            </a:r>
            <a:r>
              <a:rPr lang="en-US" sz="1600" dirty="0" err="1"/>
              <a:t>ParameterName</a:t>
            </a:r>
            <a:r>
              <a:rPr lang="en-US" sz="1600" dirty="0"/>
              <a:t>(Parameter):</a:t>
            </a:r>
          </a:p>
          <a:p>
            <a:r>
              <a:rPr lang="en-US" sz="1600" dirty="0"/>
              <a:t>    varname1: float = 1.0</a:t>
            </a:r>
          </a:p>
          <a:p>
            <a:r>
              <a:rPr lang="en-US" sz="1600" dirty="0"/>
              <a:t>    varname1_range = (0.0, 10.0)</a:t>
            </a:r>
          </a:p>
          <a:p>
            <a:r>
              <a:rPr lang="en-US" sz="1600" dirty="0"/>
              <a:t>    varname2 : str = “</a:t>
            </a:r>
            <a:r>
              <a:rPr lang="en-US" sz="1600" dirty="0" err="1"/>
              <a:t>default_value</a:t>
            </a:r>
            <a:r>
              <a:rPr lang="en-US" sz="1600" dirty="0"/>
              <a:t>”</a:t>
            </a:r>
          </a:p>
          <a:p>
            <a:r>
              <a:rPr lang="en-US" sz="1600" dirty="0"/>
              <a:t>    varname2_set = (“</a:t>
            </a:r>
            <a:r>
              <a:rPr lang="en-US" sz="1600" dirty="0" err="1"/>
              <a:t>default_value</a:t>
            </a:r>
            <a:r>
              <a:rPr lang="en-US" sz="1600" dirty="0"/>
              <a:t>”, “</a:t>
            </a:r>
            <a:r>
              <a:rPr lang="en-US" sz="1600" dirty="0" err="1"/>
              <a:t>other_possible_value</a:t>
            </a:r>
            <a:r>
              <a:rPr lang="en-US" sz="1600" dirty="0"/>
              <a:t>”)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4732F1-90B0-DA8E-3B66-8C9633111125}"/>
              </a:ext>
            </a:extLst>
          </p:cNvPr>
          <p:cNvSpPr/>
          <p:nvPr/>
        </p:nvSpPr>
        <p:spPr>
          <a:xfrm>
            <a:off x="438079" y="3681725"/>
            <a:ext cx="5533509" cy="128762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/>
              <a:t>class </a:t>
            </a:r>
            <a:r>
              <a:rPr lang="en-US" sz="1600" dirty="0" err="1"/>
              <a:t>ModeName</a:t>
            </a:r>
            <a:r>
              <a:rPr lang="en-US" sz="1600" dirty="0"/>
              <a:t>(Mode):</a:t>
            </a:r>
          </a:p>
          <a:p>
            <a:r>
              <a:rPr lang="en-US" sz="1600" dirty="0"/>
              <a:t>    fault_faultname1 = (0.001, 200.0),</a:t>
            </a:r>
          </a:p>
          <a:p>
            <a:r>
              <a:rPr lang="en-US" sz="1600" dirty="0"/>
              <a:t>    fault_faultname2 = (0.00001, 100.0, {‘on’: 1.0})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opermodes</a:t>
            </a:r>
            <a:r>
              <a:rPr lang="en-US" sz="1600" dirty="0"/>
              <a:t> = (“off”, “on”)</a:t>
            </a:r>
          </a:p>
          <a:p>
            <a:r>
              <a:rPr lang="en-US" sz="1600" dirty="0"/>
              <a:t>    mode: str = “off”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365AE3-4F9A-EDD0-019A-5A7994D97D75}"/>
              </a:ext>
            </a:extLst>
          </p:cNvPr>
          <p:cNvSpPr txBox="1"/>
          <p:nvPr/>
        </p:nvSpPr>
        <p:spPr>
          <a:xfrm>
            <a:off x="289055" y="225584"/>
            <a:ext cx="4618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State classes are used to represent variables (called fields) that change over time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74FEB2-B158-D527-32D3-6F942715F958}"/>
              </a:ext>
            </a:extLst>
          </p:cNvPr>
          <p:cNvSpPr txBox="1"/>
          <p:nvPr/>
        </p:nvSpPr>
        <p:spPr>
          <a:xfrm>
            <a:off x="5283555" y="95362"/>
            <a:ext cx="5418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Parameter classes are used to represent variables that don’t change over time, with similar syntax to States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9ECC82-9084-E2C6-CAF2-AA2E726052B8}"/>
              </a:ext>
            </a:extLst>
          </p:cNvPr>
          <p:cNvSpPr txBox="1"/>
          <p:nvPr/>
        </p:nvSpPr>
        <p:spPr>
          <a:xfrm>
            <a:off x="432935" y="3030090"/>
            <a:ext cx="5856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 classes are used to represent modes (faults and operational modes) that could occur in the 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857048-6292-CD42-0F46-CBCFA871371E}"/>
              </a:ext>
            </a:extLst>
          </p:cNvPr>
          <p:cNvSpPr/>
          <p:nvPr/>
        </p:nvSpPr>
        <p:spPr>
          <a:xfrm>
            <a:off x="438079" y="2034988"/>
            <a:ext cx="1287889" cy="5216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Field name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7F69E7-6A81-066C-FC09-D8FFFC050E51}"/>
              </a:ext>
            </a:extLst>
          </p:cNvPr>
          <p:cNvSpPr/>
          <p:nvPr/>
        </p:nvSpPr>
        <p:spPr>
          <a:xfrm>
            <a:off x="1809557" y="2040292"/>
            <a:ext cx="1287889" cy="5216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Field type or class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842B17-396E-6512-A2B8-923EEFEF084B}"/>
              </a:ext>
            </a:extLst>
          </p:cNvPr>
          <p:cNvSpPr/>
          <p:nvPr/>
        </p:nvSpPr>
        <p:spPr>
          <a:xfrm>
            <a:off x="3142607" y="2034988"/>
            <a:ext cx="1287889" cy="5216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Default initial value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9E0321-99F7-ED50-3F09-17A712A75D57}"/>
              </a:ext>
            </a:extLst>
          </p:cNvPr>
          <p:cNvCxnSpPr>
            <a:cxnSpLocks/>
          </p:cNvCxnSpPr>
          <p:nvPr/>
        </p:nvCxnSpPr>
        <p:spPr>
          <a:xfrm flipV="1">
            <a:off x="1427109" y="1761807"/>
            <a:ext cx="0" cy="2869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C921A3-553F-51CB-BFC2-9DDA8D52E77E}"/>
              </a:ext>
            </a:extLst>
          </p:cNvPr>
          <p:cNvCxnSpPr>
            <a:cxnSpLocks/>
          </p:cNvCxnSpPr>
          <p:nvPr/>
        </p:nvCxnSpPr>
        <p:spPr>
          <a:xfrm flipV="1">
            <a:off x="2136420" y="1723204"/>
            <a:ext cx="0" cy="32550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DE668A8-9C40-21D8-275F-DC363707A2E6}"/>
              </a:ext>
            </a:extLst>
          </p:cNvPr>
          <p:cNvCxnSpPr>
            <a:cxnSpLocks/>
          </p:cNvCxnSpPr>
          <p:nvPr/>
        </p:nvCxnSpPr>
        <p:spPr>
          <a:xfrm flipV="1">
            <a:off x="3361425" y="1761806"/>
            <a:ext cx="0" cy="28690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CA6D54C-73E7-F1A4-75FC-2D6AE5C0E7F5}"/>
              </a:ext>
            </a:extLst>
          </p:cNvPr>
          <p:cNvSpPr/>
          <p:nvPr/>
        </p:nvSpPr>
        <p:spPr>
          <a:xfrm>
            <a:off x="8244483" y="1265737"/>
            <a:ext cx="2780869" cy="5216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varname1_range defines allowable range for the variable varname1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457197-5BC2-81D4-8BDF-3136762C4A9A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7779701" y="1526538"/>
            <a:ext cx="464782" cy="0"/>
          </a:xfrm>
          <a:prstGeom prst="straightConnector1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4707B8E-3DA1-8361-A75E-DE9C3C869472}"/>
              </a:ext>
            </a:extLst>
          </p:cNvPr>
          <p:cNvSpPr/>
          <p:nvPr/>
        </p:nvSpPr>
        <p:spPr>
          <a:xfrm>
            <a:off x="5214557" y="2479817"/>
            <a:ext cx="4854792" cy="33409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varname2_set defines allowable values for the field varname2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B7CBD60-B28E-AE5F-819B-E8BD8B2414C7}"/>
              </a:ext>
            </a:extLst>
          </p:cNvPr>
          <p:cNvCxnSpPr>
            <a:cxnSpLocks/>
            <a:stCxn id="29" idx="0"/>
            <a:endCxn id="30" idx="2"/>
          </p:cNvCxnSpPr>
          <p:nvPr/>
        </p:nvCxnSpPr>
        <p:spPr>
          <a:xfrm flipV="1">
            <a:off x="7641953" y="2272208"/>
            <a:ext cx="1" cy="20760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13816940-3C78-5CE3-EE3F-B3D9B83A216E}"/>
              </a:ext>
            </a:extLst>
          </p:cNvPr>
          <p:cNvSpPr/>
          <p:nvPr/>
        </p:nvSpPr>
        <p:spPr>
          <a:xfrm>
            <a:off x="5801318" y="3752227"/>
            <a:ext cx="4900894" cy="665117"/>
          </a:xfrm>
          <a:prstGeom prst="rect">
            <a:avLst/>
          </a:prstGeom>
          <a:solidFill>
            <a:srgbClr val="F1D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Dictionary of fault names and their optional properties (rate, repair cost, phases they could occur and their rates)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6C6AB08-9845-2B2C-83A9-7C465BC32BB2}"/>
              </a:ext>
            </a:extLst>
          </p:cNvPr>
          <p:cNvCxnSpPr>
            <a:cxnSpLocks/>
            <a:endCxn id="37" idx="3"/>
          </p:cNvCxnSpPr>
          <p:nvPr/>
        </p:nvCxnSpPr>
        <p:spPr>
          <a:xfrm flipH="1">
            <a:off x="4747828" y="4087109"/>
            <a:ext cx="1053490" cy="10682"/>
          </a:xfrm>
          <a:prstGeom prst="straightConnector1">
            <a:avLst/>
          </a:prstGeom>
          <a:ln w="38100">
            <a:solidFill>
              <a:srgbClr val="E890E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AA1009E7-841C-B432-336E-5EE4C7C50728}"/>
              </a:ext>
            </a:extLst>
          </p:cNvPr>
          <p:cNvSpPr/>
          <p:nvPr/>
        </p:nvSpPr>
        <p:spPr>
          <a:xfrm>
            <a:off x="5801317" y="4399342"/>
            <a:ext cx="3921180" cy="347847"/>
          </a:xfrm>
          <a:prstGeom prst="rect">
            <a:avLst/>
          </a:prstGeom>
          <a:solidFill>
            <a:srgbClr val="FA767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List of potential operational modes (if multiple)</a:t>
            </a:r>
            <a:endParaRPr lang="en-US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BEA0CCF-AEFC-69E3-BF3D-5904354ADCCD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2948473" y="4573266"/>
            <a:ext cx="2852844" cy="9645"/>
          </a:xfrm>
          <a:prstGeom prst="straightConnector1">
            <a:avLst/>
          </a:prstGeom>
          <a:ln w="38100">
            <a:solidFill>
              <a:srgbClr val="F91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5448C8D-658C-BEBE-C7E5-E785FDD5473B}"/>
              </a:ext>
            </a:extLst>
          </p:cNvPr>
          <p:cNvSpPr/>
          <p:nvPr/>
        </p:nvSpPr>
        <p:spPr>
          <a:xfrm>
            <a:off x="5801317" y="4747189"/>
            <a:ext cx="3566617" cy="3478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Default mode (if multiple modes/not nominal)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00CFA39-6CF8-D764-D9D7-5B6B7790AB18}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2263240" y="4875589"/>
            <a:ext cx="3538077" cy="4552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19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05E7D8F-7178-C0FA-3C79-7BC494D2EE9F}"/>
              </a:ext>
            </a:extLst>
          </p:cNvPr>
          <p:cNvSpPr/>
          <p:nvPr/>
        </p:nvSpPr>
        <p:spPr>
          <a:xfrm>
            <a:off x="596306" y="2011624"/>
            <a:ext cx="3626498" cy="5542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26D857-88DA-B68B-F22B-703A29FCCABD}"/>
              </a:ext>
            </a:extLst>
          </p:cNvPr>
          <p:cNvSpPr/>
          <p:nvPr/>
        </p:nvSpPr>
        <p:spPr>
          <a:xfrm>
            <a:off x="514110" y="2688349"/>
            <a:ext cx="5285570" cy="10894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FC196C-C8D8-5A27-5F55-F9FA6125A8AF}"/>
              </a:ext>
            </a:extLst>
          </p:cNvPr>
          <p:cNvSpPr/>
          <p:nvPr/>
        </p:nvSpPr>
        <p:spPr>
          <a:xfrm>
            <a:off x="626989" y="2378458"/>
            <a:ext cx="2349924" cy="3189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9DAFC3-4513-6A0A-BD32-2807BA04FCBE}"/>
              </a:ext>
            </a:extLst>
          </p:cNvPr>
          <p:cNvSpPr/>
          <p:nvPr/>
        </p:nvSpPr>
        <p:spPr>
          <a:xfrm>
            <a:off x="367857" y="1661745"/>
            <a:ext cx="5337571" cy="259211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/>
              <a:t>class </a:t>
            </a:r>
            <a:r>
              <a:rPr lang="en-US" sz="1600" dirty="0" err="1"/>
              <a:t>FlowName</a:t>
            </a:r>
            <a:r>
              <a:rPr lang="en-US" sz="1600" dirty="0"/>
              <a:t>(Flow):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container_s</a:t>
            </a:r>
            <a:r>
              <a:rPr lang="en-US" sz="1600" dirty="0"/>
              <a:t> = </a:t>
            </a:r>
            <a:r>
              <a:rPr lang="en-US" sz="1600" dirty="0" err="1"/>
              <a:t>StateName</a:t>
            </a:r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 err="1"/>
              <a:t>container_p</a:t>
            </a:r>
            <a:r>
              <a:rPr lang="en-US" sz="1600" dirty="0"/>
              <a:t> = </a:t>
            </a:r>
            <a:r>
              <a:rPr lang="en-US" sz="1600" dirty="0" err="1"/>
              <a:t>ParameterName</a:t>
            </a:r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 err="1"/>
              <a:t>default_track</a:t>
            </a:r>
            <a:r>
              <a:rPr lang="en-US" sz="1600" dirty="0"/>
              <a:t> = [‘</a:t>
            </a:r>
            <a:r>
              <a:rPr lang="en-US" sz="1600" dirty="0" err="1"/>
              <a:t>s’,’m</a:t>
            </a:r>
            <a:r>
              <a:rPr lang="en-US" sz="1600" dirty="0"/>
              <a:t>’]</a:t>
            </a:r>
          </a:p>
          <a:p>
            <a:r>
              <a:rPr lang="en-US" sz="1600" dirty="0"/>
              <a:t> def </a:t>
            </a:r>
            <a:r>
              <a:rPr lang="en-US" sz="1600" dirty="0" err="1"/>
              <a:t>indicate_XXX</a:t>
            </a:r>
            <a:r>
              <a:rPr lang="en-US" sz="1600" dirty="0"/>
              <a:t>(self):</a:t>
            </a:r>
          </a:p>
          <a:p>
            <a:r>
              <a:rPr lang="en-US" sz="1600" dirty="0"/>
              <a:t>        </a:t>
            </a:r>
            <a:r>
              <a:rPr lang="en-US" sz="1600" dirty="0">
                <a:highlight>
                  <a:srgbClr val="00FF00"/>
                </a:highlight>
              </a:rPr>
              <a:t>Conditional statement (e.g., </a:t>
            </a:r>
            <a:r>
              <a:rPr lang="en-US" sz="1600" dirty="0" err="1">
                <a:highlight>
                  <a:srgbClr val="00FF00"/>
                </a:highlight>
              </a:rPr>
              <a:t>self.s.state</a:t>
            </a:r>
            <a:r>
              <a:rPr lang="en-US" sz="1600" dirty="0">
                <a:highlight>
                  <a:srgbClr val="00FF00"/>
                </a:highlight>
              </a:rPr>
              <a:t>&gt;threshold) which is logged in the history and may be used to terminate simulations</a:t>
            </a:r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C7F11E-A072-A4AD-F38A-E3E4DF026A82}"/>
              </a:ext>
            </a:extLst>
          </p:cNvPr>
          <p:cNvSpPr/>
          <p:nvPr/>
        </p:nvSpPr>
        <p:spPr>
          <a:xfrm>
            <a:off x="6285265" y="2066925"/>
            <a:ext cx="5538878" cy="6305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Specifies which container classes play specific Flow </a:t>
            </a:r>
            <a:r>
              <a:rPr lang="en-US" sz="1400" b="1" dirty="0">
                <a:solidFill>
                  <a:schemeClr val="tx1"/>
                </a:solidFill>
              </a:rPr>
              <a:t>roles </a:t>
            </a:r>
            <a:r>
              <a:rPr lang="en-US" sz="1400" dirty="0">
                <a:solidFill>
                  <a:schemeClr val="tx1"/>
                </a:solidFill>
              </a:rPr>
              <a:t>(e.g., s corresponds to the state role, p corresponds to a parameter role, m corresponds to the mode role, 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0E1143D-39EF-EF61-5A8C-1F769C7E2B57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4177875" y="2323532"/>
            <a:ext cx="2107390" cy="586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3FA68BA-1FEA-C881-36F8-4A1E9300C7D7}"/>
              </a:ext>
            </a:extLst>
          </p:cNvPr>
          <p:cNvSpPr/>
          <p:nvPr/>
        </p:nvSpPr>
        <p:spPr>
          <a:xfrm>
            <a:off x="6283150" y="3478717"/>
            <a:ext cx="5540993" cy="50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These methods define Flow </a:t>
            </a:r>
            <a:r>
              <a:rPr lang="en-US" sz="1400" b="1" dirty="0">
                <a:solidFill>
                  <a:schemeClr val="tx1"/>
                </a:solidFill>
              </a:rPr>
              <a:t>indicators</a:t>
            </a:r>
            <a:r>
              <a:rPr lang="en-US" sz="1400" dirty="0">
                <a:solidFill>
                  <a:schemeClr val="tx1"/>
                </a:solidFill>
              </a:rPr>
              <a:t> and are called/tracked during simulation (in </a:t>
            </a:r>
            <a:r>
              <a:rPr lang="en-US" sz="1400" dirty="0" err="1">
                <a:solidFill>
                  <a:schemeClr val="tx1"/>
                </a:solidFill>
              </a:rPr>
              <a:t>flow.i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49163A-33FF-1950-9ACC-BF0584A16ED1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5065991" y="3426469"/>
            <a:ext cx="1217159" cy="30654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6E4E031-A442-C267-76D9-5349371FBA62}"/>
              </a:ext>
            </a:extLst>
          </p:cNvPr>
          <p:cNvSpPr/>
          <p:nvPr/>
        </p:nvSpPr>
        <p:spPr>
          <a:xfrm>
            <a:off x="6283150" y="2749677"/>
            <a:ext cx="5540993" cy="7406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Specifies </a:t>
            </a:r>
            <a:r>
              <a:rPr lang="en-US" sz="1400" b="1" dirty="0">
                <a:solidFill>
                  <a:schemeClr val="tx1"/>
                </a:solidFill>
              </a:rPr>
              <a:t>what should be tracked</a:t>
            </a:r>
            <a:r>
              <a:rPr lang="en-US" sz="1400" dirty="0">
                <a:solidFill>
                  <a:schemeClr val="tx1"/>
                </a:solidFill>
              </a:rPr>
              <a:t> in the </a:t>
            </a:r>
            <a:r>
              <a:rPr lang="en-US" sz="1400" dirty="0" err="1">
                <a:solidFill>
                  <a:schemeClr val="tx1"/>
                </a:solidFill>
              </a:rPr>
              <a:t>FxnBlock</a:t>
            </a:r>
            <a:r>
              <a:rPr lang="en-US" sz="1400" dirty="0">
                <a:solidFill>
                  <a:schemeClr val="tx1"/>
                </a:solidFill>
              </a:rPr>
              <a:t> history (</a:t>
            </a:r>
            <a:r>
              <a:rPr lang="en-US" sz="1400" dirty="0" err="1">
                <a:solidFill>
                  <a:schemeClr val="tx1"/>
                </a:solidFill>
              </a:rPr>
              <a:t>fxnname.h</a:t>
            </a:r>
            <a:r>
              <a:rPr lang="en-US" sz="1400" dirty="0">
                <a:solidFill>
                  <a:schemeClr val="tx1"/>
                </a:solidFill>
              </a:rPr>
              <a:t>) by default. May be a </a:t>
            </a:r>
            <a:r>
              <a:rPr lang="en-US" sz="1400" dirty="0" err="1">
                <a:solidFill>
                  <a:schemeClr val="tx1"/>
                </a:solidFill>
              </a:rPr>
              <a:t>dict</a:t>
            </a:r>
            <a:r>
              <a:rPr lang="en-US" sz="1400" dirty="0">
                <a:solidFill>
                  <a:schemeClr val="tx1"/>
                </a:solidFill>
              </a:rPr>
              <a:t> ({</a:t>
            </a:r>
            <a:r>
              <a:rPr lang="en-US" sz="1400" dirty="0" err="1">
                <a:solidFill>
                  <a:schemeClr val="tx1"/>
                </a:solidFill>
              </a:rPr>
              <a:t>role:value</a:t>
            </a:r>
            <a:r>
              <a:rPr lang="en-US" sz="1400" dirty="0">
                <a:solidFill>
                  <a:schemeClr val="tx1"/>
                </a:solidFill>
              </a:rPr>
              <a:t>}), list ([role1, role2]), or string (“</a:t>
            </a:r>
            <a:r>
              <a:rPr lang="en-US" sz="1400" dirty="0" err="1">
                <a:solidFill>
                  <a:schemeClr val="tx1"/>
                </a:solidFill>
              </a:rPr>
              <a:t>all”,”none</a:t>
            </a:r>
            <a:r>
              <a:rPr lang="en-US" sz="1400" dirty="0">
                <a:solidFill>
                  <a:schemeClr val="tx1"/>
                </a:solidFill>
              </a:rPr>
              <a:t>”, 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r>
              <a:rPr lang="en-US" sz="1400" dirty="0">
                <a:solidFill>
                  <a:schemeClr val="tx1"/>
                </a:solidFill>
              </a:rPr>
              <a:t>). Overwritten by track parameter at model instantiation.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3AFA92A-F557-0EE4-FF2D-62C6EE1362E2}"/>
              </a:ext>
            </a:extLst>
          </p:cNvPr>
          <p:cNvCxnSpPr>
            <a:cxnSpLocks/>
          </p:cNvCxnSpPr>
          <p:nvPr/>
        </p:nvCxnSpPr>
        <p:spPr>
          <a:xfrm flipH="1" flipV="1">
            <a:off x="2860535" y="2586456"/>
            <a:ext cx="3422615" cy="371346"/>
          </a:xfrm>
          <a:prstGeom prst="straightConnector1">
            <a:avLst/>
          </a:prstGeom>
          <a:ln w="38100">
            <a:solidFill>
              <a:srgbClr val="FF8A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278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9639FBB-FEB5-DA38-1257-27E1770ED7AB}"/>
              </a:ext>
            </a:extLst>
          </p:cNvPr>
          <p:cNvSpPr/>
          <p:nvPr/>
        </p:nvSpPr>
        <p:spPr>
          <a:xfrm>
            <a:off x="3823439" y="2886436"/>
            <a:ext cx="6430023" cy="21920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C539D4-1CBA-B5E5-2E88-785897940B49}"/>
              </a:ext>
            </a:extLst>
          </p:cNvPr>
          <p:cNvSpPr/>
          <p:nvPr/>
        </p:nvSpPr>
        <p:spPr>
          <a:xfrm>
            <a:off x="4036872" y="2386227"/>
            <a:ext cx="3639847" cy="4885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BCDC26-00E5-A3E1-F5B6-30FDC541BC9D}"/>
              </a:ext>
            </a:extLst>
          </p:cNvPr>
          <p:cNvSpPr/>
          <p:nvPr/>
        </p:nvSpPr>
        <p:spPr>
          <a:xfrm>
            <a:off x="4036873" y="2161579"/>
            <a:ext cx="1976763" cy="2219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026455-CAB0-7107-5E06-73B62BD22F6E}"/>
              </a:ext>
            </a:extLst>
          </p:cNvPr>
          <p:cNvSpPr/>
          <p:nvPr/>
        </p:nvSpPr>
        <p:spPr>
          <a:xfrm>
            <a:off x="4036873" y="1876641"/>
            <a:ext cx="2601157" cy="2692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57DC22-740F-82D7-A00D-42CF44D23CA6}"/>
              </a:ext>
            </a:extLst>
          </p:cNvPr>
          <p:cNvSpPr/>
          <p:nvPr/>
        </p:nvSpPr>
        <p:spPr>
          <a:xfrm>
            <a:off x="4036873" y="1414401"/>
            <a:ext cx="4225772" cy="4885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0F2CA3-19A2-C7F6-C82D-20112C0EFFC8}"/>
              </a:ext>
            </a:extLst>
          </p:cNvPr>
          <p:cNvSpPr/>
          <p:nvPr/>
        </p:nvSpPr>
        <p:spPr>
          <a:xfrm>
            <a:off x="4036874" y="669126"/>
            <a:ext cx="2601156" cy="7452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99E59A-7941-6350-EE6B-CB334F86800C}"/>
              </a:ext>
            </a:extLst>
          </p:cNvPr>
          <p:cNvSpPr/>
          <p:nvPr/>
        </p:nvSpPr>
        <p:spPr>
          <a:xfrm>
            <a:off x="0" y="1782889"/>
            <a:ext cx="3480540" cy="1090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Specifies </a:t>
            </a:r>
            <a:r>
              <a:rPr lang="en-US" sz="1400" b="1" dirty="0">
                <a:solidFill>
                  <a:schemeClr val="tx1"/>
                </a:solidFill>
              </a:rPr>
              <a:t>what should be tracked</a:t>
            </a:r>
            <a:r>
              <a:rPr lang="en-US" sz="1400" dirty="0">
                <a:solidFill>
                  <a:schemeClr val="tx1"/>
                </a:solidFill>
              </a:rPr>
              <a:t> in the </a:t>
            </a:r>
            <a:r>
              <a:rPr lang="en-US" sz="1400" dirty="0" err="1">
                <a:solidFill>
                  <a:schemeClr val="tx1"/>
                </a:solidFill>
              </a:rPr>
              <a:t>FxnBlock</a:t>
            </a:r>
            <a:r>
              <a:rPr lang="en-US" sz="1400" dirty="0">
                <a:solidFill>
                  <a:schemeClr val="tx1"/>
                </a:solidFill>
              </a:rPr>
              <a:t> history (</a:t>
            </a:r>
            <a:r>
              <a:rPr lang="en-US" sz="1400" dirty="0" err="1">
                <a:solidFill>
                  <a:schemeClr val="tx1"/>
                </a:solidFill>
              </a:rPr>
              <a:t>fxnname.h</a:t>
            </a:r>
            <a:r>
              <a:rPr lang="en-US" sz="1400" dirty="0">
                <a:solidFill>
                  <a:schemeClr val="tx1"/>
                </a:solidFill>
              </a:rPr>
              <a:t>) by default. May be a </a:t>
            </a:r>
            <a:r>
              <a:rPr lang="en-US" sz="1400" dirty="0" err="1">
                <a:solidFill>
                  <a:schemeClr val="tx1"/>
                </a:solidFill>
              </a:rPr>
              <a:t>dict</a:t>
            </a:r>
            <a:r>
              <a:rPr lang="en-US" sz="1400" dirty="0">
                <a:solidFill>
                  <a:schemeClr val="tx1"/>
                </a:solidFill>
              </a:rPr>
              <a:t> ({</a:t>
            </a:r>
            <a:r>
              <a:rPr lang="en-US" sz="1400" dirty="0" err="1">
                <a:solidFill>
                  <a:schemeClr val="tx1"/>
                </a:solidFill>
              </a:rPr>
              <a:t>role:value</a:t>
            </a:r>
            <a:r>
              <a:rPr lang="en-US" sz="1400" dirty="0">
                <a:solidFill>
                  <a:schemeClr val="tx1"/>
                </a:solidFill>
              </a:rPr>
              <a:t>}), list ([role1, role2]), or string (“</a:t>
            </a:r>
            <a:r>
              <a:rPr lang="en-US" sz="1400" dirty="0" err="1">
                <a:solidFill>
                  <a:schemeClr val="tx1"/>
                </a:solidFill>
              </a:rPr>
              <a:t>all”,”none</a:t>
            </a:r>
            <a:r>
              <a:rPr lang="en-US" sz="1400" dirty="0">
                <a:solidFill>
                  <a:schemeClr val="tx1"/>
                </a:solidFill>
              </a:rPr>
              <a:t>”, 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r>
              <a:rPr lang="en-US" sz="1400" dirty="0">
                <a:solidFill>
                  <a:schemeClr val="tx1"/>
                </a:solidFill>
              </a:rPr>
              <a:t>). Overwritten by the track parameter during model instantiation.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F27A4B-E6D1-E3FB-020B-333E46CFE23E}"/>
              </a:ext>
            </a:extLst>
          </p:cNvPr>
          <p:cNvSpPr/>
          <p:nvPr/>
        </p:nvSpPr>
        <p:spPr>
          <a:xfrm>
            <a:off x="0" y="648352"/>
            <a:ext cx="3480540" cy="11701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flow_XXX</a:t>
            </a:r>
            <a:r>
              <a:rPr lang="en-US" sz="1400" dirty="0">
                <a:solidFill>
                  <a:schemeClr val="tx1"/>
                </a:solidFill>
              </a:rPr>
              <a:t> is used to append a </a:t>
            </a:r>
            <a:r>
              <a:rPr lang="en-US" sz="1400" b="1" dirty="0">
                <a:solidFill>
                  <a:schemeClr val="tx1"/>
                </a:solidFill>
              </a:rPr>
              <a:t>flow </a:t>
            </a:r>
            <a:r>
              <a:rPr lang="en-US" sz="1400" dirty="0">
                <a:solidFill>
                  <a:schemeClr val="tx1"/>
                </a:solidFill>
              </a:rPr>
              <a:t>of given type that is named XXX to the function class. If the flow(s) has a different name outside the function (optional), </a:t>
            </a:r>
            <a:r>
              <a:rPr lang="en-US" sz="1400" dirty="0" err="1">
                <a:solidFill>
                  <a:schemeClr val="tx1"/>
                </a:solidFill>
              </a:rPr>
              <a:t>flownames</a:t>
            </a:r>
            <a:r>
              <a:rPr lang="en-US" sz="1400" dirty="0">
                <a:solidFill>
                  <a:schemeClr val="tx1"/>
                </a:solidFill>
              </a:rPr>
              <a:t> matches the external name to the internal name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391646-A2EB-6DB7-673E-EBCE48A81170}"/>
              </a:ext>
            </a:extLst>
          </p:cNvPr>
          <p:cNvSpPr/>
          <p:nvPr/>
        </p:nvSpPr>
        <p:spPr>
          <a:xfrm>
            <a:off x="7278397" y="758555"/>
            <a:ext cx="4602318" cy="6305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Specifies which classes play specific </a:t>
            </a:r>
            <a:r>
              <a:rPr lang="en-US" sz="1400" dirty="0" err="1">
                <a:solidFill>
                  <a:schemeClr val="tx1"/>
                </a:solidFill>
              </a:rPr>
              <a:t>FxnBlock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b="1" dirty="0">
                <a:solidFill>
                  <a:schemeClr val="tx1"/>
                </a:solidFill>
              </a:rPr>
              <a:t>roles </a:t>
            </a:r>
            <a:r>
              <a:rPr lang="en-US" sz="1400" dirty="0">
                <a:solidFill>
                  <a:schemeClr val="tx1"/>
                </a:solidFill>
              </a:rPr>
              <a:t>(e.g., s corresponds to the state role, m corresponds to the mode role, 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890D35-88DD-C827-1F33-F89FED5D13D0}"/>
              </a:ext>
            </a:extLst>
          </p:cNvPr>
          <p:cNvSpPr/>
          <p:nvPr/>
        </p:nvSpPr>
        <p:spPr>
          <a:xfrm>
            <a:off x="8240869" y="2313204"/>
            <a:ext cx="3639846" cy="8675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Optional</a:t>
            </a:r>
            <a:r>
              <a:rPr lang="en-US" sz="1400" dirty="0">
                <a:solidFill>
                  <a:schemeClr val="tx1"/>
                </a:solidFill>
              </a:rPr>
              <a:t> method to call to set up </a:t>
            </a:r>
            <a:r>
              <a:rPr lang="en-US" sz="1400" dirty="0" err="1">
                <a:solidFill>
                  <a:schemeClr val="tx1"/>
                </a:solidFill>
              </a:rPr>
              <a:t>FxnBlock</a:t>
            </a:r>
            <a:r>
              <a:rPr lang="en-US" sz="1400" dirty="0">
                <a:solidFill>
                  <a:schemeClr val="tx1"/>
                </a:solidFill>
              </a:rPr>
              <a:t> in ways not already defined by role </a:t>
            </a:r>
            <a:r>
              <a:rPr lang="en-US" sz="1400" dirty="0" err="1">
                <a:solidFill>
                  <a:schemeClr val="tx1"/>
                </a:solidFill>
              </a:rPr>
              <a:t>initalization</a:t>
            </a:r>
            <a:r>
              <a:rPr lang="en-US" sz="1400" dirty="0">
                <a:solidFill>
                  <a:schemeClr val="tx1"/>
                </a:solidFill>
              </a:rPr>
              <a:t> (e.g., attaching local </a:t>
            </a:r>
            <a:r>
              <a:rPr lang="en-US" sz="1400" dirty="0" err="1">
                <a:solidFill>
                  <a:schemeClr val="tx1"/>
                </a:solidFill>
              </a:rPr>
              <a:t>MultiFlows</a:t>
            </a:r>
            <a:r>
              <a:rPr lang="en-US" sz="1400" dirty="0">
                <a:solidFill>
                  <a:schemeClr val="tx1"/>
                </a:solidFill>
              </a:rPr>
              <a:t> or setting initial values for States from Parameter)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412D98A-A8CB-E5EE-CD28-4B2D28CA3DD0}"/>
              </a:ext>
            </a:extLst>
          </p:cNvPr>
          <p:cNvCxnSpPr>
            <a:cxnSpLocks/>
            <a:stCxn id="14" idx="1"/>
            <a:endCxn id="7" idx="3"/>
          </p:cNvCxnSpPr>
          <p:nvPr/>
        </p:nvCxnSpPr>
        <p:spPr>
          <a:xfrm flipH="1" flipV="1">
            <a:off x="6638030" y="1041764"/>
            <a:ext cx="640367" cy="320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0D3E556-B5AF-E72D-AC7A-7B463B25E468}"/>
              </a:ext>
            </a:extLst>
          </p:cNvPr>
          <p:cNvCxnSpPr>
            <a:cxnSpLocks/>
          </p:cNvCxnSpPr>
          <p:nvPr/>
        </p:nvCxnSpPr>
        <p:spPr>
          <a:xfrm>
            <a:off x="3446694" y="1658664"/>
            <a:ext cx="64400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31E180F-8F33-EF2F-BF23-D21BBB7BD54A}"/>
              </a:ext>
            </a:extLst>
          </p:cNvPr>
          <p:cNvCxnSpPr>
            <a:cxnSpLocks/>
          </p:cNvCxnSpPr>
          <p:nvPr/>
        </p:nvCxnSpPr>
        <p:spPr>
          <a:xfrm>
            <a:off x="3480540" y="2272550"/>
            <a:ext cx="610154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0BCC97-D1D8-DF39-176F-86523512AC28}"/>
              </a:ext>
            </a:extLst>
          </p:cNvPr>
          <p:cNvCxnSpPr>
            <a:cxnSpLocks/>
          </p:cNvCxnSpPr>
          <p:nvPr/>
        </p:nvCxnSpPr>
        <p:spPr>
          <a:xfrm flipH="1">
            <a:off x="6638030" y="2003056"/>
            <a:ext cx="1833241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FFE40E2-32A7-0D24-42D4-DDDE4CCAA3E9}"/>
              </a:ext>
            </a:extLst>
          </p:cNvPr>
          <p:cNvCxnSpPr>
            <a:cxnSpLocks/>
          </p:cNvCxnSpPr>
          <p:nvPr/>
        </p:nvCxnSpPr>
        <p:spPr>
          <a:xfrm flipH="1">
            <a:off x="7676719" y="2677020"/>
            <a:ext cx="5641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954CDA26-7188-7FC2-53F5-F949AB4666D7}"/>
              </a:ext>
            </a:extLst>
          </p:cNvPr>
          <p:cNvSpPr/>
          <p:nvPr/>
        </p:nvSpPr>
        <p:spPr>
          <a:xfrm>
            <a:off x="0" y="2873190"/>
            <a:ext cx="3480540" cy="7253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These methods define the </a:t>
            </a:r>
            <a:r>
              <a:rPr lang="en-US" sz="1400" b="1" dirty="0">
                <a:solidFill>
                  <a:schemeClr val="tx1"/>
                </a:solidFill>
              </a:rPr>
              <a:t>behavior</a:t>
            </a:r>
            <a:r>
              <a:rPr lang="en-US" sz="1400" dirty="0">
                <a:solidFill>
                  <a:schemeClr val="tx1"/>
                </a:solidFill>
              </a:rPr>
              <a:t> of the </a:t>
            </a:r>
            <a:r>
              <a:rPr lang="en-US" sz="1400" dirty="0" err="1">
                <a:solidFill>
                  <a:schemeClr val="tx1"/>
                </a:solidFill>
              </a:rPr>
              <a:t>FxnBlock</a:t>
            </a:r>
            <a:r>
              <a:rPr lang="en-US" sz="1400" dirty="0">
                <a:solidFill>
                  <a:schemeClr val="tx1"/>
                </a:solidFill>
              </a:rPr>
              <a:t> and thus simulate at each time-step of the simulation.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CB4D921-7315-0CD4-C005-045DA48F73E2}"/>
              </a:ext>
            </a:extLst>
          </p:cNvPr>
          <p:cNvCxnSpPr>
            <a:cxnSpLocks/>
          </p:cNvCxnSpPr>
          <p:nvPr/>
        </p:nvCxnSpPr>
        <p:spPr>
          <a:xfrm>
            <a:off x="3480540" y="3475090"/>
            <a:ext cx="35114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0C53CCF7-9DEF-5A5C-C935-E0DC29EA5CAC}"/>
              </a:ext>
            </a:extLst>
          </p:cNvPr>
          <p:cNvSpPr/>
          <p:nvPr/>
        </p:nvSpPr>
        <p:spPr>
          <a:xfrm>
            <a:off x="1" y="3637400"/>
            <a:ext cx="3480540" cy="7174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These methods define </a:t>
            </a:r>
            <a:r>
              <a:rPr lang="en-US" sz="1400" dirty="0" err="1">
                <a:solidFill>
                  <a:schemeClr val="tx1"/>
                </a:solidFill>
              </a:rPr>
              <a:t>FxnBlock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b="1" dirty="0">
                <a:solidFill>
                  <a:schemeClr val="tx1"/>
                </a:solidFill>
              </a:rPr>
              <a:t>indicators</a:t>
            </a:r>
            <a:r>
              <a:rPr lang="en-US" sz="1400" dirty="0">
                <a:solidFill>
                  <a:schemeClr val="tx1"/>
                </a:solidFill>
              </a:rPr>
              <a:t> and are called/tracked during simulation (in </a:t>
            </a:r>
            <a:r>
              <a:rPr lang="en-US" sz="1400" dirty="0" err="1">
                <a:solidFill>
                  <a:schemeClr val="tx1"/>
                </a:solidFill>
              </a:rPr>
              <a:t>fxnname.i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CDCE0CD-812F-C5E1-0CB4-58D9C56432A5}"/>
              </a:ext>
            </a:extLst>
          </p:cNvPr>
          <p:cNvSpPr/>
          <p:nvPr/>
        </p:nvSpPr>
        <p:spPr>
          <a:xfrm>
            <a:off x="8480026" y="1572546"/>
            <a:ext cx="3400689" cy="7406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Default </a:t>
            </a:r>
            <a:r>
              <a:rPr lang="en-US" sz="1400" b="1" dirty="0">
                <a:solidFill>
                  <a:schemeClr val="tx1"/>
                </a:solidFill>
              </a:rPr>
              <a:t>keyword arguments for </a:t>
            </a:r>
            <a:r>
              <a:rPr lang="en-US" sz="1400" b="1" dirty="0" err="1">
                <a:solidFill>
                  <a:schemeClr val="tx1"/>
                </a:solidFill>
              </a:rPr>
              <a:t>SimParam</a:t>
            </a:r>
            <a:r>
              <a:rPr lang="en-US" sz="1400" dirty="0">
                <a:solidFill>
                  <a:schemeClr val="tx1"/>
                </a:solidFill>
              </a:rPr>
              <a:t>. Only necessary when the </a:t>
            </a:r>
            <a:r>
              <a:rPr lang="en-US" sz="1400" dirty="0" err="1">
                <a:solidFill>
                  <a:schemeClr val="tx1"/>
                </a:solidFill>
              </a:rPr>
              <a:t>functionblock</a:t>
            </a:r>
            <a:r>
              <a:rPr lang="en-US" sz="1400" dirty="0">
                <a:solidFill>
                  <a:schemeClr val="tx1"/>
                </a:solidFill>
              </a:rPr>
              <a:t> will be simulated individually.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F39350D-8555-F1AE-2F34-766C9EE33104}"/>
              </a:ext>
            </a:extLst>
          </p:cNvPr>
          <p:cNvCxnSpPr>
            <a:cxnSpLocks/>
          </p:cNvCxnSpPr>
          <p:nvPr/>
        </p:nvCxnSpPr>
        <p:spPr>
          <a:xfrm>
            <a:off x="3480540" y="4070949"/>
            <a:ext cx="384809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D45EAE9F-3FFE-CF4A-26AA-8D2A61746450}"/>
              </a:ext>
            </a:extLst>
          </p:cNvPr>
          <p:cNvSpPr/>
          <p:nvPr/>
        </p:nvSpPr>
        <p:spPr>
          <a:xfrm>
            <a:off x="1" y="4346769"/>
            <a:ext cx="3474004" cy="665117"/>
          </a:xfrm>
          <a:prstGeom prst="rect">
            <a:avLst/>
          </a:prstGeom>
          <a:solidFill>
            <a:srgbClr val="F1D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This method defines the Result to be returned </a:t>
            </a:r>
            <a:r>
              <a:rPr lang="en-US" sz="1400" b="1" dirty="0">
                <a:solidFill>
                  <a:schemeClr val="tx1"/>
                </a:solidFill>
              </a:rPr>
              <a:t>when simulated individually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3F352AD-414C-473F-B963-608E7ABC775D}"/>
              </a:ext>
            </a:extLst>
          </p:cNvPr>
          <p:cNvCxnSpPr>
            <a:cxnSpLocks/>
          </p:cNvCxnSpPr>
          <p:nvPr/>
        </p:nvCxnSpPr>
        <p:spPr>
          <a:xfrm>
            <a:off x="3480540" y="4717178"/>
            <a:ext cx="384809" cy="0"/>
          </a:xfrm>
          <a:prstGeom prst="straightConnector1">
            <a:avLst/>
          </a:prstGeom>
          <a:ln w="38100">
            <a:solidFill>
              <a:srgbClr val="E890E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3774B39-3B4C-D81E-872A-828DD7656DFD}"/>
              </a:ext>
            </a:extLst>
          </p:cNvPr>
          <p:cNvSpPr/>
          <p:nvPr/>
        </p:nvSpPr>
        <p:spPr>
          <a:xfrm>
            <a:off x="3819093" y="3854765"/>
            <a:ext cx="6430023" cy="7689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2127004-8A7D-A358-ADEB-B3629DBFE527}"/>
              </a:ext>
            </a:extLst>
          </p:cNvPr>
          <p:cNvSpPr/>
          <p:nvPr/>
        </p:nvSpPr>
        <p:spPr>
          <a:xfrm>
            <a:off x="3814747" y="4570834"/>
            <a:ext cx="6392648" cy="507638"/>
          </a:xfrm>
          <a:prstGeom prst="rect">
            <a:avLst/>
          </a:prstGeom>
          <a:solidFill>
            <a:srgbClr val="F1D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85A8FA-8E6E-79A7-59E0-7676B5C606A4}"/>
              </a:ext>
            </a:extLst>
          </p:cNvPr>
          <p:cNvSpPr/>
          <p:nvPr/>
        </p:nvSpPr>
        <p:spPr>
          <a:xfrm>
            <a:off x="3791574" y="400345"/>
            <a:ext cx="6436682" cy="494568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/>
              <a:t>class </a:t>
            </a:r>
            <a:r>
              <a:rPr lang="en-US" sz="1600" dirty="0" err="1"/>
              <a:t>FunctionName</a:t>
            </a:r>
            <a:r>
              <a:rPr lang="en-US" sz="1600" dirty="0"/>
              <a:t>(Function):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container_s</a:t>
            </a:r>
            <a:r>
              <a:rPr lang="en-US" sz="1600" dirty="0"/>
              <a:t> = </a:t>
            </a:r>
            <a:r>
              <a:rPr lang="en-US" sz="1600" dirty="0" err="1"/>
              <a:t>FunctionState</a:t>
            </a:r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 err="1"/>
              <a:t>container_m</a:t>
            </a:r>
            <a:r>
              <a:rPr lang="en-US" sz="1600" dirty="0"/>
              <a:t> = </a:t>
            </a:r>
            <a:r>
              <a:rPr lang="en-US" sz="1600" dirty="0" err="1"/>
              <a:t>FunctionMode</a:t>
            </a:r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 err="1"/>
              <a:t>container_t</a:t>
            </a:r>
            <a:r>
              <a:rPr lang="en-US" sz="1600" dirty="0"/>
              <a:t> = </a:t>
            </a:r>
            <a:r>
              <a:rPr lang="en-US" sz="1600" dirty="0" err="1"/>
              <a:t>FunctionTime</a:t>
            </a:r>
            <a:endParaRPr lang="en-US" sz="1600" dirty="0"/>
          </a:p>
          <a:p>
            <a:r>
              <a:rPr lang="en-US" sz="1600" dirty="0"/>
              <a:t>    flow_flowname1 = FlowClass1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flownames</a:t>
            </a:r>
            <a:r>
              <a:rPr lang="en-US" sz="1600" dirty="0"/>
              <a:t> = {“outsideflowname”:”flowname1”}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default_sp</a:t>
            </a:r>
            <a:r>
              <a:rPr lang="en-US" sz="1600" dirty="0"/>
              <a:t> = {‘</a:t>
            </a:r>
            <a:r>
              <a:rPr lang="en-US" sz="1600" dirty="0" err="1"/>
              <a:t>end_time</a:t>
            </a:r>
            <a:r>
              <a:rPr lang="en-US" sz="1600" dirty="0"/>
              <a:t>’: </a:t>
            </a:r>
            <a:r>
              <a:rPr lang="en-US" sz="1600" dirty="0">
                <a:sym typeface="Wingdings" panose="05000000000000000000" pitchFamily="2" charset="2"/>
              </a:rPr>
              <a:t>100</a:t>
            </a:r>
            <a:r>
              <a:rPr lang="en-US" sz="1600" dirty="0"/>
              <a:t>}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default_track</a:t>
            </a:r>
            <a:r>
              <a:rPr lang="en-US" sz="1600" dirty="0"/>
              <a:t> = [‘</a:t>
            </a:r>
            <a:r>
              <a:rPr lang="en-US" sz="1600" dirty="0" err="1"/>
              <a:t>s’,’m</a:t>
            </a:r>
            <a:r>
              <a:rPr lang="en-US" sz="1600" dirty="0"/>
              <a:t>’]</a:t>
            </a:r>
          </a:p>
          <a:p>
            <a:r>
              <a:rPr lang="en-US" sz="1600" dirty="0"/>
              <a:t>    def </a:t>
            </a:r>
            <a:r>
              <a:rPr lang="en-US" sz="1600" dirty="0" err="1"/>
              <a:t>init_block</a:t>
            </a:r>
            <a:r>
              <a:rPr lang="en-US" sz="1600" dirty="0"/>
              <a:t>(self, **</a:t>
            </a:r>
            <a:r>
              <a:rPr lang="en-US" sz="1600" dirty="0" err="1"/>
              <a:t>kwargs</a:t>
            </a:r>
            <a:r>
              <a:rPr lang="en-US" sz="1600" dirty="0"/>
              <a:t>):</a:t>
            </a:r>
          </a:p>
          <a:p>
            <a:r>
              <a:rPr lang="en-US" sz="1600" dirty="0"/>
              <a:t>        &lt;e.g., </a:t>
            </a:r>
            <a:r>
              <a:rPr lang="en-US" sz="1600" dirty="0" err="1"/>
              <a:t>self.s.x</a:t>
            </a:r>
            <a:r>
              <a:rPr lang="en-US" sz="1600" dirty="0"/>
              <a:t> = 2.0&gt;</a:t>
            </a:r>
          </a:p>
          <a:p>
            <a:r>
              <a:rPr lang="en-US" sz="1600" dirty="0"/>
              <a:t>   def </a:t>
            </a:r>
            <a:r>
              <a:rPr lang="en-US" sz="1600" dirty="0" err="1"/>
              <a:t>static_behavior</a:t>
            </a:r>
            <a:r>
              <a:rPr lang="en-US" sz="1600" dirty="0"/>
              <a:t>(self):</a:t>
            </a:r>
          </a:p>
          <a:p>
            <a:r>
              <a:rPr lang="en-US" sz="1600" dirty="0"/>
              <a:t>        </a:t>
            </a:r>
            <a:r>
              <a:rPr lang="en-US" sz="1600" dirty="0">
                <a:highlight>
                  <a:srgbClr val="00FFFF"/>
                </a:highlight>
              </a:rPr>
              <a:t>Runs only in static propagation steps</a:t>
            </a:r>
          </a:p>
          <a:p>
            <a:r>
              <a:rPr lang="en-US" sz="1600" dirty="0"/>
              <a:t>    def </a:t>
            </a:r>
            <a:r>
              <a:rPr lang="en-US" sz="1600" dirty="0" err="1"/>
              <a:t>dynamic_behavior</a:t>
            </a:r>
            <a:r>
              <a:rPr lang="en-US" sz="1600" dirty="0"/>
              <a:t>(self):</a:t>
            </a:r>
          </a:p>
          <a:p>
            <a:r>
              <a:rPr lang="en-US" sz="1600" dirty="0"/>
              <a:t>        </a:t>
            </a:r>
            <a:r>
              <a:rPr lang="en-US" sz="1600" dirty="0">
                <a:highlight>
                  <a:srgbClr val="00FFFF"/>
                </a:highlight>
              </a:rPr>
              <a:t>Runs only in dynamic propagation steps</a:t>
            </a:r>
          </a:p>
          <a:p>
            <a:r>
              <a:rPr lang="en-US" sz="1600" dirty="0"/>
              <a:t>def </a:t>
            </a:r>
            <a:r>
              <a:rPr lang="en-US" sz="1600" dirty="0" err="1"/>
              <a:t>indicate_XXX</a:t>
            </a:r>
            <a:r>
              <a:rPr lang="en-US" sz="1600" dirty="0"/>
              <a:t>(self):</a:t>
            </a:r>
          </a:p>
          <a:p>
            <a:r>
              <a:rPr lang="en-US" sz="1600" dirty="0"/>
              <a:t>        </a:t>
            </a:r>
            <a:r>
              <a:rPr lang="en-US" sz="1600" dirty="0">
                <a:highlight>
                  <a:srgbClr val="00FF00"/>
                </a:highlight>
              </a:rPr>
              <a:t>Conditional statement (e.g., </a:t>
            </a:r>
            <a:r>
              <a:rPr lang="en-US" sz="1600" dirty="0" err="1">
                <a:highlight>
                  <a:srgbClr val="00FF00"/>
                </a:highlight>
              </a:rPr>
              <a:t>self.s.state</a:t>
            </a:r>
            <a:r>
              <a:rPr lang="en-US" sz="1600" dirty="0">
                <a:highlight>
                  <a:srgbClr val="00FF00"/>
                </a:highlight>
              </a:rPr>
              <a:t>&gt;threshold) which is logged in the history and may be used to terminate simulations</a:t>
            </a:r>
          </a:p>
          <a:p>
            <a:r>
              <a:rPr lang="en-US" sz="1600" dirty="0"/>
              <a:t>    def classify(self, </a:t>
            </a:r>
            <a:r>
              <a:rPr lang="en-US" sz="1600" dirty="0" err="1"/>
              <a:t>scen</a:t>
            </a:r>
            <a:r>
              <a:rPr lang="en-US" sz="1600" dirty="0"/>
              <a:t>={}, hists={}, **</a:t>
            </a:r>
            <a:r>
              <a:rPr lang="en-US" sz="1600" dirty="0" err="1"/>
              <a:t>kwargs</a:t>
            </a:r>
            <a:r>
              <a:rPr lang="en-US" sz="1600" dirty="0"/>
              <a:t>):</a:t>
            </a:r>
          </a:p>
          <a:p>
            <a:r>
              <a:rPr lang="en-US" sz="1600" dirty="0">
                <a:highlight>
                  <a:srgbClr val="E997E9"/>
                </a:highlight>
              </a:rPr>
              <a:t>        Returns a Result dictionary (calculated at completion)</a:t>
            </a:r>
          </a:p>
        </p:txBody>
      </p:sp>
    </p:spTree>
    <p:extLst>
      <p:ext uri="{BB962C8B-B14F-4D97-AF65-F5344CB8AC3E}">
        <p14:creationId xmlns:p14="http://schemas.microsoft.com/office/powerpoint/2010/main" val="3020370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3774B39-3B4C-D81E-872A-828DD7656DFD}"/>
              </a:ext>
            </a:extLst>
          </p:cNvPr>
          <p:cNvSpPr/>
          <p:nvPr/>
        </p:nvSpPr>
        <p:spPr>
          <a:xfrm>
            <a:off x="3926869" y="3429476"/>
            <a:ext cx="6738360" cy="1178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2127004-8A7D-A358-ADEB-B3629DBFE527}"/>
              </a:ext>
            </a:extLst>
          </p:cNvPr>
          <p:cNvSpPr/>
          <p:nvPr/>
        </p:nvSpPr>
        <p:spPr>
          <a:xfrm>
            <a:off x="3902321" y="4649052"/>
            <a:ext cx="6697853" cy="843940"/>
          </a:xfrm>
          <a:prstGeom prst="rect">
            <a:avLst/>
          </a:prstGeom>
          <a:solidFill>
            <a:srgbClr val="F1D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C539D4-1CBA-B5E5-2E88-785897940B49}"/>
              </a:ext>
            </a:extLst>
          </p:cNvPr>
          <p:cNvSpPr/>
          <p:nvPr/>
        </p:nvSpPr>
        <p:spPr>
          <a:xfrm>
            <a:off x="3926869" y="2024203"/>
            <a:ext cx="6738360" cy="147829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BCDC26-00E5-A3E1-F5B6-30FDC541BC9D}"/>
              </a:ext>
            </a:extLst>
          </p:cNvPr>
          <p:cNvSpPr/>
          <p:nvPr/>
        </p:nvSpPr>
        <p:spPr>
          <a:xfrm>
            <a:off x="4158792" y="1765140"/>
            <a:ext cx="2628088" cy="2088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026455-CAB0-7107-5E06-73B62BD22F6E}"/>
              </a:ext>
            </a:extLst>
          </p:cNvPr>
          <p:cNvSpPr/>
          <p:nvPr/>
        </p:nvSpPr>
        <p:spPr>
          <a:xfrm>
            <a:off x="4158792" y="1480201"/>
            <a:ext cx="3233595" cy="2692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0F2CA3-19A2-C7F6-C82D-20112C0EFFC8}"/>
              </a:ext>
            </a:extLst>
          </p:cNvPr>
          <p:cNvSpPr/>
          <p:nvPr/>
        </p:nvSpPr>
        <p:spPr>
          <a:xfrm>
            <a:off x="4158792" y="1256969"/>
            <a:ext cx="2177618" cy="1906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85A8FA-8E6E-79A7-59E0-7676B5C606A4}"/>
              </a:ext>
            </a:extLst>
          </p:cNvPr>
          <p:cNvSpPr/>
          <p:nvPr/>
        </p:nvSpPr>
        <p:spPr>
          <a:xfrm>
            <a:off x="3879737" y="919225"/>
            <a:ext cx="6738360" cy="483374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/>
              <a:t>class </a:t>
            </a:r>
            <a:r>
              <a:rPr lang="en-US" sz="1600" dirty="0" err="1"/>
              <a:t>ArchitectureName</a:t>
            </a:r>
            <a:r>
              <a:rPr lang="en-US" sz="1600" dirty="0"/>
              <a:t>(</a:t>
            </a:r>
            <a:r>
              <a:rPr lang="en-US" sz="1600" dirty="0" err="1"/>
              <a:t>FunctionArchitecture</a:t>
            </a:r>
            <a:r>
              <a:rPr lang="en-US" sz="1600" dirty="0"/>
              <a:t>):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container_p</a:t>
            </a:r>
            <a:r>
              <a:rPr lang="en-US" sz="1600" dirty="0"/>
              <a:t>= </a:t>
            </a:r>
            <a:r>
              <a:rPr lang="en-US" sz="1600" dirty="0" err="1"/>
              <a:t>ModelParam</a:t>
            </a:r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 err="1"/>
              <a:t>default_sp</a:t>
            </a:r>
            <a:r>
              <a:rPr lang="en-US" sz="1600" dirty="0"/>
              <a:t> = {‘</a:t>
            </a:r>
            <a:r>
              <a:rPr lang="en-US" sz="1600" dirty="0" err="1"/>
              <a:t>end_time</a:t>
            </a:r>
            <a:r>
              <a:rPr lang="en-US" sz="1600" dirty="0"/>
              <a:t>’:</a:t>
            </a:r>
            <a:r>
              <a:rPr lang="en-US" sz="1600" dirty="0">
                <a:sym typeface="Wingdings" panose="05000000000000000000" pitchFamily="2" charset="2"/>
              </a:rPr>
              <a:t> 100</a:t>
            </a:r>
            <a:r>
              <a:rPr lang="en-US" sz="1600" dirty="0"/>
              <a:t>}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default_track</a:t>
            </a:r>
            <a:r>
              <a:rPr lang="en-US" sz="1600" dirty="0"/>
              <a:t> = [“</a:t>
            </a:r>
            <a:r>
              <a:rPr lang="en-US" sz="1600" dirty="0" err="1"/>
              <a:t>fxns</a:t>
            </a:r>
            <a:r>
              <a:rPr lang="en-US" sz="1600" dirty="0"/>
              <a:t>”, “flows]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  def </a:t>
            </a:r>
            <a:r>
              <a:rPr lang="en-US" sz="1600" dirty="0" err="1"/>
              <a:t>init_architecture</a:t>
            </a:r>
            <a:r>
              <a:rPr lang="en-US" sz="1600" dirty="0"/>
              <a:t>(self, **</a:t>
            </a:r>
            <a:r>
              <a:rPr lang="en-US" sz="1600" dirty="0" err="1"/>
              <a:t>kwargs</a:t>
            </a:r>
            <a:r>
              <a:rPr lang="en-US" sz="1600" dirty="0"/>
              <a:t>):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self.add_flow</a:t>
            </a:r>
            <a:r>
              <a:rPr lang="en-US" sz="1600" dirty="0"/>
              <a:t>(“</a:t>
            </a:r>
            <a:r>
              <a:rPr lang="en-US" sz="1600" dirty="0" err="1"/>
              <a:t>flowname</a:t>
            </a:r>
            <a:r>
              <a:rPr lang="en-US" sz="1600" dirty="0"/>
              <a:t>”, </a:t>
            </a:r>
            <a:r>
              <a:rPr lang="en-US" sz="1600" dirty="0" err="1"/>
              <a:t>FlowClass</a:t>
            </a:r>
            <a:r>
              <a:rPr lang="en-US" sz="1600" dirty="0"/>
              <a:t>)</a:t>
            </a:r>
          </a:p>
          <a:p>
            <a:r>
              <a:rPr lang="en-US" sz="1600" dirty="0"/>
              <a:t>        …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self.add_fxn</a:t>
            </a:r>
            <a:r>
              <a:rPr lang="en-US" sz="1600" dirty="0"/>
              <a:t>(“</a:t>
            </a:r>
            <a:r>
              <a:rPr lang="en-US" sz="1600" dirty="0" err="1"/>
              <a:t>functionname</a:t>
            </a:r>
            <a:r>
              <a:rPr lang="en-US" sz="1600" dirty="0"/>
              <a:t>”, </a:t>
            </a:r>
            <a:r>
              <a:rPr lang="en-US" sz="1600" dirty="0" err="1"/>
              <a:t>FunctionClass</a:t>
            </a:r>
            <a:r>
              <a:rPr lang="en-US" sz="1600" dirty="0"/>
              <a:t>, “flowname1”, “flowname2”)</a:t>
            </a:r>
          </a:p>
          <a:p>
            <a:r>
              <a:rPr lang="en-US" sz="1600" dirty="0"/>
              <a:t>        …</a:t>
            </a:r>
          </a:p>
          <a:p>
            <a:endParaRPr lang="en-US" sz="1600" dirty="0"/>
          </a:p>
          <a:p>
            <a:r>
              <a:rPr lang="en-US" sz="1600" dirty="0"/>
              <a:t>def </a:t>
            </a:r>
            <a:r>
              <a:rPr lang="en-US" sz="1600" dirty="0" err="1"/>
              <a:t>indicate_XXX</a:t>
            </a:r>
            <a:r>
              <a:rPr lang="en-US" sz="1600" dirty="0"/>
              <a:t>(self):</a:t>
            </a:r>
          </a:p>
          <a:p>
            <a:r>
              <a:rPr lang="en-US" sz="1600" dirty="0"/>
              <a:t>        </a:t>
            </a:r>
            <a:r>
              <a:rPr lang="en-US" sz="1600" dirty="0">
                <a:highlight>
                  <a:srgbClr val="00FF00"/>
                </a:highlight>
              </a:rPr>
              <a:t>Conditional statement </a:t>
            </a:r>
          </a:p>
          <a:p>
            <a:r>
              <a:rPr lang="en-US" sz="1600" dirty="0"/>
              <a:t>        </a:t>
            </a:r>
            <a:r>
              <a:rPr lang="en-US" sz="1600" dirty="0">
                <a:highlight>
                  <a:srgbClr val="00FF00"/>
                </a:highlight>
              </a:rPr>
              <a:t>(e.g., </a:t>
            </a:r>
            <a:r>
              <a:rPr lang="en-US" sz="1600" dirty="0" err="1">
                <a:highlight>
                  <a:srgbClr val="00FF00"/>
                </a:highlight>
              </a:rPr>
              <a:t>self.fxns</a:t>
            </a:r>
            <a:r>
              <a:rPr lang="en-US" sz="1600" dirty="0">
                <a:highlight>
                  <a:srgbClr val="00FF00"/>
                </a:highlight>
              </a:rPr>
              <a:t>[“</a:t>
            </a:r>
            <a:r>
              <a:rPr lang="en-US" sz="1600" dirty="0" err="1">
                <a:highlight>
                  <a:srgbClr val="00FF00"/>
                </a:highlight>
              </a:rPr>
              <a:t>functionname</a:t>
            </a:r>
            <a:r>
              <a:rPr lang="en-US" sz="1600" dirty="0">
                <a:highlight>
                  <a:srgbClr val="00FF00"/>
                </a:highlight>
              </a:rPr>
              <a:t>”].</a:t>
            </a:r>
            <a:r>
              <a:rPr lang="en-US" sz="1600" dirty="0" err="1">
                <a:highlight>
                  <a:srgbClr val="00FF00"/>
                </a:highlight>
              </a:rPr>
              <a:t>s.state</a:t>
            </a:r>
            <a:r>
              <a:rPr lang="en-US" sz="1600" dirty="0">
                <a:highlight>
                  <a:srgbClr val="00FF00"/>
                </a:highlight>
              </a:rPr>
              <a:t>&gt;threshold)</a:t>
            </a:r>
          </a:p>
          <a:p>
            <a:r>
              <a:rPr lang="en-US" sz="1600" dirty="0">
                <a:highlight>
                  <a:srgbClr val="00FF00"/>
                </a:highlight>
              </a:rPr>
              <a:t> which is logged in the history and may be used to terminate simulations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def classify(self, </a:t>
            </a:r>
            <a:r>
              <a:rPr lang="en-US" sz="1600" dirty="0" err="1"/>
              <a:t>scen</a:t>
            </a:r>
            <a:r>
              <a:rPr lang="en-US" sz="1600" dirty="0"/>
              <a:t>={}, hists={}, **</a:t>
            </a:r>
            <a:r>
              <a:rPr lang="en-US" sz="1600" dirty="0" err="1"/>
              <a:t>kwargs</a:t>
            </a:r>
            <a:r>
              <a:rPr lang="en-US" sz="1600" dirty="0"/>
              <a:t>):</a:t>
            </a:r>
          </a:p>
          <a:p>
            <a:r>
              <a:rPr lang="en-US" sz="1600" dirty="0">
                <a:highlight>
                  <a:srgbClr val="E997E9"/>
                </a:highlight>
              </a:rPr>
              <a:t>        Returns a Result dictionary (calculated at completion)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99E59A-7941-6350-EE6B-CB334F86800C}"/>
              </a:ext>
            </a:extLst>
          </p:cNvPr>
          <p:cNvSpPr/>
          <p:nvPr/>
        </p:nvSpPr>
        <p:spPr>
          <a:xfrm>
            <a:off x="7917287" y="1646681"/>
            <a:ext cx="4076593" cy="9406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Specifies </a:t>
            </a:r>
            <a:r>
              <a:rPr lang="en-US" sz="1400" b="1" dirty="0">
                <a:solidFill>
                  <a:schemeClr val="tx1"/>
                </a:solidFill>
              </a:rPr>
              <a:t>what should be tracked</a:t>
            </a:r>
            <a:r>
              <a:rPr lang="en-US" sz="1400" dirty="0">
                <a:solidFill>
                  <a:schemeClr val="tx1"/>
                </a:solidFill>
              </a:rPr>
              <a:t> in the Model history by default. May be a </a:t>
            </a:r>
            <a:r>
              <a:rPr lang="en-US" sz="1400" dirty="0" err="1">
                <a:solidFill>
                  <a:schemeClr val="tx1"/>
                </a:solidFill>
              </a:rPr>
              <a:t>dict</a:t>
            </a:r>
            <a:r>
              <a:rPr lang="en-US" sz="1400" dirty="0">
                <a:solidFill>
                  <a:schemeClr val="tx1"/>
                </a:solidFill>
              </a:rPr>
              <a:t> ({</a:t>
            </a:r>
            <a:r>
              <a:rPr lang="en-US" sz="1400" dirty="0" err="1">
                <a:solidFill>
                  <a:schemeClr val="tx1"/>
                </a:solidFill>
              </a:rPr>
              <a:t>role:value</a:t>
            </a:r>
            <a:r>
              <a:rPr lang="en-US" sz="1400" dirty="0">
                <a:solidFill>
                  <a:schemeClr val="tx1"/>
                </a:solidFill>
              </a:rPr>
              <a:t>}), list ([role1, role2]), or string (“</a:t>
            </a:r>
            <a:r>
              <a:rPr lang="en-US" sz="1400" dirty="0" err="1">
                <a:solidFill>
                  <a:schemeClr val="tx1"/>
                </a:solidFill>
              </a:rPr>
              <a:t>all”,”none</a:t>
            </a:r>
            <a:r>
              <a:rPr lang="en-US" sz="1400" dirty="0">
                <a:solidFill>
                  <a:schemeClr val="tx1"/>
                </a:solidFill>
              </a:rPr>
              <a:t>”, 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r>
              <a:rPr lang="en-US" sz="1400" dirty="0">
                <a:solidFill>
                  <a:schemeClr val="tx1"/>
                </a:solidFill>
              </a:rPr>
              <a:t>). Overwritten by the track option in propagate.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391646-A2EB-6DB7-673E-EBCE48A81170}"/>
              </a:ext>
            </a:extLst>
          </p:cNvPr>
          <p:cNvSpPr/>
          <p:nvPr/>
        </p:nvSpPr>
        <p:spPr>
          <a:xfrm>
            <a:off x="7391562" y="1200510"/>
            <a:ext cx="4602318" cy="4885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Points to a Parameter representing immutable model characteristics instantiated at the start of the simulation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890D35-88DD-C827-1F33-F89FED5D13D0}"/>
              </a:ext>
            </a:extLst>
          </p:cNvPr>
          <p:cNvSpPr/>
          <p:nvPr/>
        </p:nvSpPr>
        <p:spPr>
          <a:xfrm>
            <a:off x="206463" y="2237173"/>
            <a:ext cx="3505864" cy="12653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Method to </a:t>
            </a:r>
            <a:r>
              <a:rPr lang="en-US" sz="1400" b="1" dirty="0">
                <a:solidFill>
                  <a:schemeClr val="tx1"/>
                </a:solidFill>
              </a:rPr>
              <a:t>instantiate the model and define its structure:</a:t>
            </a:r>
            <a:r>
              <a:rPr lang="en-US" sz="1400" dirty="0">
                <a:solidFill>
                  <a:schemeClr val="tx1"/>
                </a:solidFill>
              </a:rPr>
              <a:t>,</a:t>
            </a:r>
          </a:p>
          <a:p>
            <a:pPr marL="285750" indent="-285750">
              <a:buFontTx/>
              <a:buChar char="-"/>
            </a:pPr>
            <a:r>
              <a:rPr lang="en-US" sz="1400" b="1" dirty="0">
                <a:solidFill>
                  <a:schemeClr val="tx1"/>
                </a:solidFill>
              </a:rPr>
              <a:t>.</a:t>
            </a:r>
            <a:r>
              <a:rPr lang="en-US" sz="1400" b="1" dirty="0" err="1">
                <a:solidFill>
                  <a:schemeClr val="tx1"/>
                </a:solidFill>
              </a:rPr>
              <a:t>add_flow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is used to instantiate a flow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r>
              <a:rPr lang="en-US" sz="1400" b="1" dirty="0" err="1">
                <a:solidFill>
                  <a:schemeClr val="tx1"/>
                </a:solidFill>
              </a:rPr>
              <a:t>add_fxn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is used to instantiate a function and attach connected flows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412D98A-A8CB-E5EE-CD28-4B2D28CA3DD0}"/>
              </a:ext>
            </a:extLst>
          </p:cNvPr>
          <p:cNvCxnSpPr>
            <a:cxnSpLocks/>
          </p:cNvCxnSpPr>
          <p:nvPr/>
        </p:nvCxnSpPr>
        <p:spPr>
          <a:xfrm flipH="1">
            <a:off x="6550429" y="1391515"/>
            <a:ext cx="84113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31E180F-8F33-EF2F-BF23-D21BBB7BD54A}"/>
              </a:ext>
            </a:extLst>
          </p:cNvPr>
          <p:cNvCxnSpPr>
            <a:cxnSpLocks/>
          </p:cNvCxnSpPr>
          <p:nvPr/>
        </p:nvCxnSpPr>
        <p:spPr>
          <a:xfrm>
            <a:off x="6868160" y="1865950"/>
            <a:ext cx="1049127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0BCC97-D1D8-DF39-176F-86523512AC28}"/>
              </a:ext>
            </a:extLst>
          </p:cNvPr>
          <p:cNvCxnSpPr>
            <a:cxnSpLocks/>
          </p:cNvCxnSpPr>
          <p:nvPr/>
        </p:nvCxnSpPr>
        <p:spPr>
          <a:xfrm>
            <a:off x="3561634" y="1578909"/>
            <a:ext cx="558044" cy="1165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FFE40E2-32A7-0D24-42D4-DDDE4CCAA3E9}"/>
              </a:ext>
            </a:extLst>
          </p:cNvPr>
          <p:cNvCxnSpPr>
            <a:cxnSpLocks/>
          </p:cNvCxnSpPr>
          <p:nvPr/>
        </p:nvCxnSpPr>
        <p:spPr>
          <a:xfrm>
            <a:off x="3655541" y="2976800"/>
            <a:ext cx="302149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0C53CCF7-9DEF-5A5C-C935-E0DC29EA5CAC}"/>
              </a:ext>
            </a:extLst>
          </p:cNvPr>
          <p:cNvSpPr/>
          <p:nvPr/>
        </p:nvSpPr>
        <p:spPr>
          <a:xfrm>
            <a:off x="206463" y="3560309"/>
            <a:ext cx="3214503" cy="7406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These methods define Model </a:t>
            </a:r>
            <a:r>
              <a:rPr lang="en-US" sz="1400" b="1" dirty="0">
                <a:solidFill>
                  <a:schemeClr val="tx1"/>
                </a:solidFill>
              </a:rPr>
              <a:t>indicators</a:t>
            </a:r>
            <a:r>
              <a:rPr lang="en-US" sz="1400" dirty="0">
                <a:solidFill>
                  <a:schemeClr val="tx1"/>
                </a:solidFill>
              </a:rPr>
              <a:t> and are called/tracked during simulation (in </a:t>
            </a:r>
            <a:r>
              <a:rPr lang="en-US" sz="1400" dirty="0" err="1">
                <a:solidFill>
                  <a:schemeClr val="tx1"/>
                </a:solidFill>
              </a:rPr>
              <a:t>modelname.i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CDCE0CD-812F-C5E1-0CB4-58D9C56432A5}"/>
              </a:ext>
            </a:extLst>
          </p:cNvPr>
          <p:cNvSpPr/>
          <p:nvPr/>
        </p:nvSpPr>
        <p:spPr>
          <a:xfrm>
            <a:off x="206463" y="1049485"/>
            <a:ext cx="3355171" cy="7406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Default </a:t>
            </a:r>
            <a:r>
              <a:rPr lang="en-US" sz="1400" b="1" dirty="0">
                <a:solidFill>
                  <a:schemeClr val="tx1"/>
                </a:solidFill>
              </a:rPr>
              <a:t>keyword arguments for </a:t>
            </a:r>
            <a:r>
              <a:rPr lang="en-US" sz="1400" b="1" dirty="0" err="1">
                <a:solidFill>
                  <a:schemeClr val="tx1"/>
                </a:solidFill>
              </a:rPr>
              <a:t>SimParam</a:t>
            </a:r>
            <a:r>
              <a:rPr lang="en-US" sz="1400" dirty="0">
                <a:solidFill>
                  <a:schemeClr val="tx1"/>
                </a:solidFill>
              </a:rPr>
              <a:t>. Defines max time of the simulation, along with phases, timestep, units, etc.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F39350D-8555-F1AE-2F34-766C9EE33104}"/>
              </a:ext>
            </a:extLst>
          </p:cNvPr>
          <p:cNvCxnSpPr>
            <a:cxnSpLocks/>
          </p:cNvCxnSpPr>
          <p:nvPr/>
        </p:nvCxnSpPr>
        <p:spPr>
          <a:xfrm>
            <a:off x="3418989" y="3995763"/>
            <a:ext cx="538701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D45EAE9F-3FFE-CF4A-26AA-8D2A61746450}"/>
              </a:ext>
            </a:extLst>
          </p:cNvPr>
          <p:cNvSpPr/>
          <p:nvPr/>
        </p:nvSpPr>
        <p:spPr>
          <a:xfrm>
            <a:off x="204486" y="4698879"/>
            <a:ext cx="3214503" cy="665117"/>
          </a:xfrm>
          <a:prstGeom prst="rect">
            <a:avLst/>
          </a:prstGeom>
          <a:solidFill>
            <a:srgbClr val="F1D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This method defines the Result to be returned 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by the model.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3F352AD-414C-473F-B963-608E7ABC775D}"/>
              </a:ext>
            </a:extLst>
          </p:cNvPr>
          <p:cNvCxnSpPr>
            <a:cxnSpLocks/>
          </p:cNvCxnSpPr>
          <p:nvPr/>
        </p:nvCxnSpPr>
        <p:spPr>
          <a:xfrm>
            <a:off x="3439456" y="5047698"/>
            <a:ext cx="538701" cy="0"/>
          </a:xfrm>
          <a:prstGeom prst="straightConnector1">
            <a:avLst/>
          </a:prstGeom>
          <a:ln w="38100">
            <a:solidFill>
              <a:srgbClr val="E890E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501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Puzzle with solid fill">
            <a:extLst>
              <a:ext uri="{FF2B5EF4-FFF2-40B4-BE49-F238E27FC236}">
                <a16:creationId xmlns:a16="http://schemas.microsoft.com/office/drawing/2014/main" id="{DA0E0B71-A98D-B995-DDF2-253CF5BEF0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1368" y="2029461"/>
            <a:ext cx="1864982" cy="18649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97204D-DFB5-F93C-D662-481BFB6A3CDF}"/>
              </a:ext>
            </a:extLst>
          </p:cNvPr>
          <p:cNvSpPr txBox="1"/>
          <p:nvPr/>
        </p:nvSpPr>
        <p:spPr>
          <a:xfrm>
            <a:off x="2556233" y="3862046"/>
            <a:ext cx="915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Flexible</a:t>
            </a:r>
          </a:p>
        </p:txBody>
      </p:sp>
      <p:pic>
        <p:nvPicPr>
          <p:cNvPr id="10" name="Graphic 9" descr="Rocket with solid fill">
            <a:extLst>
              <a:ext uri="{FF2B5EF4-FFF2-40B4-BE49-F238E27FC236}">
                <a16:creationId xmlns:a16="http://schemas.microsoft.com/office/drawing/2014/main" id="{772436F9-6958-3152-D093-73CA42DAD7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7509" y="2029461"/>
            <a:ext cx="1783080" cy="17830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F6AD1F-3A57-9725-EC9F-D9DF530E661D}"/>
              </a:ext>
            </a:extLst>
          </p:cNvPr>
          <p:cNvSpPr txBox="1"/>
          <p:nvPr/>
        </p:nvSpPr>
        <p:spPr>
          <a:xfrm>
            <a:off x="5245284" y="3858262"/>
            <a:ext cx="1047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Powerful</a:t>
            </a:r>
          </a:p>
        </p:txBody>
      </p:sp>
      <p:pic>
        <p:nvPicPr>
          <p:cNvPr id="13" name="Graphic 12" descr="Workflow with solid fill">
            <a:extLst>
              <a:ext uri="{FF2B5EF4-FFF2-40B4-BE49-F238E27FC236}">
                <a16:creationId xmlns:a16="http://schemas.microsoft.com/office/drawing/2014/main" id="{A17820C9-5CBF-52CA-A3CE-A45C05C244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1749" y="2029461"/>
            <a:ext cx="1864982" cy="18649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48E9C69-C27B-67D7-C5AA-09000679A8C8}"/>
              </a:ext>
            </a:extLst>
          </p:cNvPr>
          <p:cNvSpPr txBox="1"/>
          <p:nvPr/>
        </p:nvSpPr>
        <p:spPr>
          <a:xfrm>
            <a:off x="8042538" y="3862046"/>
            <a:ext cx="963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Efficient</a:t>
            </a:r>
          </a:p>
        </p:txBody>
      </p:sp>
    </p:spTree>
    <p:extLst>
      <p:ext uri="{BB962C8B-B14F-4D97-AF65-F5344CB8AC3E}">
        <p14:creationId xmlns:p14="http://schemas.microsoft.com/office/powerpoint/2010/main" val="1591989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B4413AAFFE34B9A5E0B87EBB2BF4F" ma:contentTypeVersion="0" ma:contentTypeDescription="Create a new document." ma:contentTypeScope="" ma:versionID="9632435baf965c6c093711282b9a869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d47a0f10127d9e30d85633090e6731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07AEC1-3868-4489-99AA-F6101CBA69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2B7266E-DF44-460A-A16F-F5ABEAF9A56A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728C9A-7C9B-4A99-A7F5-4857043C7DB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4296</TotalTime>
  <Words>2395</Words>
  <Application>Microsoft Office PowerPoint</Application>
  <PresentationFormat>Widescreen</PresentationFormat>
  <Paragraphs>327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Arial</vt:lpstr>
      <vt:lpstr>Arial Nova</vt:lpstr>
      <vt:lpstr>Bahnschrift</vt:lpstr>
      <vt:lpstr>Bahnschrift Condensed</vt:lpstr>
      <vt:lpstr>Bahnschrift Light</vt:lpstr>
      <vt:lpstr>Bahnschrift Light Condensed</vt:lpstr>
      <vt:lpstr>Bahnschrift SemiBold</vt:lpstr>
      <vt:lpstr>Bahnschrift SemiBold SemiConden</vt:lpstr>
      <vt:lpstr>Bahnschrift SemiCondensed</vt:lpstr>
      <vt:lpstr>Bahnschrift SemiLight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Static Fault Propagation</vt:lpstr>
      <vt:lpstr>Dynamic Fault Propagation</vt:lpstr>
      <vt:lpstr>Activity: Open and instantiate pump model</vt:lpstr>
      <vt:lpstr>Goal: Quantify Resilience With Simulation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fmdtools</dc:title>
  <dc:creator>Hulse, Daniel E. (ARC-TI)</dc:creator>
  <cp:lastModifiedBy>Hulse, Daniel (ARC-TI)</cp:lastModifiedBy>
  <cp:revision>204</cp:revision>
  <dcterms:created xsi:type="dcterms:W3CDTF">2020-07-06T18:15:45Z</dcterms:created>
  <dcterms:modified xsi:type="dcterms:W3CDTF">2026-09-18T00:55:44Z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0x0101002F0B4413AAFFE34B9A5E0B87EBB2BF4F</vt:lpwstr>
  </property>
</Properties>
</file>