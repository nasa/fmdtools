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1"/>
  </p:notesMasterIdLst>
  <p:sldIdLst>
    <p:sldId id="261" r:id="rId5"/>
    <p:sldId id="499" r:id="rId6"/>
    <p:sldId id="258" r:id="rId7"/>
    <p:sldId id="267" r:id="rId8"/>
    <p:sldId id="273" r:id="rId9"/>
    <p:sldId id="276" r:id="rId10"/>
    <p:sldId id="277" r:id="rId11"/>
    <p:sldId id="270" r:id="rId12"/>
    <p:sldId id="295" r:id="rId13"/>
    <p:sldId id="296" r:id="rId14"/>
    <p:sldId id="282" r:id="rId15"/>
    <p:sldId id="503" r:id="rId16"/>
    <p:sldId id="504" r:id="rId17"/>
    <p:sldId id="500" r:id="rId18"/>
    <p:sldId id="501" r:id="rId19"/>
    <p:sldId id="502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8A02"/>
    <a:srgbClr val="F91900"/>
    <a:srgbClr val="E890E8"/>
    <a:srgbClr val="FA7676"/>
    <a:srgbClr val="FFFFFF"/>
    <a:srgbClr val="E997E9"/>
    <a:srgbClr val="F1D9F1"/>
    <a:srgbClr val="CC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85" d="100"/>
          <a:sy n="85" d="100"/>
        </p:scale>
        <p:origin x="24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1A52A6-9D8E-41FC-9651-78B3E515F872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64653A-B344-4247-92A9-FC44040C83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5227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8CE46-F5DE-4525-B302-B8D77A3160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Bahnschrift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F5FBB5-1BA3-40B8-9972-CDC5C3288B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Bahnschrift SemiCondensed" panose="020B0502040204020203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34E204-6D63-4288-893D-5FF9E915EA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Bahnschrift Condensed" panose="020B0502040204020203" pitchFamily="34" charset="0"/>
              </a:defRPr>
            </a:lvl1pPr>
          </a:lstStyle>
          <a:p>
            <a:fld id="{77F775AD-3704-4F98-A581-F4E052B5E341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A81FE4-4715-4700-86DD-814DAB998B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Bahnschrift Condensed" panose="020B050204020402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9A2856-EC7A-4D53-B1B6-7A5D185E2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Bahnschrift Condensed" panose="020B0502040204020203" pitchFamily="34" charset="0"/>
              </a:defRPr>
            </a:lvl1pPr>
          </a:lstStyle>
          <a:p>
            <a:fld id="{7A4D9045-47C6-4ED3-A320-E2DFE954633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106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78DB8D-BF4C-4FBF-AD5B-10937ABF54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ahnschrift SemiBold SemiConden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606243-6F58-4809-9205-EDADCFCF28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Condensed" panose="020B0502040204020203" pitchFamily="34" charset="0"/>
              </a:defRPr>
            </a:lvl1pPr>
            <a:lvl2pPr>
              <a:defRPr>
                <a:latin typeface="Bahnschrift SemiCondensed" panose="020B0502040204020203" pitchFamily="34" charset="0"/>
              </a:defRPr>
            </a:lvl2pPr>
            <a:lvl3pPr>
              <a:defRPr>
                <a:latin typeface="Bahnschrift SemiCondensed" panose="020B0502040204020203" pitchFamily="34" charset="0"/>
              </a:defRPr>
            </a:lvl3pPr>
            <a:lvl4pPr>
              <a:defRPr>
                <a:latin typeface="Bahnschrift SemiCondensed" panose="020B0502040204020203" pitchFamily="34" charset="0"/>
              </a:defRPr>
            </a:lvl4pPr>
            <a:lvl5pPr>
              <a:defRPr>
                <a:latin typeface="Bahnschrift SemiCondensed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66D9F0-3FD5-4876-ABBD-BC632907D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4B9B3-CD86-4259-A27A-F9B9C6081119}" type="datetime1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8C0CC1-143C-487C-A035-21D8865A10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65876C-4ECF-4875-8888-C2697944B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4D9045-47C6-4ED3-A320-E2DFE954633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63908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D846CC-6892-4FCF-8630-AE4111841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latin typeface="Bahnschrift SemiBold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404A4A-62DA-4ABE-9DBB-89AF06A476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  <a:latin typeface="Bahnschrift SemiBold SemiConden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558FD5-D80E-41CF-8310-C62A4493BE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287512-E62E-4968-99B9-D028D358C1D6}" type="datetime1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FE0162-1B07-44C6-A9E8-23457789B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43E77-1937-4864-B1CE-8C634C324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4D9045-47C6-4ED3-A320-E2DFE95463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59280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8212D-D47D-4B5F-AF4B-C9A268276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ahnschrift SemiBold SemiConden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14EC79-3E6A-4F0E-AE18-F5B6316C0B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Bahnschrift SemiCondensed" panose="020B0502040204020203" pitchFamily="34" charset="0"/>
              </a:defRPr>
            </a:lvl1pPr>
            <a:lvl2pPr>
              <a:defRPr>
                <a:latin typeface="Bahnschrift SemiCondensed" panose="020B0502040204020203" pitchFamily="34" charset="0"/>
              </a:defRPr>
            </a:lvl2pPr>
            <a:lvl3pPr>
              <a:defRPr>
                <a:latin typeface="Bahnschrift SemiCondensed" panose="020B0502040204020203" pitchFamily="34" charset="0"/>
              </a:defRPr>
            </a:lvl3pPr>
            <a:lvl4pPr>
              <a:defRPr>
                <a:latin typeface="Bahnschrift SemiCondensed" panose="020B0502040204020203" pitchFamily="34" charset="0"/>
              </a:defRPr>
            </a:lvl4pPr>
            <a:lvl5pPr>
              <a:defRPr>
                <a:latin typeface="Bahnschrift SemiCondensed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16DCD2-DA7E-44D4-80B1-03DB895188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latin typeface="Bahnschrift SemiCondensed" panose="020B0502040204020203" pitchFamily="34" charset="0"/>
              </a:defRPr>
            </a:lvl1pPr>
            <a:lvl2pPr>
              <a:defRPr>
                <a:latin typeface="Bahnschrift SemiCondensed" panose="020B0502040204020203" pitchFamily="34" charset="0"/>
              </a:defRPr>
            </a:lvl2pPr>
            <a:lvl3pPr>
              <a:defRPr>
                <a:latin typeface="Bahnschrift SemiCondensed" panose="020B0502040204020203" pitchFamily="34" charset="0"/>
              </a:defRPr>
            </a:lvl3pPr>
            <a:lvl4pPr>
              <a:defRPr>
                <a:latin typeface="Bahnschrift SemiCondensed" panose="020B0502040204020203" pitchFamily="34" charset="0"/>
              </a:defRPr>
            </a:lvl4pPr>
            <a:lvl5pPr>
              <a:defRPr>
                <a:latin typeface="Bahnschrift SemiCondensed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1F0E05-1ABA-4F1E-8916-9491D0773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AD7E7-9EE9-4D28-82A7-0AE338FFEED9}" type="datetime1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63D622-5B4B-4ED4-9FED-772B545DD2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6C9AB9-8410-4A4C-B499-1F0071655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4D9045-47C6-4ED3-A320-E2DFE95463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4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29AD51-2076-4698-AEBB-DB2C07FB3D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>
                <a:latin typeface="Bahnschrift SemiBold SemiConden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1F9318-5F5B-43E4-AD45-7A7DFAC362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latin typeface="Bahnschrift SemiBold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2AA331-D2D3-4140-9542-31A3A3EB59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defRPr>
                <a:latin typeface="Bahnschrift SemiCondensed" panose="020B0502040204020203" pitchFamily="34" charset="0"/>
              </a:defRPr>
            </a:lvl1pPr>
            <a:lvl2pPr>
              <a:defRPr>
                <a:latin typeface="Bahnschrift SemiCondensed" panose="020B0502040204020203" pitchFamily="34" charset="0"/>
              </a:defRPr>
            </a:lvl2pPr>
            <a:lvl3pPr>
              <a:defRPr>
                <a:latin typeface="Bahnschrift SemiCondensed" panose="020B0502040204020203" pitchFamily="34" charset="0"/>
              </a:defRPr>
            </a:lvl3pPr>
            <a:lvl4pPr>
              <a:defRPr>
                <a:latin typeface="Bahnschrift SemiCondensed" panose="020B0502040204020203" pitchFamily="34" charset="0"/>
              </a:defRPr>
            </a:lvl4pPr>
            <a:lvl5pPr>
              <a:defRPr>
                <a:latin typeface="Bahnschrift SemiCondensed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A4E08E-48F0-4E81-9D5E-63E0A87F8C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latin typeface="Bahnschrift SemiBold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222367C-C01C-4792-AE1D-0427D31AFC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defRPr>
                <a:latin typeface="Bahnschrift SemiCondensed" panose="020B0502040204020203" pitchFamily="34" charset="0"/>
              </a:defRPr>
            </a:lvl1pPr>
            <a:lvl2pPr>
              <a:defRPr>
                <a:latin typeface="Bahnschrift SemiCondensed" panose="020B0502040204020203" pitchFamily="34" charset="0"/>
              </a:defRPr>
            </a:lvl2pPr>
            <a:lvl3pPr>
              <a:defRPr>
                <a:latin typeface="Bahnschrift SemiCondensed" panose="020B0502040204020203" pitchFamily="34" charset="0"/>
              </a:defRPr>
            </a:lvl3pPr>
            <a:lvl4pPr>
              <a:defRPr>
                <a:latin typeface="Bahnschrift SemiCondensed" panose="020B0502040204020203" pitchFamily="34" charset="0"/>
              </a:defRPr>
            </a:lvl4pPr>
            <a:lvl5pPr>
              <a:defRPr>
                <a:latin typeface="Bahnschrift SemiCondensed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629D3EC-2DD8-4EFA-9960-2D2EFAA6F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5CD5E0-6150-412F-8881-52709F06EC3B}" type="datetime1">
              <a:rPr lang="en-US" smtClean="0"/>
              <a:t>11/24/2025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AF4670F-5E0C-44F3-BE79-0D38AB233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1CCFD3-1ADE-45EA-8445-91E5C04A1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4D9045-47C6-4ED3-A320-E2DFE95463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21647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E39DE-3498-4B38-A90D-31FE62EC4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ahnschrift SemiBold SemiConden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39D110-0971-44E9-B5D0-55CB8A19AA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28AFA3-5281-4B53-8B8B-8FD665A2F0D7}" type="datetime1">
              <a:rPr lang="en-US" smtClean="0"/>
              <a:t>11/24/2025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5FC8C9-8060-42CF-A228-A205317B8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8D7CCF-BCFB-4243-84A1-155511125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4D9045-47C6-4ED3-A320-E2DFE95463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8491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6DC47F-32AC-4042-BFA1-16EAD91B1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D1394-26AC-45DA-9E25-AB3CC25C7422}" type="datetime1">
              <a:rPr lang="en-US" smtClean="0"/>
              <a:t>11/24/2025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40A260-CF71-43E1-8654-C6AB49B09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2DB531-148C-4EB3-8AC6-FD323FE57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4D9045-47C6-4ED3-A320-E2DFE95463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0930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66F9A6-EA38-4F2F-9EC0-5E06973800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latin typeface="Bahnschrift SemiLight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CB9B52-746F-46CF-B39B-977A77210B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>
                <a:latin typeface="Bahnschrift SemiCondensed" panose="020B0502040204020203" pitchFamily="34" charset="0"/>
              </a:defRPr>
            </a:lvl1pPr>
            <a:lvl2pPr>
              <a:defRPr sz="2800">
                <a:latin typeface="Bahnschrift SemiCondensed" panose="020B0502040204020203" pitchFamily="34" charset="0"/>
              </a:defRPr>
            </a:lvl2pPr>
            <a:lvl3pPr>
              <a:defRPr sz="2400">
                <a:latin typeface="Bahnschrift SemiCondensed" panose="020B0502040204020203" pitchFamily="34" charset="0"/>
              </a:defRPr>
            </a:lvl3pPr>
            <a:lvl4pPr>
              <a:defRPr sz="2000">
                <a:latin typeface="Bahnschrift SemiCondensed" panose="020B0502040204020203" pitchFamily="34" charset="0"/>
              </a:defRPr>
            </a:lvl4pPr>
            <a:lvl5pPr>
              <a:defRPr sz="2000">
                <a:latin typeface="Bahnschrift SemiCondensed" panose="020B0502040204020203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5EB01D-8B2A-4FEC-859B-0725CDB062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latin typeface="Bahnschrift" panose="020B0502040204020203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8407C3-0369-477F-A812-E71D7673C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41D803-18D9-4B72-95D8-021B736F630F}" type="datetime1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AF5ED9-7011-4FC5-8018-20D6FB591F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CF6F98-2D31-412D-AE8D-7B8E6A0F7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4D9045-47C6-4ED3-A320-E2DFE95463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8415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B6BAD-7729-4BCD-8BAA-810BF5DB0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latin typeface="Bahnschrift SemiLight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842FDA6-9C7C-4712-A30F-E7BB6EFD94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809B6A-FF2D-4A50-826A-E4AFF44D4A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latin typeface="Bahnschrift" panose="020B0502040204020203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BB8DD1-7043-486C-89B4-F023818B77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2DFCB-4787-4629-B4F0-DCD676BE203A}" type="datetime1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1FDDED-9F8B-4CE9-9BA9-16C2E64F43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AE1863-6F3A-4C8B-86D1-4CF2EE995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4D9045-47C6-4ED3-A320-E2DFE95463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9211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706270-7014-4280-97DD-2E5876C50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ahnschrift SemiBold SemiConden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AB2BF0-6BBC-4217-B3B1-439E9C03F3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latin typeface="Bahnschrift SemiCondensed" panose="020B0502040204020203" pitchFamily="34" charset="0"/>
              </a:defRPr>
            </a:lvl1pPr>
            <a:lvl2pPr>
              <a:defRPr>
                <a:latin typeface="Bahnschrift SemiCondensed" panose="020B0502040204020203" pitchFamily="34" charset="0"/>
              </a:defRPr>
            </a:lvl2pPr>
            <a:lvl3pPr>
              <a:defRPr>
                <a:latin typeface="Bahnschrift SemiCondensed" panose="020B0502040204020203" pitchFamily="34" charset="0"/>
              </a:defRPr>
            </a:lvl3pPr>
            <a:lvl4pPr>
              <a:defRPr>
                <a:latin typeface="Bahnschrift SemiCondensed" panose="020B0502040204020203" pitchFamily="34" charset="0"/>
              </a:defRPr>
            </a:lvl4pPr>
            <a:lvl5pPr>
              <a:defRPr>
                <a:latin typeface="Bahnschrift SemiCondensed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6445E2-9C30-4803-9DC0-3DD07B728D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B97F0-8049-4B63-9B9F-B08800B08AEA}" type="datetime1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372469-D162-41E7-AB30-FD5846808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D67431-2465-4C27-84E2-C53468D00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4D9045-47C6-4ED3-A320-E2DFE95463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8558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9F7FC8-42DE-4A73-9EBF-7FE13C3A6F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>
                <a:latin typeface="Bahnschrift SemiBold SemiConden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258298-31A6-401F-9E21-E276539E3E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>
            <a:lvl1pPr>
              <a:defRPr>
                <a:latin typeface="Bahnschrift SemiCondensed" panose="020B0502040204020203" pitchFamily="34" charset="0"/>
              </a:defRPr>
            </a:lvl1pPr>
            <a:lvl2pPr>
              <a:defRPr>
                <a:latin typeface="Bahnschrift SemiCondensed" panose="020B0502040204020203" pitchFamily="34" charset="0"/>
              </a:defRPr>
            </a:lvl2pPr>
            <a:lvl3pPr>
              <a:defRPr>
                <a:latin typeface="Bahnschrift SemiCondensed" panose="020B0502040204020203" pitchFamily="34" charset="0"/>
              </a:defRPr>
            </a:lvl3pPr>
            <a:lvl4pPr>
              <a:defRPr>
                <a:latin typeface="Bahnschrift SemiCondensed" panose="020B0502040204020203" pitchFamily="34" charset="0"/>
              </a:defRPr>
            </a:lvl4pPr>
            <a:lvl5pPr>
              <a:defRPr>
                <a:latin typeface="Bahnschrift SemiCondensed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936A44-C779-4D04-A1D2-5C3C688EE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B3555-78C2-4894-951A-9F28C24107FA}" type="datetime1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C94DC5-EE79-441A-BC1D-7CB59EFE0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1D167-FB69-44EA-B58C-209922901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4D9045-47C6-4ED3-A320-E2DFE95463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50634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34688E-D30C-4B46-B42C-A95468BFA6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60CFBD-FB22-4A7B-A343-055F4808BD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4690A-CE33-4785-8A28-517DC3D936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Bahnschrift Condensed" panose="020B0502040204020203" pitchFamily="34" charset="0"/>
              </a:defRPr>
            </a:lvl1pPr>
          </a:lstStyle>
          <a:p>
            <a:fld id="{300C2ECC-D91C-40D5-A01C-469FC90F0645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BE93BC-3343-4E5D-8EC4-72B1F68A12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  <a:latin typeface="Bahnschrift Condensed" panose="020B050204020402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83E029-B466-49F9-BFAB-4504FB1FE8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Bahnschrift Condensed" panose="020B0502040204020203" pitchFamily="34" charset="0"/>
              </a:defRPr>
            </a:lvl1pPr>
          </a:lstStyle>
          <a:p>
            <a:fld id="{7A4D9045-47C6-4ED3-A320-E2DFE954633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70468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Bahnschrift SemiBold SemiConden" panose="020B0502040204020203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Bahnschrift Condensed" panose="020B0502040204020203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Bahnschrift Condensed" panose="020B0502040204020203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Bahnschrift Condensed" panose="020B0502040204020203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Bahnschrift Condensed" panose="020B0502040204020203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Bahnschrift Condensed" panose="020B0502040204020203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7" Type="http://schemas.openxmlformats.org/officeDocument/2006/relationships/image" Target="../media/image19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29EF587-E24D-4ADB-89B3-2E3C4EDF39EA}"/>
              </a:ext>
            </a:extLst>
          </p:cNvPr>
          <p:cNvCxnSpPr>
            <a:cxnSpLocks/>
          </p:cNvCxnSpPr>
          <p:nvPr/>
        </p:nvCxnSpPr>
        <p:spPr>
          <a:xfrm>
            <a:off x="3822064" y="2320573"/>
            <a:ext cx="2493922" cy="627690"/>
          </a:xfrm>
          <a:prstGeom prst="line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31722B76-BCD8-4DDD-AAC2-33A94AE4765C}"/>
              </a:ext>
            </a:extLst>
          </p:cNvPr>
          <p:cNvSpPr/>
          <p:nvPr/>
        </p:nvSpPr>
        <p:spPr>
          <a:xfrm>
            <a:off x="8883595" y="3014094"/>
            <a:ext cx="1619249" cy="1333500"/>
          </a:xfrm>
          <a:prstGeom prst="rect">
            <a:avLst/>
          </a:prstGeom>
          <a:pattFill prst="wdDnDiag">
            <a:fgClr>
              <a:srgbClr val="FFD9D9"/>
            </a:fgClr>
            <a:bgClr>
              <a:schemeClr val="bg1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D21EC5-D6AA-458E-9EB0-1A35CE47585C}"/>
              </a:ext>
            </a:extLst>
          </p:cNvPr>
          <p:cNvSpPr/>
          <p:nvPr/>
        </p:nvSpPr>
        <p:spPr>
          <a:xfrm>
            <a:off x="6330895" y="3005589"/>
            <a:ext cx="2552700" cy="1333500"/>
          </a:xfrm>
          <a:prstGeom prst="rect">
            <a:avLst/>
          </a:prstGeom>
          <a:pattFill prst="wdDnDiag">
            <a:fgClr>
              <a:srgbClr val="FF0000"/>
            </a:fgClr>
            <a:bgClr>
              <a:schemeClr val="bg1"/>
            </a:bgClr>
          </a:patt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EE11A0-F0CE-4720-BE2A-1EE0416F0266}"/>
              </a:ext>
            </a:extLst>
          </p:cNvPr>
          <p:cNvCxnSpPr>
            <a:cxnSpLocks/>
          </p:cNvCxnSpPr>
          <p:nvPr/>
        </p:nvCxnSpPr>
        <p:spPr>
          <a:xfrm>
            <a:off x="5976883" y="3005590"/>
            <a:ext cx="4525962" cy="0"/>
          </a:xfrm>
          <a:prstGeom prst="line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4F351EF-9852-40E8-AD39-D814E5C1A3FA}"/>
              </a:ext>
            </a:extLst>
          </p:cNvPr>
          <p:cNvCxnSpPr>
            <a:cxnSpLocks/>
          </p:cNvCxnSpPr>
          <p:nvPr/>
        </p:nvCxnSpPr>
        <p:spPr>
          <a:xfrm>
            <a:off x="6330895" y="3005589"/>
            <a:ext cx="0" cy="1333500"/>
          </a:xfrm>
          <a:prstGeom prst="line">
            <a:avLst/>
          </a:prstGeom>
          <a:ln>
            <a:solidFill>
              <a:srgbClr val="FF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35FF928-AEA3-4C61-9EA3-A5D1728A4290}"/>
              </a:ext>
            </a:extLst>
          </p:cNvPr>
          <p:cNvCxnSpPr>
            <a:cxnSpLocks/>
          </p:cNvCxnSpPr>
          <p:nvPr/>
        </p:nvCxnSpPr>
        <p:spPr>
          <a:xfrm>
            <a:off x="6330895" y="4339089"/>
            <a:ext cx="2552700" cy="0"/>
          </a:xfrm>
          <a:prstGeom prst="line">
            <a:avLst/>
          </a:prstGeom>
          <a:ln w="38100">
            <a:solidFill>
              <a:srgbClr val="FF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5290E26-68C2-4EB6-AA4B-1C4666C6672E}"/>
              </a:ext>
            </a:extLst>
          </p:cNvPr>
          <p:cNvCxnSpPr>
            <a:cxnSpLocks/>
          </p:cNvCxnSpPr>
          <p:nvPr/>
        </p:nvCxnSpPr>
        <p:spPr>
          <a:xfrm flipV="1">
            <a:off x="8883595" y="3005589"/>
            <a:ext cx="0" cy="1333500"/>
          </a:xfrm>
          <a:prstGeom prst="line">
            <a:avLst/>
          </a:prstGeom>
          <a:ln w="38100">
            <a:solidFill>
              <a:srgbClr val="FF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51A3A58-691D-4746-AF45-F2D570632B21}"/>
              </a:ext>
            </a:extLst>
          </p:cNvPr>
          <p:cNvCxnSpPr>
            <a:cxnSpLocks/>
            <a:stCxn id="12" idx="0"/>
          </p:cNvCxnSpPr>
          <p:nvPr/>
        </p:nvCxnSpPr>
        <p:spPr>
          <a:xfrm flipH="1" flipV="1">
            <a:off x="6315987" y="1052966"/>
            <a:ext cx="14908" cy="3793538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A2DDA50-212B-40A5-B898-F2D8F0786AFB}"/>
              </a:ext>
            </a:extLst>
          </p:cNvPr>
          <p:cNvSpPr txBox="1"/>
          <p:nvPr/>
        </p:nvSpPr>
        <p:spPr>
          <a:xfrm>
            <a:off x="5700754" y="4846504"/>
            <a:ext cx="1260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Bahnschrift SemiBold" panose="020B0502040204020203" pitchFamily="34" charset="0"/>
              </a:rPr>
              <a:t>Fault Time</a:t>
            </a:r>
          </a:p>
        </p:txBody>
      </p:sp>
      <p:sp>
        <p:nvSpPr>
          <p:cNvPr id="13" name="Explosion: 8 Points 12">
            <a:extLst>
              <a:ext uri="{FF2B5EF4-FFF2-40B4-BE49-F238E27FC236}">
                <a16:creationId xmlns:a16="http://schemas.microsoft.com/office/drawing/2014/main" id="{2CF3498A-2A3F-4612-BF09-9DC3F3CD45AF}"/>
              </a:ext>
            </a:extLst>
          </p:cNvPr>
          <p:cNvSpPr/>
          <p:nvPr/>
        </p:nvSpPr>
        <p:spPr>
          <a:xfrm>
            <a:off x="5616520" y="2242003"/>
            <a:ext cx="1428750" cy="1382711"/>
          </a:xfrm>
          <a:prstGeom prst="irregularSeal1">
            <a:avLst/>
          </a:prstGeom>
          <a:solidFill>
            <a:srgbClr val="FFC000"/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74A210E-6826-47E5-8D19-9AE42CF970BB}"/>
              </a:ext>
            </a:extLst>
          </p:cNvPr>
          <p:cNvSpPr txBox="1"/>
          <p:nvPr/>
        </p:nvSpPr>
        <p:spPr>
          <a:xfrm>
            <a:off x="7020137" y="2578931"/>
            <a:ext cx="2947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Bahnschrift SemiBold" panose="020B0502040204020203" pitchFamily="34" charset="0"/>
              </a:rPr>
              <a:t>Nominal Performance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E32D7B-E6A0-48BB-A6A8-64F515F9BBC5}"/>
              </a:ext>
            </a:extLst>
          </p:cNvPr>
          <p:cNvSpPr txBox="1"/>
          <p:nvPr/>
        </p:nvSpPr>
        <p:spPr>
          <a:xfrm>
            <a:off x="6421117" y="4302711"/>
            <a:ext cx="2233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Bahnschrift SemiBold" panose="020B0502040204020203" pitchFamily="34" charset="0"/>
              </a:rPr>
              <a:t>Faulty Performance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7F3DAD6-10B9-4C0B-8A34-3500C70B2792}"/>
              </a:ext>
            </a:extLst>
          </p:cNvPr>
          <p:cNvSpPr txBox="1"/>
          <p:nvPr/>
        </p:nvSpPr>
        <p:spPr>
          <a:xfrm>
            <a:off x="8883594" y="3051195"/>
            <a:ext cx="1200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Bahnschrift SemiBold" panose="020B0502040204020203" pitchFamily="34" charset="0"/>
              </a:rPr>
              <a:t>Recovery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422E9C6-88EA-48BB-9D28-CD495A050370}"/>
              </a:ext>
            </a:extLst>
          </p:cNvPr>
          <p:cNvCxnSpPr>
            <a:cxnSpLocks/>
          </p:cNvCxnSpPr>
          <p:nvPr/>
        </p:nvCxnSpPr>
        <p:spPr>
          <a:xfrm flipH="1" flipV="1">
            <a:off x="8883594" y="4339089"/>
            <a:ext cx="1619250" cy="8505"/>
          </a:xfrm>
          <a:prstGeom prst="line">
            <a:avLst/>
          </a:prstGeom>
          <a:ln w="38100">
            <a:solidFill>
              <a:srgbClr val="FF00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58A47949-8816-4C84-9CBD-8D2B4328019A}"/>
              </a:ext>
            </a:extLst>
          </p:cNvPr>
          <p:cNvSpPr txBox="1"/>
          <p:nvPr/>
        </p:nvSpPr>
        <p:spPr>
          <a:xfrm>
            <a:off x="8883595" y="3993913"/>
            <a:ext cx="1497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Bahnschrift SemiBold" panose="020B0502040204020203" pitchFamily="34" charset="0"/>
              </a:rPr>
              <a:t>No Recovery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20FE350-9CCA-4E38-9E28-A5D65F480DDC}"/>
              </a:ext>
            </a:extLst>
          </p:cNvPr>
          <p:cNvSpPr txBox="1"/>
          <p:nvPr/>
        </p:nvSpPr>
        <p:spPr>
          <a:xfrm>
            <a:off x="3727997" y="892461"/>
            <a:ext cx="16818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Bahnschrift SemiBold" panose="020B0502040204020203" pitchFamily="34" charset="0"/>
              </a:rPr>
              <a:t>Prevention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708F60F-AA3D-42FE-BEAC-BC1E5800C220}"/>
              </a:ext>
            </a:extLst>
          </p:cNvPr>
          <p:cNvSpPr txBox="1"/>
          <p:nvPr/>
        </p:nvSpPr>
        <p:spPr>
          <a:xfrm>
            <a:off x="7499931" y="892461"/>
            <a:ext cx="14718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Bahnschrift SemiBold" panose="020B0502040204020203" pitchFamily="34" charset="0"/>
              </a:rPr>
              <a:t>Recovery</a:t>
            </a:r>
            <a:endParaRPr lang="en-US" dirty="0">
              <a:solidFill>
                <a:schemeClr val="bg1">
                  <a:lumMod val="50000"/>
                </a:schemeClr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FAD445B-D890-43E4-AAF6-BE22CAF808F1}"/>
              </a:ext>
            </a:extLst>
          </p:cNvPr>
          <p:cNvSpPr/>
          <p:nvPr/>
        </p:nvSpPr>
        <p:spPr>
          <a:xfrm>
            <a:off x="7276450" y="5318908"/>
            <a:ext cx="22252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latin typeface="Bahnschrift Light Condensed" panose="020B0502040204020203" pitchFamily="34" charset="0"/>
              </a:rPr>
              <a:t>Yodo</a:t>
            </a:r>
            <a:r>
              <a:rPr lang="en-US" dirty="0">
                <a:latin typeface="Bahnschrift Light Condensed" panose="020B0502040204020203" pitchFamily="34" charset="0"/>
              </a:rPr>
              <a:t>, N., &amp; Wang, P. (2016). </a:t>
            </a:r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BF0C52C-9FB7-4AAD-86A6-1FC9BAA351B8}"/>
              </a:ext>
            </a:extLst>
          </p:cNvPr>
          <p:cNvSpPr txBox="1"/>
          <p:nvPr/>
        </p:nvSpPr>
        <p:spPr>
          <a:xfrm>
            <a:off x="6911636" y="3500764"/>
            <a:ext cx="1252266" cy="369332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Bahnschrift SemiBold" panose="020B0502040204020203" pitchFamily="34" charset="0"/>
              </a:rPr>
              <a:t>Resilience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3101FB2-D340-46DA-8EC7-29E474EB8564}"/>
              </a:ext>
            </a:extLst>
          </p:cNvPr>
          <p:cNvSpPr txBox="1"/>
          <p:nvPr/>
        </p:nvSpPr>
        <p:spPr>
          <a:xfrm>
            <a:off x="5835320" y="2718702"/>
            <a:ext cx="10005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Bahnschrift SemiBold" panose="020B0502040204020203" pitchFamily="34" charset="0"/>
              </a:rPr>
              <a:t>Hazard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87C380F-CFFC-442F-BDF4-0744B33F9987}"/>
              </a:ext>
            </a:extLst>
          </p:cNvPr>
          <p:cNvCxnSpPr>
            <a:cxnSpLocks/>
          </p:cNvCxnSpPr>
          <p:nvPr/>
        </p:nvCxnSpPr>
        <p:spPr>
          <a:xfrm flipV="1">
            <a:off x="3822064" y="1838150"/>
            <a:ext cx="2493922" cy="464939"/>
          </a:xfrm>
          <a:prstGeom prst="line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A28E7BE-FE66-4DB7-BC99-A2E18D727EED}"/>
              </a:ext>
            </a:extLst>
          </p:cNvPr>
          <p:cNvCxnSpPr>
            <a:cxnSpLocks/>
          </p:cNvCxnSpPr>
          <p:nvPr/>
        </p:nvCxnSpPr>
        <p:spPr>
          <a:xfrm>
            <a:off x="6275346" y="1826389"/>
            <a:ext cx="4227498" cy="0"/>
          </a:xfrm>
          <a:prstGeom prst="line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7D0EC3B-71E1-4B52-A2BE-82F2D2D11AA5}"/>
              </a:ext>
            </a:extLst>
          </p:cNvPr>
          <p:cNvSpPr txBox="1"/>
          <p:nvPr/>
        </p:nvSpPr>
        <p:spPr>
          <a:xfrm>
            <a:off x="6315986" y="1399712"/>
            <a:ext cx="2947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Bahnschrift SemiBold" panose="020B0502040204020203" pitchFamily="34" charset="0"/>
              </a:rPr>
              <a:t>Nominal Scenario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27D2B22-D005-489E-92FC-F14CA2DD74A2}"/>
              </a:ext>
            </a:extLst>
          </p:cNvPr>
          <p:cNvSpPr txBox="1"/>
          <p:nvPr/>
        </p:nvSpPr>
        <p:spPr>
          <a:xfrm>
            <a:off x="812767" y="2934531"/>
            <a:ext cx="1552694" cy="707886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>
                <a:solidFill>
                  <a:srgbClr val="FF0000"/>
                </a:solidFill>
                <a:latin typeface="Bahnschrift SemiBold" panose="020B0502040204020203" pitchFamily="34" charset="0"/>
              </a:rPr>
              <a:t>Expected</a:t>
            </a:r>
          </a:p>
          <a:p>
            <a:pPr algn="r"/>
            <a:r>
              <a:rPr lang="en-US" sz="2000" b="1" dirty="0">
                <a:solidFill>
                  <a:srgbClr val="FF0000"/>
                </a:solidFill>
                <a:latin typeface="Bahnschrift SemiBold" panose="020B0502040204020203" pitchFamily="34" charset="0"/>
              </a:rPr>
              <a:t>Resilience: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D16A513A-6676-4909-91FB-148522A4F2EA}"/>
                  </a:ext>
                </a:extLst>
              </p:cNvPr>
              <p:cNvSpPr/>
              <p:nvPr/>
            </p:nvSpPr>
            <p:spPr>
              <a:xfrm>
                <a:off x="2917788" y="1715055"/>
                <a:ext cx="1096381" cy="1096381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400" dirty="0" smtClean="0">
                          <a:solidFill>
                            <a:schemeClr val="tx1"/>
                          </a:solidFill>
                        </a:rPr>
                        <m:t>𝔼</m:t>
                      </m:r>
                      <m:r>
                        <a:rPr lang="en-US" sz="2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𝑅𝑒𝑠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D16A513A-6676-4909-91FB-148522A4F2E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7788" y="1715055"/>
                <a:ext cx="1096381" cy="1096381"/>
              </a:xfrm>
              <a:prstGeom prst="ellipse">
                <a:avLst/>
              </a:prstGeom>
              <a:blipFill>
                <a:blip r:embed="rId2"/>
                <a:stretch>
                  <a:fillRect l="-4324" r="-1081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E5E00E88-8724-4ED0-B23C-C91CC694E5EF}"/>
              </a:ext>
            </a:extLst>
          </p:cNvPr>
          <p:cNvSpPr txBox="1"/>
          <p:nvPr/>
        </p:nvSpPr>
        <p:spPr>
          <a:xfrm>
            <a:off x="2385781" y="2943964"/>
            <a:ext cx="3064886" cy="707886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Bahnschrift Light" panose="020B0502040204020203" pitchFamily="34" charset="0"/>
              </a:rPr>
              <a:t>Resilience over a set of hazardous scenarios </a:t>
            </a:r>
          </a:p>
        </p:txBody>
      </p:sp>
    </p:spTree>
    <p:extLst>
      <p:ext uri="{BB962C8B-B14F-4D97-AF65-F5344CB8AC3E}">
        <p14:creationId xmlns:p14="http://schemas.microsoft.com/office/powerpoint/2010/main" val="3723631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15" grpId="0"/>
      <p:bldP spid="16" grpId="0"/>
      <p:bldP spid="18" grpId="0"/>
      <p:bldP spid="22" grpId="0" animBg="1"/>
      <p:bldP spid="27" grpId="0" animBg="1"/>
      <p:bldP spid="2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59A4A6D-FA4F-6B05-650E-6FC0997F5E87}"/>
              </a:ext>
            </a:extLst>
          </p:cNvPr>
          <p:cNvSpPr/>
          <p:nvPr/>
        </p:nvSpPr>
        <p:spPr>
          <a:xfrm>
            <a:off x="5331357" y="2461552"/>
            <a:ext cx="632024" cy="25868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848C8EA-493E-4681-AFC6-8978FF882C24}"/>
              </a:ext>
            </a:extLst>
          </p:cNvPr>
          <p:cNvCxnSpPr>
            <a:cxnSpLocks/>
          </p:cNvCxnSpPr>
          <p:nvPr/>
        </p:nvCxnSpPr>
        <p:spPr>
          <a:xfrm>
            <a:off x="1384734" y="1385755"/>
            <a:ext cx="0" cy="4380614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00FD721-12A0-4641-9A34-F02F0357B324}"/>
              </a:ext>
            </a:extLst>
          </p:cNvPr>
          <p:cNvCxnSpPr>
            <a:cxnSpLocks/>
          </p:cNvCxnSpPr>
          <p:nvPr/>
        </p:nvCxnSpPr>
        <p:spPr>
          <a:xfrm flipH="1">
            <a:off x="977154" y="5504100"/>
            <a:ext cx="6248399" cy="0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80AD7AC-0DB7-4C69-994E-3803ABCB0DCC}"/>
              </a:ext>
            </a:extLst>
          </p:cNvPr>
          <p:cNvCxnSpPr>
            <a:cxnSpLocks/>
          </p:cNvCxnSpPr>
          <p:nvPr/>
        </p:nvCxnSpPr>
        <p:spPr>
          <a:xfrm flipH="1">
            <a:off x="1384734" y="2787537"/>
            <a:ext cx="1360967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713E66B-2A49-4C7E-A2C0-BE309A27E4F7}"/>
              </a:ext>
            </a:extLst>
          </p:cNvPr>
          <p:cNvCxnSpPr>
            <a:cxnSpLocks/>
          </p:cNvCxnSpPr>
          <p:nvPr/>
        </p:nvCxnSpPr>
        <p:spPr>
          <a:xfrm flipH="1">
            <a:off x="2745703" y="2780448"/>
            <a:ext cx="1" cy="1858869"/>
          </a:xfrm>
          <a:prstGeom prst="line">
            <a:avLst/>
          </a:prstGeom>
          <a:ln w="38100">
            <a:solidFill>
              <a:srgbClr val="FE7F00">
                <a:alpha val="61961"/>
              </a:srgb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2684F00-20D1-4D9E-9AC5-CB340D18319C}"/>
              </a:ext>
            </a:extLst>
          </p:cNvPr>
          <p:cNvCxnSpPr>
            <a:cxnSpLocks/>
          </p:cNvCxnSpPr>
          <p:nvPr/>
        </p:nvCxnSpPr>
        <p:spPr>
          <a:xfrm flipH="1">
            <a:off x="1055126" y="4171486"/>
            <a:ext cx="6333459" cy="0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B8CB440-A52B-4F6E-AD50-917A9C2CE46D}"/>
              </a:ext>
            </a:extLst>
          </p:cNvPr>
          <p:cNvCxnSpPr>
            <a:cxnSpLocks/>
          </p:cNvCxnSpPr>
          <p:nvPr/>
        </p:nvCxnSpPr>
        <p:spPr>
          <a:xfrm flipH="1" flipV="1">
            <a:off x="2745702" y="4639317"/>
            <a:ext cx="2758483" cy="15275"/>
          </a:xfrm>
          <a:prstGeom prst="line">
            <a:avLst/>
          </a:prstGeom>
          <a:ln w="38100">
            <a:solidFill>
              <a:srgbClr val="FE7F00">
                <a:alpha val="61961"/>
              </a:srgb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A17A68A-0E67-4E8E-9F96-199153A60EAA}"/>
              </a:ext>
            </a:extLst>
          </p:cNvPr>
          <p:cNvCxnSpPr>
            <a:cxnSpLocks/>
          </p:cNvCxnSpPr>
          <p:nvPr/>
        </p:nvCxnSpPr>
        <p:spPr>
          <a:xfrm flipH="1" flipV="1">
            <a:off x="2745702" y="2787537"/>
            <a:ext cx="404037" cy="922345"/>
          </a:xfrm>
          <a:prstGeom prst="line">
            <a:avLst/>
          </a:prstGeom>
          <a:ln w="38100">
            <a:solidFill>
              <a:srgbClr val="FE7F00">
                <a:alpha val="61961"/>
              </a:srgb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8A0C75D-FEC4-4479-B303-907B449F1F43}"/>
              </a:ext>
            </a:extLst>
          </p:cNvPr>
          <p:cNvCxnSpPr>
            <a:cxnSpLocks/>
          </p:cNvCxnSpPr>
          <p:nvPr/>
        </p:nvCxnSpPr>
        <p:spPr>
          <a:xfrm flipV="1">
            <a:off x="3149739" y="3679486"/>
            <a:ext cx="2512384" cy="30398"/>
          </a:xfrm>
          <a:prstGeom prst="line">
            <a:avLst/>
          </a:prstGeom>
          <a:ln w="38100">
            <a:solidFill>
              <a:srgbClr val="FE7F00">
                <a:alpha val="61961"/>
              </a:srgb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9378DA1-1609-449C-A348-4FF986CA930A}"/>
              </a:ext>
            </a:extLst>
          </p:cNvPr>
          <p:cNvCxnSpPr>
            <a:cxnSpLocks/>
          </p:cNvCxnSpPr>
          <p:nvPr/>
        </p:nvCxnSpPr>
        <p:spPr>
          <a:xfrm flipH="1">
            <a:off x="1384734" y="3134813"/>
            <a:ext cx="4908698" cy="2406503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98D0017-3703-4F17-9FEA-71C7E0F07544}"/>
              </a:ext>
            </a:extLst>
          </p:cNvPr>
          <p:cNvCxnSpPr>
            <a:cxnSpLocks/>
          </p:cNvCxnSpPr>
          <p:nvPr/>
        </p:nvCxnSpPr>
        <p:spPr>
          <a:xfrm flipV="1">
            <a:off x="4747279" y="2891546"/>
            <a:ext cx="877188" cy="830315"/>
          </a:xfrm>
          <a:prstGeom prst="line">
            <a:avLst/>
          </a:prstGeom>
          <a:ln w="38100">
            <a:solidFill>
              <a:srgbClr val="FE7F00">
                <a:alpha val="61961"/>
              </a:srgb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B12D252-CD2A-464D-957B-5BF91B28DFF9}"/>
              </a:ext>
            </a:extLst>
          </p:cNvPr>
          <p:cNvSpPr txBox="1"/>
          <p:nvPr/>
        </p:nvSpPr>
        <p:spPr>
          <a:xfrm>
            <a:off x="290553" y="3785928"/>
            <a:ext cx="306749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Robustness Safety Threshold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1F251B9-2313-41E2-BB3B-9DC881291524}"/>
              </a:ext>
            </a:extLst>
          </p:cNvPr>
          <p:cNvSpPr txBox="1"/>
          <p:nvPr/>
        </p:nvSpPr>
        <p:spPr>
          <a:xfrm>
            <a:off x="1467328" y="4718090"/>
            <a:ext cx="306749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Recovery Time Safety Threshold</a:t>
            </a:r>
          </a:p>
        </p:txBody>
      </p:sp>
      <p:sp>
        <p:nvSpPr>
          <p:cNvPr id="39" name="Explosion: 8 Points 38">
            <a:extLst>
              <a:ext uri="{FF2B5EF4-FFF2-40B4-BE49-F238E27FC236}">
                <a16:creationId xmlns:a16="http://schemas.microsoft.com/office/drawing/2014/main" id="{C37E24B3-0D3D-4566-9940-744CBC27DDDD}"/>
              </a:ext>
            </a:extLst>
          </p:cNvPr>
          <p:cNvSpPr/>
          <p:nvPr/>
        </p:nvSpPr>
        <p:spPr>
          <a:xfrm>
            <a:off x="5426325" y="4449192"/>
            <a:ext cx="425303" cy="409763"/>
          </a:xfrm>
          <a:prstGeom prst="irregularSeal1">
            <a:avLst/>
          </a:prstGeom>
          <a:solidFill>
            <a:schemeClr val="accent2"/>
          </a:solidFill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Explosion: 8 Points 39">
            <a:extLst>
              <a:ext uri="{FF2B5EF4-FFF2-40B4-BE49-F238E27FC236}">
                <a16:creationId xmlns:a16="http://schemas.microsoft.com/office/drawing/2014/main" id="{7217CDF7-C7AA-4A65-99F4-485155D83140}"/>
              </a:ext>
            </a:extLst>
          </p:cNvPr>
          <p:cNvSpPr/>
          <p:nvPr/>
        </p:nvSpPr>
        <p:spPr>
          <a:xfrm>
            <a:off x="5432526" y="3516979"/>
            <a:ext cx="425303" cy="409763"/>
          </a:xfrm>
          <a:prstGeom prst="irregularSeal1">
            <a:avLst/>
          </a:prstGeom>
          <a:solidFill>
            <a:schemeClr val="accent2"/>
          </a:solidFill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E25B9684-2968-4453-BF0F-8E3C96CC5821}"/>
              </a:ext>
            </a:extLst>
          </p:cNvPr>
          <p:cNvSpPr/>
          <p:nvPr/>
        </p:nvSpPr>
        <p:spPr>
          <a:xfrm>
            <a:off x="5481038" y="2737467"/>
            <a:ext cx="315876" cy="318798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D54CFF-F3D1-42DE-98AE-DB0FCB713DBC}"/>
              </a:ext>
            </a:extLst>
          </p:cNvPr>
          <p:cNvSpPr txBox="1"/>
          <p:nvPr/>
        </p:nvSpPr>
        <p:spPr>
          <a:xfrm>
            <a:off x="5173025" y="3828036"/>
            <a:ext cx="183943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Unsafe Disruptions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D4EA7D-F715-7E6E-D3F9-08DDD4089B35}"/>
              </a:ext>
            </a:extLst>
          </p:cNvPr>
          <p:cNvSpPr txBox="1"/>
          <p:nvPr/>
        </p:nvSpPr>
        <p:spPr>
          <a:xfrm>
            <a:off x="1549539" y="1042709"/>
            <a:ext cx="4302088" cy="707886"/>
          </a:xfrm>
          <a:prstGeom prst="rect">
            <a:avLst/>
          </a:prstGeom>
          <a:solidFill>
            <a:schemeClr val="bg1">
              <a:lumMod val="85000"/>
              <a:alpha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Arial Nova" panose="020B0604020202020204" pitchFamily="34" charset="0"/>
              </a:rPr>
              <a:t>Resilience means taking  a </a:t>
            </a:r>
            <a:r>
              <a:rPr lang="en-US" sz="2000" b="1" dirty="0">
                <a:latin typeface="Arial Nova" panose="020B0604020202020204" pitchFamily="34" charset="0"/>
              </a:rPr>
              <a:t>dynamic understanding of risk/safety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ECD600-8846-AB22-19A4-A900EDCFB37E}"/>
              </a:ext>
            </a:extLst>
          </p:cNvPr>
          <p:cNvSpPr txBox="1"/>
          <p:nvPr/>
        </p:nvSpPr>
        <p:spPr>
          <a:xfrm>
            <a:off x="4713556" y="2438349"/>
            <a:ext cx="20463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Safe Disruptions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09EC55-A97D-3D35-A50D-2E3523828561}"/>
              </a:ext>
            </a:extLst>
          </p:cNvPr>
          <p:cNvSpPr txBox="1"/>
          <p:nvPr/>
        </p:nvSpPr>
        <p:spPr>
          <a:xfrm>
            <a:off x="4817021" y="2018914"/>
            <a:ext cx="1839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accent1"/>
                </a:solidFill>
              </a:rPr>
              <a:t>Risk Outcomes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8FCA1C-7C8E-FD4B-76AD-0A82D09B5957}"/>
              </a:ext>
            </a:extLst>
          </p:cNvPr>
          <p:cNvSpPr txBox="1"/>
          <p:nvPr/>
        </p:nvSpPr>
        <p:spPr>
          <a:xfrm>
            <a:off x="6639438" y="1690062"/>
            <a:ext cx="5148372" cy="3477875"/>
          </a:xfrm>
          <a:prstGeom prst="rect">
            <a:avLst/>
          </a:prstGeom>
          <a:solidFill>
            <a:schemeClr val="bg1">
              <a:lumMod val="85000"/>
              <a:alpha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Arial Nova" panose="020B0604020202020204" pitchFamily="34" charset="0"/>
              </a:rPr>
              <a:t>Considering resilience is important when our system has dynamic attributes, e.g.:</a:t>
            </a:r>
          </a:p>
          <a:p>
            <a:pPr marL="342900" indent="-342900">
              <a:buFontTx/>
              <a:buChar char="-"/>
            </a:pPr>
            <a:r>
              <a:rPr lang="en-US" sz="2000" b="1" dirty="0">
                <a:latin typeface="Arial Nova" panose="020B0604020202020204" pitchFamily="34" charset="0"/>
              </a:rPr>
              <a:t>The system state changes over time</a:t>
            </a:r>
          </a:p>
          <a:p>
            <a:pPr marL="800100" lvl="1" indent="-342900">
              <a:buFontTx/>
              <a:buChar char="-"/>
            </a:pPr>
            <a:r>
              <a:rPr lang="en-US" sz="2000" dirty="0">
                <a:latin typeface="Arial Nova" panose="020B0604020202020204" pitchFamily="34" charset="0"/>
              </a:rPr>
              <a:t>(e.g., position, velocity, </a:t>
            </a:r>
            <a:r>
              <a:rPr lang="en-US" sz="2000" dirty="0" err="1">
                <a:latin typeface="Arial Nova" panose="020B0604020202020204" pitchFamily="34" charset="0"/>
              </a:rPr>
              <a:t>etc</a:t>
            </a:r>
            <a:r>
              <a:rPr lang="en-US" sz="2000" dirty="0">
                <a:latin typeface="Arial Nova" panose="020B0604020202020204" pitchFamily="34" charset="0"/>
              </a:rPr>
              <a:t>)</a:t>
            </a:r>
          </a:p>
          <a:p>
            <a:pPr marL="342900" indent="-342900">
              <a:buFontTx/>
              <a:buChar char="-"/>
            </a:pPr>
            <a:r>
              <a:rPr lang="en-US" sz="2000" b="1" dirty="0">
                <a:latin typeface="Arial Nova" panose="020B0604020202020204" pitchFamily="34" charset="0"/>
              </a:rPr>
              <a:t>We can control this state</a:t>
            </a:r>
          </a:p>
          <a:p>
            <a:pPr marL="800100" lvl="1" indent="-342900">
              <a:buFontTx/>
              <a:buChar char="-"/>
            </a:pPr>
            <a:r>
              <a:rPr lang="en-US" sz="2000" dirty="0">
                <a:latin typeface="Arial Nova" panose="020B0604020202020204" pitchFamily="34" charset="0"/>
              </a:rPr>
              <a:t>(e.g., operators, autopilot)</a:t>
            </a:r>
          </a:p>
          <a:p>
            <a:r>
              <a:rPr lang="en-US" sz="2000" dirty="0">
                <a:latin typeface="Arial Nova" panose="020B0604020202020204" pitchFamily="34" charset="0"/>
              </a:rPr>
              <a:t>Because we can use it to determine </a:t>
            </a:r>
            <a:r>
              <a:rPr lang="en-US" sz="2000" b="1" dirty="0">
                <a:latin typeface="Arial Nova" panose="020B0604020202020204" pitchFamily="34" charset="0"/>
              </a:rPr>
              <a:t>how to control the system to a safe outcome </a:t>
            </a:r>
            <a:r>
              <a:rPr lang="en-US" sz="2000" dirty="0">
                <a:latin typeface="Arial Nova" panose="020B0604020202020204" pitchFamily="34" charset="0"/>
              </a:rPr>
              <a:t>in unsafe circumstances and what </a:t>
            </a:r>
            <a:r>
              <a:rPr lang="en-US" sz="2000" b="1" dirty="0">
                <a:latin typeface="Arial Nova" panose="020B0604020202020204" pitchFamily="34" charset="0"/>
              </a:rPr>
              <a:t>design/operational features </a:t>
            </a:r>
            <a:r>
              <a:rPr lang="en-US" sz="2000" dirty="0">
                <a:latin typeface="Arial Nova" panose="020B0604020202020204" pitchFamily="34" charset="0"/>
              </a:rPr>
              <a:t>we need to enable this control		</a:t>
            </a:r>
            <a:endParaRPr lang="en-US" sz="2000" b="1" dirty="0">
              <a:latin typeface="Arial Nov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78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26CB193-CC5A-4278-8295-36675E34E0DF}"/>
              </a:ext>
            </a:extLst>
          </p:cNvPr>
          <p:cNvCxnSpPr>
            <a:cxnSpLocks/>
          </p:cNvCxnSpPr>
          <p:nvPr/>
        </p:nvCxnSpPr>
        <p:spPr>
          <a:xfrm flipV="1">
            <a:off x="612590" y="3634893"/>
            <a:ext cx="10973896" cy="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6998740-AB07-475C-9D25-7D49572187AB}"/>
              </a:ext>
            </a:extLst>
          </p:cNvPr>
          <p:cNvSpPr txBox="1"/>
          <p:nvPr/>
        </p:nvSpPr>
        <p:spPr>
          <a:xfrm>
            <a:off x="566922" y="3632428"/>
            <a:ext cx="14911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Bahnschrift SemiBold" panose="020B0502040204020203" pitchFamily="34" charset="0"/>
              </a:rPr>
              <a:t>Proactive</a:t>
            </a:r>
          </a:p>
          <a:p>
            <a:pPr algn="r"/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Bahnschrift SemiBold" panose="020B0502040204020203" pitchFamily="34" charset="0"/>
              </a:rPr>
              <a:t>Design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049193-815A-423B-ADAF-091605594844}"/>
              </a:ext>
            </a:extLst>
          </p:cNvPr>
          <p:cNvSpPr txBox="1"/>
          <p:nvPr/>
        </p:nvSpPr>
        <p:spPr>
          <a:xfrm>
            <a:off x="651311" y="1833827"/>
            <a:ext cx="136447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Bahnschrift SemiBold" panose="020B0502040204020203" pitchFamily="34" charset="0"/>
              </a:rPr>
              <a:t>Reactive</a:t>
            </a:r>
          </a:p>
          <a:p>
            <a:pPr algn="r"/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Bahnschrift SemiBold" panose="020B0502040204020203" pitchFamily="34" charset="0"/>
              </a:rPr>
              <a:t>Design</a:t>
            </a:r>
            <a:endParaRPr lang="en-US" dirty="0">
              <a:solidFill>
                <a:schemeClr val="bg1">
                  <a:lumMod val="50000"/>
                </a:schemeClr>
              </a:solidFill>
              <a:latin typeface="Bahnschrift SemiBold" panose="020B0502040204020203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F790511-87B3-46FF-A129-98B127376086}"/>
              </a:ext>
            </a:extLst>
          </p:cNvPr>
          <p:cNvCxnSpPr>
            <a:cxnSpLocks/>
          </p:cNvCxnSpPr>
          <p:nvPr/>
        </p:nvCxnSpPr>
        <p:spPr>
          <a:xfrm flipH="1" flipV="1">
            <a:off x="2015787" y="1270221"/>
            <a:ext cx="1" cy="4323963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D08FB50-0D25-4F69-BA95-D2A84496BAB9}"/>
              </a:ext>
            </a:extLst>
          </p:cNvPr>
          <p:cNvCxnSpPr>
            <a:cxnSpLocks/>
          </p:cNvCxnSpPr>
          <p:nvPr/>
        </p:nvCxnSpPr>
        <p:spPr>
          <a:xfrm flipV="1">
            <a:off x="607464" y="1760123"/>
            <a:ext cx="10973896" cy="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CBA9A444-C1DA-41D7-BEAF-EF87CADCEDA1}"/>
              </a:ext>
            </a:extLst>
          </p:cNvPr>
          <p:cNvSpPr txBox="1"/>
          <p:nvPr/>
        </p:nvSpPr>
        <p:spPr>
          <a:xfrm>
            <a:off x="2015786" y="1270922"/>
            <a:ext cx="31574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Bahnschrift SemiBold" panose="020B0502040204020203" pitchFamily="34" charset="0"/>
              </a:rPr>
              <a:t>Concept Design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F4E0248-08A9-43C2-AC82-17C23582A46C}"/>
              </a:ext>
            </a:extLst>
          </p:cNvPr>
          <p:cNvSpPr txBox="1"/>
          <p:nvPr/>
        </p:nvSpPr>
        <p:spPr>
          <a:xfrm>
            <a:off x="5173266" y="1281712"/>
            <a:ext cx="32319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Bahnschrift SemiBold" panose="020B0502040204020203" pitchFamily="34" charset="0"/>
              </a:rPr>
              <a:t>Embodiment Design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F0EC5E-F22E-45B7-816C-48BE90F848C5}"/>
              </a:ext>
            </a:extLst>
          </p:cNvPr>
          <p:cNvSpPr txBox="1"/>
          <p:nvPr/>
        </p:nvSpPr>
        <p:spPr>
          <a:xfrm>
            <a:off x="8405171" y="1252016"/>
            <a:ext cx="31574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Bahnschrift SemiBold" panose="020B0502040204020203" pitchFamily="34" charset="0"/>
              </a:rPr>
              <a:t>Implementation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30F9C2B6-D898-4A14-81C1-6F4172DD5D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1851" y="2209421"/>
            <a:ext cx="1879025" cy="1298171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E775EFAE-BBA2-45B7-8726-43169A0076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7716" y="4106132"/>
            <a:ext cx="2174538" cy="1502334"/>
          </a:xfrm>
          <a:prstGeom prst="rect">
            <a:avLst/>
          </a:prstGeom>
        </p:spPr>
      </p:pic>
      <p:pic>
        <p:nvPicPr>
          <p:cNvPr id="28" name="Picture 27" descr="A close up of an engine&#10;&#10;Description automatically generated">
            <a:extLst>
              <a:ext uri="{FF2B5EF4-FFF2-40B4-BE49-F238E27FC236}">
                <a16:creationId xmlns:a16="http://schemas.microsoft.com/office/drawing/2014/main" id="{8EBADF3D-218D-44C8-89E2-8012DE949A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8973" y="2161858"/>
            <a:ext cx="1945713" cy="1267493"/>
          </a:xfrm>
          <a:prstGeom prst="rect">
            <a:avLst/>
          </a:prstGeom>
        </p:spPr>
      </p:pic>
      <p:pic>
        <p:nvPicPr>
          <p:cNvPr id="29" name="Picture 28" descr="A close up of an engine&#10;&#10;Description automatically generated">
            <a:extLst>
              <a:ext uri="{FF2B5EF4-FFF2-40B4-BE49-F238E27FC236}">
                <a16:creationId xmlns:a16="http://schemas.microsoft.com/office/drawing/2014/main" id="{DBE073DC-1694-481B-B47C-906F1A658C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080" y="4087412"/>
            <a:ext cx="2414061" cy="1572588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5DC59CCD-5C7C-4D35-8A99-35E3FD8295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1163" y="2446870"/>
            <a:ext cx="2828976" cy="779989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A7B72C1D-19CE-43F7-800A-9CAA28E025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8333" y="4264841"/>
            <a:ext cx="3011096" cy="830202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3FD83675-A76F-4272-AD3B-96FFBED154E9}"/>
              </a:ext>
            </a:extLst>
          </p:cNvPr>
          <p:cNvSpPr txBox="1"/>
          <p:nvPr/>
        </p:nvSpPr>
        <p:spPr>
          <a:xfrm>
            <a:off x="2015786" y="3650764"/>
            <a:ext cx="315747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C00000"/>
                </a:solidFill>
                <a:latin typeface="Bahnschrift SemiBold" panose="020B0502040204020203" pitchFamily="34" charset="0"/>
              </a:rPr>
              <a:t>Establish resilience approach</a:t>
            </a:r>
            <a:endParaRPr lang="en-US" sz="1600" dirty="0">
              <a:solidFill>
                <a:srgbClr val="C00000"/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DFD4E24-EE60-4271-88AB-507D8497EF0F}"/>
              </a:ext>
            </a:extLst>
          </p:cNvPr>
          <p:cNvSpPr txBox="1"/>
          <p:nvPr/>
        </p:nvSpPr>
        <p:spPr>
          <a:xfrm>
            <a:off x="5173267" y="3644467"/>
            <a:ext cx="32319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C00000"/>
                </a:solidFill>
                <a:latin typeface="Bahnschrift SemiBold" panose="020B0502040204020203" pitchFamily="34" charset="0"/>
              </a:rPr>
              <a:t>Integrate resilient features in design</a:t>
            </a:r>
            <a:endParaRPr lang="en-US" sz="1600" dirty="0">
              <a:solidFill>
                <a:srgbClr val="C00000"/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984858D-E724-4A77-80B4-FF2D0F704C7F}"/>
              </a:ext>
            </a:extLst>
          </p:cNvPr>
          <p:cNvSpPr txBox="1"/>
          <p:nvPr/>
        </p:nvSpPr>
        <p:spPr>
          <a:xfrm>
            <a:off x="8405173" y="3656351"/>
            <a:ext cx="31574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C00000"/>
                </a:solidFill>
                <a:latin typeface="Bahnschrift SemiBold" panose="020B0502040204020203" pitchFamily="34" charset="0"/>
              </a:rPr>
              <a:t>Verify resilient function</a:t>
            </a:r>
            <a:endParaRPr lang="en-US" sz="1600" dirty="0">
              <a:solidFill>
                <a:srgbClr val="C00000"/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DD54583-F142-4105-AB12-DFCCA31C903E}"/>
              </a:ext>
            </a:extLst>
          </p:cNvPr>
          <p:cNvSpPr txBox="1"/>
          <p:nvPr/>
        </p:nvSpPr>
        <p:spPr>
          <a:xfrm>
            <a:off x="2464084" y="3964762"/>
            <a:ext cx="4398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tx2">
                    <a:lumMod val="60000"/>
                    <a:lumOff val="40000"/>
                  </a:schemeClr>
                </a:solidFill>
                <a:latin typeface="Bahnschrift SemiBold" panose="020B0502040204020203" pitchFamily="34" charset="0"/>
              </a:rPr>
              <a:t>?</a:t>
            </a:r>
            <a:endParaRPr lang="en-US" sz="2400" dirty="0">
              <a:solidFill>
                <a:schemeClr val="tx2">
                  <a:lumMod val="60000"/>
                  <a:lumOff val="40000"/>
                </a:schemeClr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23A3A8F-5B2A-4A43-BEA4-99B5B1B767BF}"/>
              </a:ext>
            </a:extLst>
          </p:cNvPr>
          <p:cNvSpPr txBox="1"/>
          <p:nvPr/>
        </p:nvSpPr>
        <p:spPr>
          <a:xfrm>
            <a:off x="2623537" y="4848443"/>
            <a:ext cx="4398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tx2">
                    <a:lumMod val="60000"/>
                    <a:lumOff val="40000"/>
                  </a:schemeClr>
                </a:solidFill>
                <a:latin typeface="Bahnschrift SemiBold" panose="020B0502040204020203" pitchFamily="34" charset="0"/>
              </a:rPr>
              <a:t>?</a:t>
            </a:r>
            <a:endParaRPr lang="en-US" sz="2400" dirty="0">
              <a:solidFill>
                <a:schemeClr val="tx2">
                  <a:lumMod val="60000"/>
                  <a:lumOff val="40000"/>
                </a:schemeClr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AD8A68D-8787-4A62-A4C8-CFBBDE8A7AE9}"/>
              </a:ext>
            </a:extLst>
          </p:cNvPr>
          <p:cNvSpPr txBox="1"/>
          <p:nvPr/>
        </p:nvSpPr>
        <p:spPr>
          <a:xfrm>
            <a:off x="3506901" y="4327121"/>
            <a:ext cx="4398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tx2">
                    <a:lumMod val="60000"/>
                    <a:lumOff val="40000"/>
                  </a:schemeClr>
                </a:solidFill>
                <a:latin typeface="Bahnschrift SemiBold" panose="020B0502040204020203" pitchFamily="34" charset="0"/>
              </a:rPr>
              <a:t>?</a:t>
            </a:r>
            <a:endParaRPr lang="en-US" sz="2400" dirty="0">
              <a:solidFill>
                <a:schemeClr val="tx2">
                  <a:lumMod val="60000"/>
                  <a:lumOff val="40000"/>
                </a:schemeClr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0EF22B8-0872-47D5-85FB-560F137C25BB}"/>
              </a:ext>
            </a:extLst>
          </p:cNvPr>
          <p:cNvSpPr txBox="1"/>
          <p:nvPr/>
        </p:nvSpPr>
        <p:spPr>
          <a:xfrm>
            <a:off x="3905694" y="4909244"/>
            <a:ext cx="4398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tx2">
                    <a:lumMod val="60000"/>
                    <a:lumOff val="40000"/>
                  </a:schemeClr>
                </a:solidFill>
                <a:latin typeface="Bahnschrift SemiBold" panose="020B0502040204020203" pitchFamily="34" charset="0"/>
              </a:rPr>
              <a:t>?</a:t>
            </a:r>
            <a:endParaRPr lang="en-US" sz="2400" dirty="0">
              <a:solidFill>
                <a:schemeClr val="tx2">
                  <a:lumMod val="60000"/>
                  <a:lumOff val="40000"/>
                </a:schemeClr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234DD3A-2CA9-4CF4-8C3C-6307109C2A37}"/>
              </a:ext>
            </a:extLst>
          </p:cNvPr>
          <p:cNvSpPr txBox="1"/>
          <p:nvPr/>
        </p:nvSpPr>
        <p:spPr>
          <a:xfrm>
            <a:off x="4327336" y="4000510"/>
            <a:ext cx="4398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tx2">
                    <a:lumMod val="60000"/>
                    <a:lumOff val="40000"/>
                  </a:schemeClr>
                </a:solidFill>
                <a:latin typeface="Bahnschrift SemiBold" panose="020B0502040204020203" pitchFamily="34" charset="0"/>
              </a:rPr>
              <a:t>?</a:t>
            </a:r>
            <a:endParaRPr lang="en-US" sz="2400" dirty="0">
              <a:solidFill>
                <a:schemeClr val="tx2">
                  <a:lumMod val="60000"/>
                  <a:lumOff val="40000"/>
                </a:schemeClr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0D25BF0-A926-4A13-8B7A-A532AA26B26F}"/>
              </a:ext>
            </a:extLst>
          </p:cNvPr>
          <p:cNvSpPr txBox="1"/>
          <p:nvPr/>
        </p:nvSpPr>
        <p:spPr>
          <a:xfrm>
            <a:off x="8414534" y="1772009"/>
            <a:ext cx="31574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C00000"/>
                </a:solidFill>
                <a:latin typeface="Bahnschrift SemiBold" panose="020B0502040204020203" pitchFamily="34" charset="0"/>
              </a:rPr>
              <a:t>Retrofit for resilience</a:t>
            </a:r>
            <a:endParaRPr lang="en-US" sz="1600" dirty="0">
              <a:solidFill>
                <a:srgbClr val="C00000"/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8BE14E3-8887-47FE-8D24-868CD8FD1E25}"/>
              </a:ext>
            </a:extLst>
          </p:cNvPr>
          <p:cNvSpPr txBox="1"/>
          <p:nvPr/>
        </p:nvSpPr>
        <p:spPr>
          <a:xfrm>
            <a:off x="10561167" y="2884067"/>
            <a:ext cx="4398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tx2">
                    <a:lumMod val="60000"/>
                    <a:lumOff val="40000"/>
                  </a:schemeClr>
                </a:solidFill>
                <a:latin typeface="Bahnschrift SemiBold" panose="020B0502040204020203" pitchFamily="34" charset="0"/>
              </a:rPr>
              <a:t>?</a:t>
            </a:r>
            <a:endParaRPr lang="en-US" sz="2400" dirty="0">
              <a:solidFill>
                <a:schemeClr val="tx2">
                  <a:lumMod val="60000"/>
                  <a:lumOff val="40000"/>
                </a:schemeClr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69C857B-188A-4C1C-8696-E4177A71FC8C}"/>
              </a:ext>
            </a:extLst>
          </p:cNvPr>
          <p:cNvSpPr txBox="1"/>
          <p:nvPr/>
        </p:nvSpPr>
        <p:spPr>
          <a:xfrm>
            <a:off x="8829032" y="2140683"/>
            <a:ext cx="4398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tx2">
                    <a:lumMod val="60000"/>
                    <a:lumOff val="40000"/>
                  </a:schemeClr>
                </a:solidFill>
                <a:latin typeface="Bahnschrift SemiBold" panose="020B0502040204020203" pitchFamily="34" charset="0"/>
              </a:rPr>
              <a:t>?</a:t>
            </a:r>
            <a:endParaRPr lang="en-US" sz="2400" dirty="0">
              <a:solidFill>
                <a:schemeClr val="tx2">
                  <a:lumMod val="60000"/>
                  <a:lumOff val="40000"/>
                </a:schemeClr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EE833FF-948B-4EEC-B133-F0C593033907}"/>
              </a:ext>
            </a:extLst>
          </p:cNvPr>
          <p:cNvSpPr txBox="1"/>
          <p:nvPr/>
        </p:nvSpPr>
        <p:spPr>
          <a:xfrm>
            <a:off x="8889087" y="3034642"/>
            <a:ext cx="4398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tx2">
                    <a:lumMod val="60000"/>
                    <a:lumOff val="40000"/>
                  </a:schemeClr>
                </a:solidFill>
                <a:latin typeface="Bahnschrift SemiBold" panose="020B0502040204020203" pitchFamily="34" charset="0"/>
              </a:rPr>
              <a:t>?</a:t>
            </a:r>
            <a:endParaRPr lang="en-US" sz="2400" dirty="0">
              <a:solidFill>
                <a:schemeClr val="tx2">
                  <a:lumMod val="60000"/>
                  <a:lumOff val="40000"/>
                </a:schemeClr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37028B1-C521-4D60-871A-CE914221A2CA}"/>
              </a:ext>
            </a:extLst>
          </p:cNvPr>
          <p:cNvSpPr txBox="1"/>
          <p:nvPr/>
        </p:nvSpPr>
        <p:spPr>
          <a:xfrm>
            <a:off x="9909821" y="1976749"/>
            <a:ext cx="4398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tx2">
                    <a:lumMod val="60000"/>
                    <a:lumOff val="40000"/>
                  </a:schemeClr>
                </a:solidFill>
                <a:latin typeface="Bahnschrift SemiBold" panose="020B0502040204020203" pitchFamily="34" charset="0"/>
              </a:rPr>
              <a:t>?</a:t>
            </a:r>
            <a:endParaRPr lang="en-US" sz="2400" dirty="0">
              <a:solidFill>
                <a:schemeClr val="tx2">
                  <a:lumMod val="60000"/>
                  <a:lumOff val="40000"/>
                </a:schemeClr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9CD9F35-42D2-4F69-B512-BD9CBD0B4441}"/>
              </a:ext>
            </a:extLst>
          </p:cNvPr>
          <p:cNvSpPr txBox="1"/>
          <p:nvPr/>
        </p:nvSpPr>
        <p:spPr>
          <a:xfrm>
            <a:off x="5210486" y="1762639"/>
            <a:ext cx="31574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C00000"/>
                </a:solidFill>
                <a:latin typeface="Bahnschrift SemiBold" panose="020B0502040204020203" pitchFamily="34" charset="0"/>
              </a:rPr>
              <a:t>Design system</a:t>
            </a:r>
            <a:endParaRPr lang="en-US" sz="1600" dirty="0">
              <a:solidFill>
                <a:srgbClr val="C00000"/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761CEB4-48E5-4703-98ED-F517A0EBB71B}"/>
              </a:ext>
            </a:extLst>
          </p:cNvPr>
          <p:cNvSpPr txBox="1"/>
          <p:nvPr/>
        </p:nvSpPr>
        <p:spPr>
          <a:xfrm>
            <a:off x="2015802" y="1772848"/>
            <a:ext cx="31574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C00000"/>
                </a:solidFill>
                <a:latin typeface="Bahnschrift SemiBold" panose="020B0502040204020203" pitchFamily="34" charset="0"/>
              </a:rPr>
              <a:t>Choose concept</a:t>
            </a:r>
            <a:endParaRPr lang="en-US" sz="1600" dirty="0">
              <a:solidFill>
                <a:srgbClr val="C00000"/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BB107CD-1218-4260-A00F-F980DFD7EB40}"/>
              </a:ext>
            </a:extLst>
          </p:cNvPr>
          <p:cNvSpPr txBox="1"/>
          <p:nvPr/>
        </p:nvSpPr>
        <p:spPr>
          <a:xfrm>
            <a:off x="8798925" y="5285180"/>
            <a:ext cx="4398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tx2">
                    <a:lumMod val="60000"/>
                    <a:lumOff val="40000"/>
                  </a:schemeClr>
                </a:solidFill>
                <a:latin typeface="Bahnschrift SemiBold" panose="020B0502040204020203" pitchFamily="34" charset="0"/>
              </a:rPr>
              <a:t>✔</a:t>
            </a:r>
            <a:endParaRPr lang="en-US" sz="2400" dirty="0">
              <a:solidFill>
                <a:schemeClr val="tx2">
                  <a:lumMod val="60000"/>
                  <a:lumOff val="40000"/>
                </a:schemeClr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A154123-1329-4104-B613-09C8FC1A5512}"/>
              </a:ext>
            </a:extLst>
          </p:cNvPr>
          <p:cNvSpPr txBox="1"/>
          <p:nvPr/>
        </p:nvSpPr>
        <p:spPr>
          <a:xfrm>
            <a:off x="8878091" y="3979899"/>
            <a:ext cx="4398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tx2">
                    <a:lumMod val="60000"/>
                    <a:lumOff val="40000"/>
                  </a:schemeClr>
                </a:solidFill>
                <a:latin typeface="Bahnschrift SemiBold" panose="020B0502040204020203" pitchFamily="34" charset="0"/>
              </a:rPr>
              <a:t>✔</a:t>
            </a:r>
            <a:endParaRPr lang="en-US" sz="2400" dirty="0">
              <a:solidFill>
                <a:schemeClr val="tx2">
                  <a:lumMod val="60000"/>
                  <a:lumOff val="40000"/>
                </a:schemeClr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8E4BD47-3CF0-4F30-AA34-7FE774FC0B4C}"/>
              </a:ext>
            </a:extLst>
          </p:cNvPr>
          <p:cNvSpPr txBox="1"/>
          <p:nvPr/>
        </p:nvSpPr>
        <p:spPr>
          <a:xfrm>
            <a:off x="10440838" y="4957216"/>
            <a:ext cx="4398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tx2">
                    <a:lumMod val="60000"/>
                    <a:lumOff val="40000"/>
                  </a:schemeClr>
                </a:solidFill>
                <a:latin typeface="Bahnschrift SemiBold" panose="020B0502040204020203" pitchFamily="34" charset="0"/>
              </a:rPr>
              <a:t>✔</a:t>
            </a:r>
            <a:endParaRPr lang="en-US" sz="2400" dirty="0">
              <a:solidFill>
                <a:schemeClr val="tx2">
                  <a:lumMod val="60000"/>
                  <a:lumOff val="40000"/>
                </a:schemeClr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995DB36-EE63-4B53-9112-8A5FCA6401DD}"/>
              </a:ext>
            </a:extLst>
          </p:cNvPr>
          <p:cNvSpPr txBox="1"/>
          <p:nvPr/>
        </p:nvSpPr>
        <p:spPr>
          <a:xfrm>
            <a:off x="10014709" y="3889780"/>
            <a:ext cx="4398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tx2">
                    <a:lumMod val="60000"/>
                    <a:lumOff val="40000"/>
                  </a:schemeClr>
                </a:solidFill>
                <a:latin typeface="Bahnschrift SemiBold" panose="020B0502040204020203" pitchFamily="34" charset="0"/>
              </a:rPr>
              <a:t>✔</a:t>
            </a:r>
            <a:endParaRPr lang="en-US" sz="2400" dirty="0">
              <a:solidFill>
                <a:schemeClr val="tx2">
                  <a:lumMod val="60000"/>
                  <a:lumOff val="40000"/>
                </a:schemeClr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BA43B10-F27A-49B8-A2A4-5C54595AB281}"/>
              </a:ext>
            </a:extLst>
          </p:cNvPr>
          <p:cNvSpPr txBox="1"/>
          <p:nvPr/>
        </p:nvSpPr>
        <p:spPr>
          <a:xfrm>
            <a:off x="5904697" y="5423394"/>
            <a:ext cx="6615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  <a:latin typeface="Bahnschrift SemiBold" panose="020B0502040204020203" pitchFamily="34" charset="0"/>
              </a:rPr>
              <a:t>S1</a:t>
            </a:r>
            <a:endParaRPr lang="en-US" dirty="0">
              <a:solidFill>
                <a:schemeClr val="tx2">
                  <a:lumMod val="60000"/>
                  <a:lumOff val="40000"/>
                </a:schemeClr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112ADE2-CE99-40C8-B7C9-BAE4B314E294}"/>
              </a:ext>
            </a:extLst>
          </p:cNvPr>
          <p:cNvSpPr txBox="1"/>
          <p:nvPr/>
        </p:nvSpPr>
        <p:spPr>
          <a:xfrm>
            <a:off x="7110886" y="5384879"/>
            <a:ext cx="6615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  <a:latin typeface="Bahnschrift SemiBold" panose="020B0502040204020203" pitchFamily="34" charset="0"/>
              </a:rPr>
              <a:t>S2</a:t>
            </a:r>
            <a:endParaRPr lang="en-US" dirty="0">
              <a:solidFill>
                <a:schemeClr val="tx2">
                  <a:lumMod val="60000"/>
                  <a:lumOff val="40000"/>
                </a:schemeClr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93B8DCD-011F-4410-AB30-5E368ACC6115}"/>
              </a:ext>
            </a:extLst>
          </p:cNvPr>
          <p:cNvSpPr txBox="1"/>
          <p:nvPr/>
        </p:nvSpPr>
        <p:spPr>
          <a:xfrm>
            <a:off x="7493922" y="4038375"/>
            <a:ext cx="6615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  <a:latin typeface="Bahnschrift SemiBold" panose="020B0502040204020203" pitchFamily="34" charset="0"/>
              </a:rPr>
              <a:t>S3</a:t>
            </a:r>
            <a:endParaRPr lang="en-US" dirty="0">
              <a:solidFill>
                <a:schemeClr val="tx2">
                  <a:lumMod val="60000"/>
                  <a:lumOff val="40000"/>
                </a:schemeClr>
              </a:solidFill>
              <a:latin typeface="Bahnschrift SemiBold" panose="020B0502040204020203" pitchFamily="34" charset="0"/>
            </a:endParaRP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4F3B55D-37A1-4A50-8220-59E93F8D413E}"/>
              </a:ext>
            </a:extLst>
          </p:cNvPr>
          <p:cNvCxnSpPr>
            <a:cxnSpLocks/>
          </p:cNvCxnSpPr>
          <p:nvPr/>
        </p:nvCxnSpPr>
        <p:spPr>
          <a:xfrm flipV="1">
            <a:off x="6327444" y="4957216"/>
            <a:ext cx="488503" cy="579857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A083FB34-F7B7-45C2-A0F8-30E5DA0654E9}"/>
              </a:ext>
            </a:extLst>
          </p:cNvPr>
          <p:cNvCxnSpPr>
            <a:cxnSpLocks/>
          </p:cNvCxnSpPr>
          <p:nvPr/>
        </p:nvCxnSpPr>
        <p:spPr>
          <a:xfrm flipH="1" flipV="1">
            <a:off x="7172711" y="5012737"/>
            <a:ext cx="241319" cy="444098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FF6B22DD-FEFA-42FD-9791-41FB5BD51A1D}"/>
              </a:ext>
            </a:extLst>
          </p:cNvPr>
          <p:cNvCxnSpPr>
            <a:cxnSpLocks/>
          </p:cNvCxnSpPr>
          <p:nvPr/>
        </p:nvCxnSpPr>
        <p:spPr>
          <a:xfrm flipH="1">
            <a:off x="7304213" y="4393628"/>
            <a:ext cx="329484" cy="286314"/>
          </a:xfrm>
          <a:prstGeom prst="straightConnector1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>
            <a:extLst>
              <a:ext uri="{FF2B5EF4-FFF2-40B4-BE49-F238E27FC236}">
                <a16:creationId xmlns:a16="http://schemas.microsoft.com/office/drawing/2014/main" id="{0D05F7FE-8FE9-4FF1-B3A6-8EDA28CCD4A3}"/>
              </a:ext>
            </a:extLst>
          </p:cNvPr>
          <p:cNvSpPr/>
          <p:nvPr/>
        </p:nvSpPr>
        <p:spPr>
          <a:xfrm>
            <a:off x="1899137" y="3213269"/>
            <a:ext cx="3401837" cy="2647031"/>
          </a:xfrm>
          <a:prstGeom prst="ellipse">
            <a:avLst/>
          </a:prstGeom>
          <a:noFill/>
          <a:ln w="38100"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C34AF2A-F48C-4D03-8326-044E852396F0}"/>
              </a:ext>
            </a:extLst>
          </p:cNvPr>
          <p:cNvSpPr/>
          <p:nvPr/>
        </p:nvSpPr>
        <p:spPr>
          <a:xfrm>
            <a:off x="566922" y="5756198"/>
            <a:ext cx="10515585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Bahnschrift Light Condensed" panose="020B0502040204020203" pitchFamily="34" charset="0"/>
              </a:rPr>
              <a:t>Image 1 &amp; 2 Credit: 	User’s Guide for the Commercial Modular Aero-Propulsion System Simulation (C-MAPSS)</a:t>
            </a:r>
          </a:p>
          <a:p>
            <a:r>
              <a:rPr lang="en-US" dirty="0">
                <a:latin typeface="Bahnschrift Light Condensed" panose="020B0502040204020203" pitchFamily="34" charset="0"/>
              </a:rPr>
              <a:t>Image 3 Credit: 		https://en.wikipedia.org/wiki/File:General_Electric_Passport.jpg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5818-B191-4477-A464-B3BACE7AC7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7682" y="513940"/>
            <a:ext cx="10515600" cy="660083"/>
          </a:xfrm>
          <a:solidFill>
            <a:schemeClr val="accent1">
              <a:lumMod val="20000"/>
              <a:lumOff val="80000"/>
            </a:schemeClr>
          </a:solidFill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600" dirty="0"/>
              <a:t>Idea: the system should be </a:t>
            </a:r>
            <a:r>
              <a:rPr lang="en-US" sz="3600" b="1" dirty="0"/>
              <a:t>resilient-by-design</a:t>
            </a:r>
          </a:p>
        </p:txBody>
      </p:sp>
    </p:spTree>
    <p:extLst>
      <p:ext uri="{BB962C8B-B14F-4D97-AF65-F5344CB8AC3E}">
        <p14:creationId xmlns:p14="http://schemas.microsoft.com/office/powerpoint/2010/main" val="1343228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2" grpId="0"/>
      <p:bldP spid="53" grpId="0"/>
      <p:bldP spid="57" grpId="0" animBg="1"/>
      <p:bldP spid="3" grpId="0" uiExpand="1" build="p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owchart: Process 3">
            <a:extLst>
              <a:ext uri="{FF2B5EF4-FFF2-40B4-BE49-F238E27FC236}">
                <a16:creationId xmlns:a16="http://schemas.microsoft.com/office/drawing/2014/main" id="{1540383C-3EA8-4ED8-9A70-A40F3DD1A822}"/>
              </a:ext>
            </a:extLst>
          </p:cNvPr>
          <p:cNvSpPr/>
          <p:nvPr/>
        </p:nvSpPr>
        <p:spPr>
          <a:xfrm>
            <a:off x="631774" y="4328655"/>
            <a:ext cx="3380504" cy="1892077"/>
          </a:xfrm>
          <a:prstGeom prst="flowChartProcess">
            <a:avLst/>
          </a:prstGeom>
          <a:solidFill>
            <a:schemeClr val="bg1"/>
          </a:solidFill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Definition Packages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/define/block/function.py, 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/define/container/state.py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/define/flow/base.py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/define/architecture/function.py 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/define/container/mode.py, … </a:t>
            </a:r>
          </a:p>
        </p:txBody>
      </p:sp>
      <p:sp>
        <p:nvSpPr>
          <p:cNvPr id="5" name="Flowchart: Process 4">
            <a:extLst>
              <a:ext uri="{FF2B5EF4-FFF2-40B4-BE49-F238E27FC236}">
                <a16:creationId xmlns:a16="http://schemas.microsoft.com/office/drawing/2014/main" id="{3D3BE12B-6349-4563-B46E-86C629E58B2A}"/>
              </a:ext>
            </a:extLst>
          </p:cNvPr>
          <p:cNvSpPr/>
          <p:nvPr/>
        </p:nvSpPr>
        <p:spPr>
          <a:xfrm>
            <a:off x="816427" y="639165"/>
            <a:ext cx="3005832" cy="2503504"/>
          </a:xfrm>
          <a:prstGeom prst="flowChartProcess">
            <a:avLst/>
          </a:prstGeom>
          <a:solidFill>
            <a:schemeClr val="bg1"/>
          </a:solidFill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System Model File: </a:t>
            </a:r>
            <a:r>
              <a:rPr lang="en-US" dirty="0">
                <a:solidFill>
                  <a:schemeClr val="tx1"/>
                </a:solidFill>
              </a:rPr>
              <a:t>model.py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tx1"/>
                </a:solidFill>
              </a:rPr>
              <a:t>State Classes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tx1"/>
                </a:solidFill>
              </a:rPr>
              <a:t>Flow Classes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tx1"/>
                </a:solidFill>
              </a:rPr>
              <a:t>Function Classes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tx1"/>
                </a:solidFill>
              </a:rPr>
              <a:t>Mode Classes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tx1"/>
                </a:solidFill>
              </a:rPr>
              <a:t>Model Classes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tx1"/>
                </a:solidFill>
              </a:rPr>
              <a:t>Parameter Classes</a:t>
            </a:r>
          </a:p>
          <a:p>
            <a:pPr marL="285750" indent="-285750">
              <a:buFontTx/>
              <a:buChar char="-"/>
            </a:pPr>
            <a:r>
              <a:rPr lang="en-US" dirty="0" err="1">
                <a:solidFill>
                  <a:schemeClr val="tx1"/>
                </a:solidFill>
              </a:rPr>
              <a:t>etc</a:t>
            </a:r>
            <a:r>
              <a:rPr lang="en-US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6" name="Flowchart: Process 5">
            <a:extLst>
              <a:ext uri="{FF2B5EF4-FFF2-40B4-BE49-F238E27FC236}">
                <a16:creationId xmlns:a16="http://schemas.microsoft.com/office/drawing/2014/main" id="{6B31D56D-D92D-4C53-A275-5E2248801105}"/>
              </a:ext>
            </a:extLst>
          </p:cNvPr>
          <p:cNvSpPr/>
          <p:nvPr/>
        </p:nvSpPr>
        <p:spPr>
          <a:xfrm>
            <a:off x="5325175" y="633021"/>
            <a:ext cx="6186088" cy="2503503"/>
          </a:xfrm>
          <a:prstGeom prst="flowChartProcess">
            <a:avLst/>
          </a:prstGeom>
          <a:solidFill>
            <a:schemeClr val="bg1"/>
          </a:solidFill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Analysis Script: </a:t>
            </a:r>
            <a:r>
              <a:rPr lang="en-US" dirty="0">
                <a:solidFill>
                  <a:schemeClr val="tx1"/>
                </a:solidFill>
              </a:rPr>
              <a:t>Script.py or </a:t>
            </a:r>
            <a:r>
              <a:rPr lang="en-US" dirty="0" err="1">
                <a:solidFill>
                  <a:schemeClr val="tx1"/>
                </a:solidFill>
              </a:rPr>
              <a:t>Notebook.ipynb</a:t>
            </a:r>
            <a:endParaRPr lang="en-US" dirty="0">
              <a:solidFill>
                <a:schemeClr val="tx1"/>
              </a:solidFill>
            </a:endParaRP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tx1"/>
                </a:solidFill>
              </a:rPr>
              <a:t>Model instantiation (e.g. mdl = Model())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tx1"/>
                </a:solidFill>
              </a:rPr>
              <a:t>Simulation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tx1"/>
                </a:solidFill>
              </a:rPr>
              <a:t>result, history = </a:t>
            </a:r>
            <a:r>
              <a:rPr lang="en-US" dirty="0" err="1">
                <a:solidFill>
                  <a:schemeClr val="tx1"/>
                </a:solidFill>
              </a:rPr>
              <a:t>propagate.one_fault</a:t>
            </a:r>
            <a:r>
              <a:rPr lang="en-US" dirty="0">
                <a:solidFill>
                  <a:schemeClr val="tx1"/>
                </a:solidFill>
              </a:rPr>
              <a:t>(mdl, fault, t) …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tx1"/>
                </a:solidFill>
              </a:rPr>
              <a:t>Results processing and visualization</a:t>
            </a:r>
          </a:p>
          <a:p>
            <a:pPr marL="742950" lvl="1" indent="-285750">
              <a:buFontTx/>
              <a:buChar char="-"/>
            </a:pPr>
            <a:r>
              <a:rPr lang="en-US" dirty="0" err="1">
                <a:solidFill>
                  <a:schemeClr val="tx1"/>
                </a:solidFill>
              </a:rPr>
              <a:t>ModelGraph</a:t>
            </a:r>
            <a:r>
              <a:rPr lang="en-US" dirty="0">
                <a:solidFill>
                  <a:schemeClr val="tx1"/>
                </a:solidFill>
              </a:rPr>
              <a:t>(mdl).draw()</a:t>
            </a:r>
          </a:p>
          <a:p>
            <a:pPr marL="742950" lvl="1" indent="-285750">
              <a:buFontTx/>
              <a:buChar char="-"/>
            </a:pPr>
            <a:r>
              <a:rPr lang="en-US" dirty="0" err="1">
                <a:solidFill>
                  <a:schemeClr val="tx1"/>
                </a:solidFill>
              </a:rPr>
              <a:t>History.plot_line</a:t>
            </a:r>
            <a:r>
              <a:rPr lang="en-US" dirty="0">
                <a:solidFill>
                  <a:schemeClr val="tx1"/>
                </a:solidFill>
              </a:rPr>
              <a:t>(‘value’)</a:t>
            </a:r>
          </a:p>
          <a:p>
            <a:pPr marL="742950" lvl="1" indent="-285750">
              <a:buFontTx/>
              <a:buChar char="-"/>
            </a:pPr>
            <a:r>
              <a:rPr lang="en-US" dirty="0" err="1">
                <a:solidFill>
                  <a:schemeClr val="tx1"/>
                </a:solidFill>
              </a:rPr>
              <a:t>etc</a:t>
            </a:r>
            <a:r>
              <a:rPr lang="en-US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8" name="Flowchart: Process 7">
            <a:extLst>
              <a:ext uri="{FF2B5EF4-FFF2-40B4-BE49-F238E27FC236}">
                <a16:creationId xmlns:a16="http://schemas.microsoft.com/office/drawing/2014/main" id="{1122B242-5CD6-42DB-A53F-231BB3191CF2}"/>
              </a:ext>
            </a:extLst>
          </p:cNvPr>
          <p:cNvSpPr/>
          <p:nvPr/>
        </p:nvSpPr>
        <p:spPr>
          <a:xfrm>
            <a:off x="5281631" y="4912807"/>
            <a:ext cx="2423604" cy="1300389"/>
          </a:xfrm>
          <a:prstGeom prst="flowChartProcess">
            <a:avLst/>
          </a:prstGeom>
          <a:solidFill>
            <a:schemeClr val="bg1"/>
          </a:solidFill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Simulation Modules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/sim/propagate.py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/sim/sample.py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/sim/search.py</a:t>
            </a:r>
          </a:p>
        </p:txBody>
      </p:sp>
      <p:sp>
        <p:nvSpPr>
          <p:cNvPr id="9" name="Flowchart: Process 8">
            <a:extLst>
              <a:ext uri="{FF2B5EF4-FFF2-40B4-BE49-F238E27FC236}">
                <a16:creationId xmlns:a16="http://schemas.microsoft.com/office/drawing/2014/main" id="{21CD0CAC-98C0-4442-9753-3738841B0D2F}"/>
              </a:ext>
            </a:extLst>
          </p:cNvPr>
          <p:cNvSpPr/>
          <p:nvPr/>
        </p:nvSpPr>
        <p:spPr>
          <a:xfrm>
            <a:off x="8440370" y="4912807"/>
            <a:ext cx="2538707" cy="1300389"/>
          </a:xfrm>
          <a:prstGeom prst="flowChartProcess">
            <a:avLst/>
          </a:prstGeom>
          <a:solidFill>
            <a:schemeClr val="bg1"/>
          </a:solidFill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Analysis Modules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/analyze/phases.py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/analyze/tabulate.py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/analyze/phases.py …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0F478BC-6B51-407E-A838-C81F687395CA}"/>
              </a:ext>
            </a:extLst>
          </p:cNvPr>
          <p:cNvCxnSpPr>
            <a:cxnSpLocks/>
            <a:stCxn id="4" idx="0"/>
            <a:endCxn id="5" idx="2"/>
          </p:cNvCxnSpPr>
          <p:nvPr/>
        </p:nvCxnSpPr>
        <p:spPr>
          <a:xfrm flipH="1" flipV="1">
            <a:off x="2319343" y="3142669"/>
            <a:ext cx="2683" cy="1185986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B512B11-1004-426B-A592-9EE37D5D6225}"/>
              </a:ext>
            </a:extLst>
          </p:cNvPr>
          <p:cNvSpPr txBox="1"/>
          <p:nvPr/>
        </p:nvSpPr>
        <p:spPr>
          <a:xfrm>
            <a:off x="816427" y="3472336"/>
            <a:ext cx="3005832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/>
              <a:t>FunctionArchitecture</a:t>
            </a:r>
            <a:r>
              <a:rPr lang="en-US" dirty="0"/>
              <a:t>, Function, Flow, State…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182FAAB-3F9F-45B5-B4B6-8A63E25BA068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3822259" y="1884773"/>
            <a:ext cx="1502916" cy="6144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382B6BE-68F7-42D9-A836-B5601F2DAE17}"/>
              </a:ext>
            </a:extLst>
          </p:cNvPr>
          <p:cNvSpPr txBox="1"/>
          <p:nvPr/>
        </p:nvSpPr>
        <p:spPr>
          <a:xfrm>
            <a:off x="4012278" y="1561606"/>
            <a:ext cx="893321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Model</a:t>
            </a:r>
          </a:p>
          <a:p>
            <a:r>
              <a:rPr lang="en-US" dirty="0"/>
              <a:t>Class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684030B-ACD1-49E9-BFF7-F3573FA82298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6493433" y="3136524"/>
            <a:ext cx="0" cy="1776283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223216-9717-4C42-94B9-1626AFE49D5D}"/>
              </a:ext>
            </a:extLst>
          </p:cNvPr>
          <p:cNvCxnSpPr>
            <a:cxnSpLocks/>
            <a:stCxn id="9" idx="0"/>
          </p:cNvCxnSpPr>
          <p:nvPr/>
        </p:nvCxnSpPr>
        <p:spPr>
          <a:xfrm flipV="1">
            <a:off x="9709724" y="3203750"/>
            <a:ext cx="0" cy="1709057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1CA3C83-A594-412D-9259-73E7F167A2BA}"/>
              </a:ext>
            </a:extLst>
          </p:cNvPr>
          <p:cNvSpPr txBox="1"/>
          <p:nvPr/>
        </p:nvSpPr>
        <p:spPr>
          <a:xfrm>
            <a:off x="5543604" y="3655562"/>
            <a:ext cx="2080732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/>
              <a:t>ParameterSample</a:t>
            </a:r>
            <a:r>
              <a:rPr lang="en-US" dirty="0"/>
              <a:t>, </a:t>
            </a:r>
            <a:r>
              <a:rPr lang="en-US" dirty="0" err="1"/>
              <a:t>one_fault</a:t>
            </a:r>
            <a:r>
              <a:rPr lang="en-US" dirty="0"/>
              <a:t>(),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321BB88-BD25-F257-C447-D28801EDCAC1}"/>
              </a:ext>
            </a:extLst>
          </p:cNvPr>
          <p:cNvSpPr txBox="1"/>
          <p:nvPr/>
        </p:nvSpPr>
        <p:spPr>
          <a:xfrm>
            <a:off x="8679498" y="3655562"/>
            <a:ext cx="2080732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/>
              <a:t>PhaseMap</a:t>
            </a:r>
            <a:r>
              <a:rPr lang="en-US" dirty="0"/>
              <a:t>,</a:t>
            </a:r>
          </a:p>
          <a:p>
            <a:r>
              <a:rPr lang="en-US" dirty="0" err="1"/>
              <a:t>fmea</a:t>
            </a:r>
            <a:r>
              <a:rPr lang="en-US" dirty="0"/>
              <a:t>(),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8909963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686D203-4C4C-408C-AAA4-C2AB373AFBE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65" b="1124"/>
          <a:stretch/>
        </p:blipFill>
        <p:spPr>
          <a:xfrm>
            <a:off x="2361091" y="225993"/>
            <a:ext cx="6230834" cy="5905269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F2659D8-B2DB-4752-A8B3-2489B08AE953}"/>
              </a:ext>
            </a:extLst>
          </p:cNvPr>
          <p:cNvSpPr/>
          <p:nvPr/>
        </p:nvSpPr>
        <p:spPr>
          <a:xfrm>
            <a:off x="2361090" y="1573328"/>
            <a:ext cx="3392559" cy="1371485"/>
          </a:xfrm>
          <a:prstGeom prst="rect">
            <a:avLst/>
          </a:prstGeom>
          <a:noFill/>
          <a:ln w="3810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FDC62A0-2F61-4A71-A0B1-60E9AAEFB4E8}"/>
              </a:ext>
            </a:extLst>
          </p:cNvPr>
          <p:cNvSpPr/>
          <p:nvPr/>
        </p:nvSpPr>
        <p:spPr>
          <a:xfrm>
            <a:off x="5887874" y="467380"/>
            <a:ext cx="2190530" cy="2575726"/>
          </a:xfrm>
          <a:prstGeom prst="rect">
            <a:avLst/>
          </a:prstGeom>
          <a:noFill/>
          <a:ln w="3810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F3C9141-FEA2-4C3F-B992-0024BBBAE2C1}"/>
              </a:ext>
            </a:extLst>
          </p:cNvPr>
          <p:cNvSpPr/>
          <p:nvPr/>
        </p:nvSpPr>
        <p:spPr>
          <a:xfrm>
            <a:off x="2361090" y="3143995"/>
            <a:ext cx="6291461" cy="1402737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E876322-5CBC-4F55-B504-B1CE63E97F0E}"/>
              </a:ext>
            </a:extLst>
          </p:cNvPr>
          <p:cNvSpPr/>
          <p:nvPr/>
        </p:nvSpPr>
        <p:spPr>
          <a:xfrm>
            <a:off x="4386244" y="4781549"/>
            <a:ext cx="2105638" cy="1371485"/>
          </a:xfrm>
          <a:prstGeom prst="rect">
            <a:avLst/>
          </a:prstGeom>
          <a:noFill/>
          <a:ln w="381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399FEAA-0EA3-466E-88AC-F01798A9A3CD}"/>
              </a:ext>
            </a:extLst>
          </p:cNvPr>
          <p:cNvSpPr/>
          <p:nvPr/>
        </p:nvSpPr>
        <p:spPr>
          <a:xfrm>
            <a:off x="3440297" y="5113229"/>
            <a:ext cx="945947" cy="546661"/>
          </a:xfrm>
          <a:prstGeom prst="rect">
            <a:avLst/>
          </a:pr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00AC886-4F04-41AB-857D-ECE02726E195}"/>
              </a:ext>
            </a:extLst>
          </p:cNvPr>
          <p:cNvSpPr/>
          <p:nvPr/>
        </p:nvSpPr>
        <p:spPr>
          <a:xfrm>
            <a:off x="6595956" y="4791424"/>
            <a:ext cx="1003272" cy="996485"/>
          </a:xfrm>
          <a:prstGeom prst="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59EB927-49A9-4B49-B9D9-FF8A587ED265}"/>
              </a:ext>
            </a:extLst>
          </p:cNvPr>
          <p:cNvSpPr/>
          <p:nvPr/>
        </p:nvSpPr>
        <p:spPr>
          <a:xfrm>
            <a:off x="5993125" y="1323363"/>
            <a:ext cx="2017163" cy="880844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783FC92-7BAF-4287-B9CA-C3FF9E38E343}"/>
              </a:ext>
            </a:extLst>
          </p:cNvPr>
          <p:cNvSpPr/>
          <p:nvPr/>
        </p:nvSpPr>
        <p:spPr>
          <a:xfrm>
            <a:off x="5932499" y="553034"/>
            <a:ext cx="2077789" cy="525637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8A4E683-33E7-46AD-8F8E-D47C47FA81F2}"/>
              </a:ext>
            </a:extLst>
          </p:cNvPr>
          <p:cNvSpPr/>
          <p:nvPr/>
        </p:nvSpPr>
        <p:spPr>
          <a:xfrm>
            <a:off x="5974028" y="2462374"/>
            <a:ext cx="2036260" cy="482439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967A59D-C946-4A87-855B-2EB6F469DDBF}"/>
              </a:ext>
            </a:extLst>
          </p:cNvPr>
          <p:cNvSpPr/>
          <p:nvPr/>
        </p:nvSpPr>
        <p:spPr>
          <a:xfrm>
            <a:off x="6688431" y="2042590"/>
            <a:ext cx="626549" cy="545713"/>
          </a:xfrm>
          <a:prstGeom prst="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18DBDCA-E487-4644-995B-2A8B4C819AEC}"/>
              </a:ext>
            </a:extLst>
          </p:cNvPr>
          <p:cNvSpPr/>
          <p:nvPr/>
        </p:nvSpPr>
        <p:spPr>
          <a:xfrm>
            <a:off x="6658118" y="970704"/>
            <a:ext cx="626549" cy="545713"/>
          </a:xfrm>
          <a:prstGeom prst="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A731E54-2FCF-4A70-83F6-7E604C9DA7B9}"/>
              </a:ext>
            </a:extLst>
          </p:cNvPr>
          <p:cNvSpPr/>
          <p:nvPr/>
        </p:nvSpPr>
        <p:spPr>
          <a:xfrm>
            <a:off x="297514" y="390235"/>
            <a:ext cx="5178128" cy="91928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FunctionArchitecture</a:t>
            </a:r>
            <a:r>
              <a:rPr lang="en-US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Agglomeration of Functions, Flows, and Hazard Metrics in overall graph structure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F01190B-310F-0D1F-3869-5336E01056FC}"/>
              </a:ext>
            </a:extLst>
          </p:cNvPr>
          <p:cNvCxnSpPr>
            <a:cxnSpLocks/>
            <a:stCxn id="24" idx="3"/>
          </p:cNvCxnSpPr>
          <p:nvPr/>
        </p:nvCxnSpPr>
        <p:spPr>
          <a:xfrm flipV="1">
            <a:off x="5475642" y="849878"/>
            <a:ext cx="388741" cy="1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F107415-FEE4-91A4-078A-7D4868D603FE}"/>
              </a:ext>
            </a:extLst>
          </p:cNvPr>
          <p:cNvCxnSpPr>
            <a:cxnSpLocks/>
          </p:cNvCxnSpPr>
          <p:nvPr/>
        </p:nvCxnSpPr>
        <p:spPr>
          <a:xfrm>
            <a:off x="2903484" y="1309522"/>
            <a:ext cx="0" cy="29962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572DAE71-C101-4229-549E-36534CD49233}"/>
              </a:ext>
            </a:extLst>
          </p:cNvPr>
          <p:cNvSpPr/>
          <p:nvPr/>
        </p:nvSpPr>
        <p:spPr>
          <a:xfrm>
            <a:off x="-1" y="5241889"/>
            <a:ext cx="3379264" cy="88937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Component: </a:t>
            </a:r>
            <a:r>
              <a:rPr 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Sub-behavior internal to a Function with its own behaviors and properties, etc.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F1CF85D-CB82-03BC-A266-20803C89DE7E}"/>
              </a:ext>
            </a:extLst>
          </p:cNvPr>
          <p:cNvCxnSpPr>
            <a:cxnSpLocks/>
          </p:cNvCxnSpPr>
          <p:nvPr/>
        </p:nvCxnSpPr>
        <p:spPr>
          <a:xfrm flipH="1" flipV="1">
            <a:off x="7599228" y="5462695"/>
            <a:ext cx="411060" cy="4596"/>
          </a:xfrm>
          <a:prstGeom prst="straightConnector1">
            <a:avLst/>
          </a:prstGeom>
          <a:ln w="571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2C9151D-1B20-FED4-491B-AEFAF32215A2}"/>
              </a:ext>
            </a:extLst>
          </p:cNvPr>
          <p:cNvCxnSpPr>
            <a:cxnSpLocks/>
          </p:cNvCxnSpPr>
          <p:nvPr/>
        </p:nvCxnSpPr>
        <p:spPr>
          <a:xfrm flipH="1" flipV="1">
            <a:off x="8010286" y="1945759"/>
            <a:ext cx="763424" cy="486190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D1C9704-EA6F-D15D-EAF4-321904A9BDCD}"/>
              </a:ext>
            </a:extLst>
          </p:cNvPr>
          <p:cNvCxnSpPr>
            <a:cxnSpLocks/>
          </p:cNvCxnSpPr>
          <p:nvPr/>
        </p:nvCxnSpPr>
        <p:spPr>
          <a:xfrm flipH="1">
            <a:off x="8652551" y="3181478"/>
            <a:ext cx="783865" cy="868008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EE489C4A-C92E-4F85-77DF-D44F46CFFF86}"/>
              </a:ext>
            </a:extLst>
          </p:cNvPr>
          <p:cNvCxnSpPr>
            <a:cxnSpLocks/>
          </p:cNvCxnSpPr>
          <p:nvPr/>
        </p:nvCxnSpPr>
        <p:spPr>
          <a:xfrm flipH="1" flipV="1">
            <a:off x="7336373" y="2577498"/>
            <a:ext cx="1316178" cy="2453691"/>
          </a:xfrm>
          <a:prstGeom prst="straightConnector1">
            <a:avLst/>
          </a:prstGeom>
          <a:ln w="571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5BB0ED7B-3E8B-CFD8-F947-19D3CDA1C33B}"/>
              </a:ext>
            </a:extLst>
          </p:cNvPr>
          <p:cNvSpPr/>
          <p:nvPr/>
        </p:nvSpPr>
        <p:spPr>
          <a:xfrm>
            <a:off x="7879976" y="5052961"/>
            <a:ext cx="4238732" cy="6039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Flow: </a:t>
            </a:r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Structures (inputs/outputs) that connect Functions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DB3951B-A22F-C4EA-1A39-FF84D7392A61}"/>
              </a:ext>
            </a:extLst>
          </p:cNvPr>
          <p:cNvSpPr/>
          <p:nvPr/>
        </p:nvSpPr>
        <p:spPr>
          <a:xfrm>
            <a:off x="8212629" y="2431949"/>
            <a:ext cx="3906079" cy="91928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Function: </a:t>
            </a:r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Defines high-level system behaviors as well as failure modes and component architectures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B3BED53B-69DC-458E-FB3B-BFA996A327B8}"/>
              </a:ext>
            </a:extLst>
          </p:cNvPr>
          <p:cNvSpPr/>
          <p:nvPr/>
        </p:nvSpPr>
        <p:spPr>
          <a:xfrm>
            <a:off x="60759" y="4563741"/>
            <a:ext cx="2898547" cy="625753"/>
          </a:xfrm>
          <a:prstGeom prst="rect">
            <a:avLst/>
          </a:prstGeom>
          <a:solidFill>
            <a:srgbClr val="CCCCFF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State: </a:t>
            </a:r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Entries that define Function/Flow state  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5728A5F-01AE-49A0-E20F-F9DCE817D6B0}"/>
              </a:ext>
            </a:extLst>
          </p:cNvPr>
          <p:cNvSpPr/>
          <p:nvPr/>
        </p:nvSpPr>
        <p:spPr>
          <a:xfrm>
            <a:off x="6624619" y="5136303"/>
            <a:ext cx="945947" cy="546661"/>
          </a:xfrm>
          <a:prstGeom prst="rect">
            <a:avLst/>
          </a:pr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FF754629-3719-49B2-264E-06AE21B4CE67}"/>
              </a:ext>
            </a:extLst>
          </p:cNvPr>
          <p:cNvSpPr/>
          <p:nvPr/>
        </p:nvSpPr>
        <p:spPr>
          <a:xfrm>
            <a:off x="3407925" y="4765487"/>
            <a:ext cx="1003272" cy="996485"/>
          </a:xfrm>
          <a:prstGeom prst="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AE38B42A-AF1F-004F-9F96-F27057EF9D9F}"/>
              </a:ext>
            </a:extLst>
          </p:cNvPr>
          <p:cNvCxnSpPr>
            <a:cxnSpLocks/>
            <a:stCxn id="53" idx="3"/>
          </p:cNvCxnSpPr>
          <p:nvPr/>
        </p:nvCxnSpPr>
        <p:spPr>
          <a:xfrm>
            <a:off x="2959306" y="4876618"/>
            <a:ext cx="480990" cy="254140"/>
          </a:xfrm>
          <a:prstGeom prst="straightConnector1">
            <a:avLst/>
          </a:prstGeom>
          <a:ln w="571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A636CE67-6B99-66D8-C11A-38D8120344DC}"/>
              </a:ext>
            </a:extLst>
          </p:cNvPr>
          <p:cNvCxnSpPr>
            <a:cxnSpLocks/>
          </p:cNvCxnSpPr>
          <p:nvPr/>
        </p:nvCxnSpPr>
        <p:spPr>
          <a:xfrm>
            <a:off x="3379263" y="5803055"/>
            <a:ext cx="1003272" cy="0"/>
          </a:xfrm>
          <a:prstGeom prst="straightConnector1">
            <a:avLst/>
          </a:prstGeom>
          <a:ln w="571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9707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2" grpId="1" animBg="1"/>
      <p:bldP spid="12" grpId="2" animBg="1"/>
      <p:bldP spid="13" grpId="0" animBg="1"/>
      <p:bldP spid="13" grpId="1" animBg="1"/>
      <p:bldP spid="14" grpId="0" animBg="1"/>
      <p:bldP spid="15" grpId="0" animBg="1"/>
      <p:bldP spid="16" grpId="0" animBg="1"/>
      <p:bldP spid="16" grpId="1" animBg="1"/>
      <p:bldP spid="17" grpId="0" animBg="1"/>
      <p:bldP spid="17" grpId="1" animBg="1"/>
      <p:bldP spid="18" grpId="0" animBg="1"/>
      <p:bldP spid="18" grpId="1" animBg="1"/>
      <p:bldP spid="19" grpId="0" animBg="1"/>
      <p:bldP spid="21" grpId="0" animBg="1"/>
      <p:bldP spid="24" grpId="0" animBg="1"/>
      <p:bldP spid="37" grpId="0" animBg="1"/>
      <p:bldP spid="35" grpId="0" animBg="1"/>
      <p:bldP spid="36" grpId="0" animBg="1"/>
      <p:bldP spid="53" grpId="0" animBg="1"/>
      <p:bldP spid="56" grpId="0" animBg="1"/>
      <p:bldP spid="5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E5A03-5A28-46B1-AAFC-7417AC2B9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Static Fault Propagation</a:t>
            </a:r>
          </a:p>
        </p:txBody>
      </p:sp>
      <p:pic>
        <p:nvPicPr>
          <p:cNvPr id="5" name="Picture 4" descr="A close up of a piece of paper&#10;&#10;Description automatically generated">
            <a:extLst>
              <a:ext uri="{FF2B5EF4-FFF2-40B4-BE49-F238E27FC236}">
                <a16:creationId xmlns:a16="http://schemas.microsoft.com/office/drawing/2014/main" id="{455C8780-8A40-402F-A65B-5DFF471DA9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637" y="2533101"/>
            <a:ext cx="8441414" cy="4201609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8F2DE22-DE48-4B04-B362-CE953892C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2B2ECE-C27A-4FBC-A5B7-24ADD502157D}" type="datetime1">
              <a:rPr lang="en-US" smtClean="0"/>
              <a:t>11/24/2025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8E407F-462F-4768-8039-6005D213B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4D9045-47C6-4ED3-A320-E2DFE9546330}" type="slidenum">
              <a:rPr lang="en-US" smtClean="0"/>
              <a:t>6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696A40D-F9AA-4A6C-BDA7-6B7D47C6D1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182" y="1442906"/>
            <a:ext cx="10515600" cy="473405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Behaviors defined in .behavior(), .</a:t>
            </a:r>
            <a:r>
              <a:rPr lang="en-US" dirty="0" err="1"/>
              <a:t>static_behavior</a:t>
            </a:r>
            <a:r>
              <a:rPr lang="en-US" dirty="0"/>
              <a:t>(), and .</a:t>
            </a:r>
            <a:r>
              <a:rPr lang="en-US" dirty="0" err="1"/>
              <a:t>condfaults</a:t>
            </a:r>
            <a:r>
              <a:rPr lang="en-US" dirty="0"/>
              <a:t>()</a:t>
            </a:r>
          </a:p>
          <a:p>
            <a:pPr marL="0" indent="0">
              <a:buNone/>
            </a:pPr>
            <a:r>
              <a:rPr lang="en-US" dirty="0"/>
              <a:t>Stored in </a:t>
            </a:r>
            <a:r>
              <a:rPr lang="en-US" dirty="0" err="1"/>
              <a:t>mdl.staticfxns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32428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C80A97-77C4-4E67-94DA-2D0072EB8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Fault Propagation</a:t>
            </a:r>
          </a:p>
        </p:txBody>
      </p:sp>
      <p:pic>
        <p:nvPicPr>
          <p:cNvPr id="5" name="Picture 4" descr="A close up of text on a white background&#10;&#10;Description automatically generated">
            <a:extLst>
              <a:ext uri="{FF2B5EF4-FFF2-40B4-BE49-F238E27FC236}">
                <a16:creationId xmlns:a16="http://schemas.microsoft.com/office/drawing/2014/main" id="{3B085D01-F403-4D53-B13F-6E5F02CEDF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8366" y="1605641"/>
            <a:ext cx="5253356" cy="5115834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44B689-DA2E-485D-B459-0653D5458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67213-7DC7-4566-B4E8-39CBEF03CE40}" type="datetime1">
              <a:rPr lang="en-US" smtClean="0"/>
              <a:t>11/24/2025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2510EE-E25A-4759-AFB7-904801DCE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4D9045-47C6-4ED3-A320-E2DFE9546330}" type="slidenum">
              <a:rPr lang="en-US" smtClean="0"/>
              <a:t>7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C8DF4BE-6367-4702-B6D2-C29E09645D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182" y="1442906"/>
            <a:ext cx="5922818" cy="473405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Defined in .</a:t>
            </a:r>
            <a:r>
              <a:rPr lang="en-US" dirty="0" err="1"/>
              <a:t>dynamic_behavior</a:t>
            </a:r>
            <a:r>
              <a:rPr lang="en-US" dirty="0"/>
              <a:t>()</a:t>
            </a:r>
          </a:p>
          <a:p>
            <a:pPr marL="0" indent="0">
              <a:buNone/>
            </a:pPr>
            <a:r>
              <a:rPr lang="en-US" dirty="0"/>
              <a:t>Runs once per timestep in a user-specified order.</a:t>
            </a:r>
          </a:p>
          <a:p>
            <a:pPr marL="0" indent="0">
              <a:buNone/>
            </a:pPr>
            <a:r>
              <a:rPr lang="en-US" dirty="0"/>
              <a:t>Accessible in </a:t>
            </a:r>
            <a:r>
              <a:rPr lang="en-US" dirty="0" err="1"/>
              <a:t>mdl.dynamicfxns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--------</a:t>
            </a:r>
          </a:p>
          <a:p>
            <a:pPr marL="0" indent="0">
              <a:buNone/>
            </a:pPr>
            <a:r>
              <a:rPr lang="en-US" dirty="0"/>
              <a:t>Static/Dynamic propagation can be visualized using </a:t>
            </a:r>
            <a:r>
              <a:rPr lang="en-US" dirty="0" err="1"/>
              <a:t>rd.graph.exec_order</a:t>
            </a:r>
            <a:r>
              <a:rPr lang="en-US" dirty="0"/>
              <a:t>()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06673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DFF110-B99B-4195-BF2F-4BA75ECC4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Activity: Open and instantiate pump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C654A1-0394-4F7C-9153-CE0CAC4575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43851"/>
          </a:xfrm>
        </p:spPr>
        <p:txBody>
          <a:bodyPr/>
          <a:lstStyle/>
          <a:p>
            <a:r>
              <a:rPr lang="en-US" dirty="0"/>
              <a:t>Review code:</a:t>
            </a:r>
          </a:p>
          <a:p>
            <a:pPr lvl="1"/>
            <a:r>
              <a:rPr lang="en-US" dirty="0"/>
              <a:t>See pump code defining the Pump model class</a:t>
            </a:r>
          </a:p>
          <a:p>
            <a:pPr lvl="1"/>
            <a:r>
              <a:rPr lang="en-US" dirty="0"/>
              <a:t>See pump code defining </a:t>
            </a:r>
            <a:r>
              <a:rPr lang="en-US" dirty="0" err="1"/>
              <a:t>MoveWater</a:t>
            </a:r>
            <a:r>
              <a:rPr lang="en-US" dirty="0"/>
              <a:t> function class</a:t>
            </a:r>
          </a:p>
          <a:p>
            <a:r>
              <a:rPr lang="en-US" dirty="0"/>
              <a:t>Open tutorial notebook</a:t>
            </a:r>
          </a:p>
          <a:p>
            <a:pPr lvl="1"/>
            <a:r>
              <a:rPr lang="en-US" dirty="0" err="1"/>
              <a:t>Tutorial_unfilled.ipynb</a:t>
            </a:r>
            <a:endParaRPr lang="en-US" dirty="0"/>
          </a:p>
          <a:p>
            <a:r>
              <a:rPr lang="en-US" dirty="0"/>
              <a:t>Instantiate the model</a:t>
            </a:r>
          </a:p>
          <a:p>
            <a:pPr lvl="1"/>
            <a:r>
              <a:rPr lang="en-US" dirty="0"/>
              <a:t>mdl = Pump()</a:t>
            </a:r>
          </a:p>
          <a:p>
            <a:r>
              <a:rPr lang="en-US" dirty="0"/>
              <a:t>Explore</a:t>
            </a:r>
          </a:p>
          <a:p>
            <a:pPr lvl="1"/>
            <a:r>
              <a:rPr lang="en-US" dirty="0"/>
              <a:t>Try different parameters! Change things!</a:t>
            </a:r>
          </a:p>
          <a:p>
            <a:pPr lvl="1"/>
            <a:r>
              <a:rPr lang="en-US" dirty="0"/>
              <a:t>What does the model directory look like? </a:t>
            </a:r>
            <a:r>
              <a:rPr lang="en-US" dirty="0" err="1"/>
              <a:t>dir</a:t>
            </a:r>
            <a:r>
              <a:rPr lang="en-US" dirty="0"/>
              <a:t>(mdl)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948896-E84E-444B-891E-EFE2C9D0F8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F9849-58D3-4F19-9398-5C19541DD8B5}" type="datetime1">
              <a:rPr lang="en-US" smtClean="0"/>
              <a:t>11/24/2025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0E850E-6593-450A-B187-79D6E0C2D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4D9045-47C6-4ED3-A320-E2DFE9546330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8140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37966E-FEC4-40D8-8371-72C763036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Goal: Quantify Resilience With Simulation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29EF587-E24D-4ADB-89B3-2E3C4EDF39EA}"/>
              </a:ext>
            </a:extLst>
          </p:cNvPr>
          <p:cNvCxnSpPr>
            <a:cxnSpLocks/>
          </p:cNvCxnSpPr>
          <p:nvPr/>
        </p:nvCxnSpPr>
        <p:spPr>
          <a:xfrm>
            <a:off x="3585581" y="3234973"/>
            <a:ext cx="2493922" cy="627690"/>
          </a:xfrm>
          <a:prstGeom prst="line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31722B76-BCD8-4DDD-AAC2-33A94AE4765C}"/>
              </a:ext>
            </a:extLst>
          </p:cNvPr>
          <p:cNvSpPr/>
          <p:nvPr/>
        </p:nvSpPr>
        <p:spPr>
          <a:xfrm>
            <a:off x="8647112" y="3928494"/>
            <a:ext cx="1619249" cy="1333500"/>
          </a:xfrm>
          <a:prstGeom prst="rect">
            <a:avLst/>
          </a:prstGeom>
          <a:pattFill prst="wdDnDiag">
            <a:fgClr>
              <a:srgbClr val="FFD9D9"/>
            </a:fgClr>
            <a:bgClr>
              <a:schemeClr val="bg1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D21EC5-D6AA-458E-9EB0-1A35CE47585C}"/>
              </a:ext>
            </a:extLst>
          </p:cNvPr>
          <p:cNvSpPr/>
          <p:nvPr/>
        </p:nvSpPr>
        <p:spPr>
          <a:xfrm>
            <a:off x="6094412" y="3919989"/>
            <a:ext cx="2552700" cy="1333500"/>
          </a:xfrm>
          <a:prstGeom prst="rect">
            <a:avLst/>
          </a:prstGeom>
          <a:pattFill prst="wdDnDiag">
            <a:fgClr>
              <a:srgbClr val="FF0000"/>
            </a:fgClr>
            <a:bgClr>
              <a:schemeClr val="bg1"/>
            </a:bgClr>
          </a:patt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EE11A0-F0CE-4720-BE2A-1EE0416F0266}"/>
              </a:ext>
            </a:extLst>
          </p:cNvPr>
          <p:cNvCxnSpPr>
            <a:cxnSpLocks/>
          </p:cNvCxnSpPr>
          <p:nvPr/>
        </p:nvCxnSpPr>
        <p:spPr>
          <a:xfrm>
            <a:off x="5740400" y="3919990"/>
            <a:ext cx="4525962" cy="0"/>
          </a:xfrm>
          <a:prstGeom prst="line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4F351EF-9852-40E8-AD39-D814E5C1A3FA}"/>
              </a:ext>
            </a:extLst>
          </p:cNvPr>
          <p:cNvCxnSpPr>
            <a:cxnSpLocks/>
          </p:cNvCxnSpPr>
          <p:nvPr/>
        </p:nvCxnSpPr>
        <p:spPr>
          <a:xfrm>
            <a:off x="6094412" y="3919989"/>
            <a:ext cx="0" cy="1333500"/>
          </a:xfrm>
          <a:prstGeom prst="line">
            <a:avLst/>
          </a:prstGeom>
          <a:ln>
            <a:solidFill>
              <a:srgbClr val="FF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35FF928-AEA3-4C61-9EA3-A5D1728A4290}"/>
              </a:ext>
            </a:extLst>
          </p:cNvPr>
          <p:cNvCxnSpPr>
            <a:cxnSpLocks/>
          </p:cNvCxnSpPr>
          <p:nvPr/>
        </p:nvCxnSpPr>
        <p:spPr>
          <a:xfrm>
            <a:off x="6094412" y="5253489"/>
            <a:ext cx="2552700" cy="0"/>
          </a:xfrm>
          <a:prstGeom prst="line">
            <a:avLst/>
          </a:prstGeom>
          <a:ln w="38100">
            <a:solidFill>
              <a:srgbClr val="FF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5290E26-68C2-4EB6-AA4B-1C4666C6672E}"/>
              </a:ext>
            </a:extLst>
          </p:cNvPr>
          <p:cNvCxnSpPr>
            <a:cxnSpLocks/>
          </p:cNvCxnSpPr>
          <p:nvPr/>
        </p:nvCxnSpPr>
        <p:spPr>
          <a:xfrm flipV="1">
            <a:off x="8647112" y="3919989"/>
            <a:ext cx="0" cy="1333500"/>
          </a:xfrm>
          <a:prstGeom prst="line">
            <a:avLst/>
          </a:prstGeom>
          <a:ln w="38100">
            <a:solidFill>
              <a:srgbClr val="FF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51A3A58-691D-4746-AF45-F2D570632B21}"/>
              </a:ext>
            </a:extLst>
          </p:cNvPr>
          <p:cNvCxnSpPr>
            <a:cxnSpLocks/>
            <a:stCxn id="12" idx="0"/>
          </p:cNvCxnSpPr>
          <p:nvPr/>
        </p:nvCxnSpPr>
        <p:spPr>
          <a:xfrm flipH="1" flipV="1">
            <a:off x="6079504" y="1967366"/>
            <a:ext cx="14908" cy="3793538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sys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A2DDA50-212B-40A5-B898-F2D8F0786AFB}"/>
              </a:ext>
            </a:extLst>
          </p:cNvPr>
          <p:cNvSpPr txBox="1"/>
          <p:nvPr/>
        </p:nvSpPr>
        <p:spPr>
          <a:xfrm>
            <a:off x="5464271" y="5760904"/>
            <a:ext cx="1260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Bahnschrift SemiBold" panose="020B0502040204020203" pitchFamily="34" charset="0"/>
              </a:rPr>
              <a:t>Fault Time</a:t>
            </a:r>
          </a:p>
        </p:txBody>
      </p:sp>
      <p:sp>
        <p:nvSpPr>
          <p:cNvPr id="13" name="Explosion: 8 Points 12">
            <a:extLst>
              <a:ext uri="{FF2B5EF4-FFF2-40B4-BE49-F238E27FC236}">
                <a16:creationId xmlns:a16="http://schemas.microsoft.com/office/drawing/2014/main" id="{2CF3498A-2A3F-4612-BF09-9DC3F3CD45AF}"/>
              </a:ext>
            </a:extLst>
          </p:cNvPr>
          <p:cNvSpPr/>
          <p:nvPr/>
        </p:nvSpPr>
        <p:spPr>
          <a:xfrm>
            <a:off x="5380037" y="3156403"/>
            <a:ext cx="1428750" cy="1382711"/>
          </a:xfrm>
          <a:prstGeom prst="irregularSeal1">
            <a:avLst/>
          </a:prstGeom>
          <a:solidFill>
            <a:srgbClr val="FFC000"/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74A210E-6826-47E5-8D19-9AE42CF970BB}"/>
              </a:ext>
            </a:extLst>
          </p:cNvPr>
          <p:cNvSpPr txBox="1"/>
          <p:nvPr/>
        </p:nvSpPr>
        <p:spPr>
          <a:xfrm>
            <a:off x="6783654" y="3493331"/>
            <a:ext cx="2947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Bahnschrift SemiBold" panose="020B0502040204020203" pitchFamily="34" charset="0"/>
              </a:rPr>
              <a:t>Nominal Performance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E32D7B-E6A0-48BB-A6A8-64F515F9BBC5}"/>
              </a:ext>
            </a:extLst>
          </p:cNvPr>
          <p:cNvSpPr txBox="1"/>
          <p:nvPr/>
        </p:nvSpPr>
        <p:spPr>
          <a:xfrm>
            <a:off x="6184634" y="5217111"/>
            <a:ext cx="2233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Bahnschrift SemiBold" panose="020B0502040204020203" pitchFamily="34" charset="0"/>
              </a:rPr>
              <a:t>Faulty Performance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7F3DAD6-10B9-4C0B-8A34-3500C70B2792}"/>
              </a:ext>
            </a:extLst>
          </p:cNvPr>
          <p:cNvSpPr txBox="1"/>
          <p:nvPr/>
        </p:nvSpPr>
        <p:spPr>
          <a:xfrm>
            <a:off x="8647111" y="3965595"/>
            <a:ext cx="1200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Bahnschrift SemiBold" panose="020B0502040204020203" pitchFamily="34" charset="0"/>
              </a:rPr>
              <a:t>Recovery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422E9C6-88EA-48BB-9D28-CD495A050370}"/>
              </a:ext>
            </a:extLst>
          </p:cNvPr>
          <p:cNvCxnSpPr>
            <a:cxnSpLocks/>
          </p:cNvCxnSpPr>
          <p:nvPr/>
        </p:nvCxnSpPr>
        <p:spPr>
          <a:xfrm flipH="1" flipV="1">
            <a:off x="8647111" y="5253489"/>
            <a:ext cx="1619250" cy="8505"/>
          </a:xfrm>
          <a:prstGeom prst="line">
            <a:avLst/>
          </a:prstGeom>
          <a:ln w="38100">
            <a:solidFill>
              <a:srgbClr val="FF00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58A47949-8816-4C84-9CBD-8D2B4328019A}"/>
              </a:ext>
            </a:extLst>
          </p:cNvPr>
          <p:cNvSpPr txBox="1"/>
          <p:nvPr/>
        </p:nvSpPr>
        <p:spPr>
          <a:xfrm>
            <a:off x="8647112" y="4908313"/>
            <a:ext cx="1497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Bahnschrift SemiBold" panose="020B0502040204020203" pitchFamily="34" charset="0"/>
              </a:rPr>
              <a:t>No Recovery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20FE350-9CCA-4E38-9E28-A5D65F480DDC}"/>
              </a:ext>
            </a:extLst>
          </p:cNvPr>
          <p:cNvSpPr txBox="1"/>
          <p:nvPr/>
        </p:nvSpPr>
        <p:spPr>
          <a:xfrm>
            <a:off x="3491514" y="1806861"/>
            <a:ext cx="16818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Bahnschrift SemiBold" panose="020B0502040204020203" pitchFamily="34" charset="0"/>
              </a:rPr>
              <a:t>Prevention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708F60F-AA3D-42FE-BEAC-BC1E5800C220}"/>
              </a:ext>
            </a:extLst>
          </p:cNvPr>
          <p:cNvSpPr txBox="1"/>
          <p:nvPr/>
        </p:nvSpPr>
        <p:spPr>
          <a:xfrm>
            <a:off x="7263448" y="1806861"/>
            <a:ext cx="14718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Bahnschrift SemiBold" panose="020B0502040204020203" pitchFamily="34" charset="0"/>
              </a:rPr>
              <a:t>Recovery</a:t>
            </a:r>
            <a:endParaRPr lang="en-US" dirty="0">
              <a:solidFill>
                <a:schemeClr val="bg1">
                  <a:lumMod val="50000"/>
                </a:schemeClr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FAD445B-D890-43E4-AAF6-BE22CAF808F1}"/>
              </a:ext>
            </a:extLst>
          </p:cNvPr>
          <p:cNvSpPr/>
          <p:nvPr/>
        </p:nvSpPr>
        <p:spPr>
          <a:xfrm>
            <a:off x="7039967" y="6233308"/>
            <a:ext cx="22252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latin typeface="Bahnschrift Light Condensed" panose="020B0502040204020203" pitchFamily="34" charset="0"/>
              </a:rPr>
              <a:t>Yodo</a:t>
            </a:r>
            <a:r>
              <a:rPr lang="en-US" dirty="0">
                <a:latin typeface="Bahnschrift Light Condensed" panose="020B0502040204020203" pitchFamily="34" charset="0"/>
              </a:rPr>
              <a:t>, N., &amp; Wang, P. (2016). </a:t>
            </a:r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BF0C52C-9FB7-4AAD-86A6-1FC9BAA351B8}"/>
              </a:ext>
            </a:extLst>
          </p:cNvPr>
          <p:cNvSpPr txBox="1"/>
          <p:nvPr/>
        </p:nvSpPr>
        <p:spPr>
          <a:xfrm>
            <a:off x="6675153" y="4415164"/>
            <a:ext cx="1252266" cy="369332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Bahnschrift SemiBold" panose="020B0502040204020203" pitchFamily="34" charset="0"/>
              </a:rPr>
              <a:t>Resilience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3101FB2-D340-46DA-8EC7-29E474EB8564}"/>
              </a:ext>
            </a:extLst>
          </p:cNvPr>
          <p:cNvSpPr txBox="1"/>
          <p:nvPr/>
        </p:nvSpPr>
        <p:spPr>
          <a:xfrm>
            <a:off x="5598837" y="3633102"/>
            <a:ext cx="10005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Bahnschrift SemiBold" panose="020B0502040204020203" pitchFamily="34" charset="0"/>
              </a:rPr>
              <a:t>Hazard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87C380F-CFFC-442F-BDF4-0744B33F9987}"/>
              </a:ext>
            </a:extLst>
          </p:cNvPr>
          <p:cNvCxnSpPr>
            <a:cxnSpLocks/>
          </p:cNvCxnSpPr>
          <p:nvPr/>
        </p:nvCxnSpPr>
        <p:spPr>
          <a:xfrm flipV="1">
            <a:off x="3585581" y="2752550"/>
            <a:ext cx="2493922" cy="464939"/>
          </a:xfrm>
          <a:prstGeom prst="line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A28E7BE-FE66-4DB7-BC99-A2E18D727EED}"/>
              </a:ext>
            </a:extLst>
          </p:cNvPr>
          <p:cNvCxnSpPr>
            <a:cxnSpLocks/>
          </p:cNvCxnSpPr>
          <p:nvPr/>
        </p:nvCxnSpPr>
        <p:spPr>
          <a:xfrm>
            <a:off x="6038863" y="2740789"/>
            <a:ext cx="4227498" cy="0"/>
          </a:xfrm>
          <a:prstGeom prst="line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7D0EC3B-71E1-4B52-A2BE-82F2D2D11AA5}"/>
              </a:ext>
            </a:extLst>
          </p:cNvPr>
          <p:cNvSpPr txBox="1"/>
          <p:nvPr/>
        </p:nvSpPr>
        <p:spPr>
          <a:xfrm>
            <a:off x="6079503" y="2314112"/>
            <a:ext cx="2947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Bahnschrift SemiBold" panose="020B0502040204020203" pitchFamily="34" charset="0"/>
              </a:rPr>
              <a:t>Nominal Scenario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27D2B22-D005-489E-92FC-F14CA2DD74A2}"/>
              </a:ext>
            </a:extLst>
          </p:cNvPr>
          <p:cNvSpPr txBox="1"/>
          <p:nvPr/>
        </p:nvSpPr>
        <p:spPr>
          <a:xfrm>
            <a:off x="576284" y="3848931"/>
            <a:ext cx="1552694" cy="707886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>
                <a:solidFill>
                  <a:srgbClr val="FF0000"/>
                </a:solidFill>
                <a:latin typeface="Bahnschrift SemiBold" panose="020B0502040204020203" pitchFamily="34" charset="0"/>
              </a:rPr>
              <a:t>Expected</a:t>
            </a:r>
          </a:p>
          <a:p>
            <a:pPr algn="r"/>
            <a:r>
              <a:rPr lang="en-US" sz="2000" b="1" dirty="0">
                <a:solidFill>
                  <a:srgbClr val="FF0000"/>
                </a:solidFill>
                <a:latin typeface="Bahnschrift SemiBold" panose="020B0502040204020203" pitchFamily="34" charset="0"/>
              </a:rPr>
              <a:t>Resilience: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D16A513A-6676-4909-91FB-148522A4F2EA}"/>
                  </a:ext>
                </a:extLst>
              </p:cNvPr>
              <p:cNvSpPr/>
              <p:nvPr/>
            </p:nvSpPr>
            <p:spPr>
              <a:xfrm>
                <a:off x="2681305" y="2629455"/>
                <a:ext cx="1096381" cy="1096381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400" dirty="0" smtClean="0">
                          <a:solidFill>
                            <a:schemeClr val="tx1"/>
                          </a:solidFill>
                        </a:rPr>
                        <m:t>𝔼</m:t>
                      </m:r>
                      <m:r>
                        <a:rPr lang="en-US" sz="2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𝑅𝑒𝑠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D16A513A-6676-4909-91FB-148522A4F2E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1305" y="2629455"/>
                <a:ext cx="1096381" cy="1096381"/>
              </a:xfrm>
              <a:prstGeom prst="ellipse">
                <a:avLst/>
              </a:prstGeom>
              <a:blipFill>
                <a:blip r:embed="rId2"/>
                <a:stretch>
                  <a:fillRect l="-3763" r="-1075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E5E00E88-8724-4ED0-B23C-C91CC694E5EF}"/>
              </a:ext>
            </a:extLst>
          </p:cNvPr>
          <p:cNvSpPr txBox="1"/>
          <p:nvPr/>
        </p:nvSpPr>
        <p:spPr>
          <a:xfrm>
            <a:off x="2149298" y="3858364"/>
            <a:ext cx="3064886" cy="707886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Bahnschrift Light" panose="020B0502040204020203" pitchFamily="34" charset="0"/>
              </a:rPr>
              <a:t>Resilience over a set of hazardous scenarios 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E39F54-2A57-4DE6-BD51-57F6CD8EE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B5B71A-C210-4A41-9D4A-E72BF6E30274}" type="datetime1">
              <a:rPr lang="en-US" smtClean="0"/>
              <a:t>11/24/2025</a:t>
            </a:fld>
            <a:endParaRPr lang="en-US"/>
          </a:p>
        </p:txBody>
      </p:sp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7109F3E7-E154-4086-983A-9FE80E0E8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4D9045-47C6-4ED3-A320-E2DFE9546330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65550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>
            <a:extLst>
              <a:ext uri="{FF2B5EF4-FFF2-40B4-BE49-F238E27FC236}">
                <a16:creationId xmlns:a16="http://schemas.microsoft.com/office/drawing/2014/main" id="{29CD9877-1DE7-4582-A01D-3D83E1F1A69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87" t="1361" r="615" b="1702"/>
          <a:stretch/>
        </p:blipFill>
        <p:spPr>
          <a:xfrm>
            <a:off x="2478559" y="1521645"/>
            <a:ext cx="7234881" cy="3237470"/>
          </a:xfrm>
          <a:prstGeom prst="rect">
            <a:avLst/>
          </a:prstGeom>
        </p:spPr>
      </p:pic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923EBE30-133F-4589-B481-54495292410F}"/>
              </a:ext>
            </a:extLst>
          </p:cNvPr>
          <p:cNvCxnSpPr>
            <a:cxnSpLocks/>
          </p:cNvCxnSpPr>
          <p:nvPr/>
        </p:nvCxnSpPr>
        <p:spPr>
          <a:xfrm flipH="1">
            <a:off x="4349578" y="1379542"/>
            <a:ext cx="1822622" cy="77053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Left Brace 41">
            <a:extLst>
              <a:ext uri="{FF2B5EF4-FFF2-40B4-BE49-F238E27FC236}">
                <a16:creationId xmlns:a16="http://schemas.microsoft.com/office/drawing/2014/main" id="{24477B90-3307-44DE-88AB-EE0FA93859E6}"/>
              </a:ext>
            </a:extLst>
          </p:cNvPr>
          <p:cNvSpPr/>
          <p:nvPr/>
        </p:nvSpPr>
        <p:spPr>
          <a:xfrm rot="16200000">
            <a:off x="5919915" y="1318558"/>
            <a:ext cx="352168" cy="7234881"/>
          </a:xfrm>
          <a:prstGeom prst="leftBrace">
            <a:avLst>
              <a:gd name="adj1" fmla="val 8333"/>
              <a:gd name="adj2" fmla="val 49492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8D7EBE5-5AB3-42B2-847F-0D9A175C8F3B}"/>
              </a:ext>
            </a:extLst>
          </p:cNvPr>
          <p:cNvSpPr txBox="1"/>
          <p:nvPr/>
        </p:nvSpPr>
        <p:spPr>
          <a:xfrm>
            <a:off x="6172200" y="1013167"/>
            <a:ext cx="251331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Bahnschrift" panose="020B0502040204020203" pitchFamily="34" charset="0"/>
              </a:rPr>
              <a:t>Nominal performance</a:t>
            </a:r>
          </a:p>
          <a:p>
            <a:r>
              <a:rPr lang="en-US" b="1" dirty="0" err="1"/>
              <a:t>propagate.nominal</a:t>
            </a:r>
            <a:r>
              <a:rPr lang="en-US" b="1" dirty="0"/>
              <a:t>()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86B51C6-C2F0-4B3B-A674-4873FF9A8046}"/>
              </a:ext>
            </a:extLst>
          </p:cNvPr>
          <p:cNvSpPr txBox="1"/>
          <p:nvPr/>
        </p:nvSpPr>
        <p:spPr>
          <a:xfrm>
            <a:off x="86401" y="1350159"/>
            <a:ext cx="2142964" cy="16927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Bahnschrift" panose="020B0502040204020203" pitchFamily="34" charset="0"/>
              </a:rPr>
              <a:t>Performance over a set of possible operational parameters</a:t>
            </a:r>
          </a:p>
          <a:p>
            <a:r>
              <a:rPr lang="en-US" sz="1600" b="1" dirty="0">
                <a:latin typeface="Bahnschrift" panose="020B0502040204020203" pitchFamily="34" charset="0"/>
              </a:rPr>
              <a:t>propagate.</a:t>
            </a:r>
          </a:p>
          <a:p>
            <a:r>
              <a:rPr lang="en-US" sz="1600" b="1" dirty="0" err="1">
                <a:latin typeface="Bahnschrift" panose="020B0502040204020203" pitchFamily="34" charset="0"/>
              </a:rPr>
              <a:t>parameter_sample</a:t>
            </a:r>
            <a:r>
              <a:rPr lang="en-US" sz="1600" b="1" dirty="0">
                <a:latin typeface="Bahnschrift" panose="020B0502040204020203" pitchFamily="34" charset="0"/>
              </a:rPr>
              <a:t>()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37FC858-F87C-4201-BC6A-50FDA8218F85}"/>
              </a:ext>
            </a:extLst>
          </p:cNvPr>
          <p:cNvSpPr txBox="1"/>
          <p:nvPr/>
        </p:nvSpPr>
        <p:spPr>
          <a:xfrm>
            <a:off x="56538" y="3429000"/>
            <a:ext cx="2245937" cy="113877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Bahnschrift" panose="020B0502040204020203" pitchFamily="34" charset="0"/>
              </a:rPr>
              <a:t>Resilience over a set of fault modes</a:t>
            </a:r>
          </a:p>
          <a:p>
            <a:r>
              <a:rPr lang="en-US" sz="1600" b="1" dirty="0">
                <a:latin typeface="Bahnschrift" panose="020B0502040204020203" pitchFamily="34" charset="0"/>
              </a:rPr>
              <a:t>propagate.</a:t>
            </a:r>
          </a:p>
          <a:p>
            <a:r>
              <a:rPr lang="en-US" sz="1600" b="1" dirty="0" err="1">
                <a:latin typeface="Bahnschrift" panose="020B0502040204020203" pitchFamily="34" charset="0"/>
              </a:rPr>
              <a:t>fault_sample</a:t>
            </a:r>
            <a:r>
              <a:rPr lang="en-US" sz="1600" b="1" dirty="0">
                <a:latin typeface="Bahnschrift" panose="020B0502040204020203" pitchFamily="34" charset="0"/>
              </a:rPr>
              <a:t>()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B2EE3FE-D0C4-4B96-9A28-5A58C73C6530}"/>
              </a:ext>
            </a:extLst>
          </p:cNvPr>
          <p:cNvSpPr txBox="1"/>
          <p:nvPr/>
        </p:nvSpPr>
        <p:spPr>
          <a:xfrm>
            <a:off x="9764857" y="2633916"/>
            <a:ext cx="2427143" cy="120032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Bahnschrift" panose="020B0502040204020203" pitchFamily="34" charset="0"/>
              </a:rPr>
              <a:t>Resilience to a single fault or hazard</a:t>
            </a:r>
          </a:p>
          <a:p>
            <a:r>
              <a:rPr lang="en-US" b="1" dirty="0" err="1"/>
              <a:t>propagate.one_fault</a:t>
            </a:r>
            <a:r>
              <a:rPr lang="en-US" b="1" dirty="0"/>
              <a:t>()</a:t>
            </a:r>
          </a:p>
          <a:p>
            <a:r>
              <a:rPr lang="en-US" b="1" dirty="0" err="1"/>
              <a:t>propagate.sequence</a:t>
            </a:r>
            <a:r>
              <a:rPr lang="en-US" b="1" dirty="0"/>
              <a:t>()</a:t>
            </a:r>
            <a:endParaRPr lang="en-US" b="1" dirty="0">
              <a:latin typeface="Bahnschrift" panose="020B0502040204020203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2C4B4A7-0224-44F2-8A15-C4FEF945D9DE}"/>
              </a:ext>
            </a:extLst>
          </p:cNvPr>
          <p:cNvSpPr txBox="1"/>
          <p:nvPr/>
        </p:nvSpPr>
        <p:spPr>
          <a:xfrm>
            <a:off x="2581532" y="5155292"/>
            <a:ext cx="6925962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Bahnschrift" panose="020B0502040204020203" pitchFamily="34" charset="0"/>
              </a:rPr>
              <a:t>Resilience to a set of fault modes over a set of operational parameters </a:t>
            </a:r>
            <a:r>
              <a:rPr lang="en-US" b="1" dirty="0" err="1"/>
              <a:t>propagate.nested_sample</a:t>
            </a:r>
            <a:r>
              <a:rPr lang="en-US" b="1" dirty="0"/>
              <a:t>()</a:t>
            </a:r>
            <a:endParaRPr lang="en-US" b="1" dirty="0">
              <a:latin typeface="Bahnschrift" panose="020B0502040204020203" pitchFamily="34" charset="0"/>
            </a:endParaRPr>
          </a:p>
        </p:txBody>
      </p:sp>
      <p:sp>
        <p:nvSpPr>
          <p:cNvPr id="37" name="Left Brace 36">
            <a:extLst>
              <a:ext uri="{FF2B5EF4-FFF2-40B4-BE49-F238E27FC236}">
                <a16:creationId xmlns:a16="http://schemas.microsoft.com/office/drawing/2014/main" id="{F8665085-0CE2-4A62-A85B-DDC65BE6F7B8}"/>
              </a:ext>
            </a:extLst>
          </p:cNvPr>
          <p:cNvSpPr/>
          <p:nvPr/>
        </p:nvSpPr>
        <p:spPr>
          <a:xfrm>
            <a:off x="2229364" y="2668385"/>
            <a:ext cx="352168" cy="2114631"/>
          </a:xfrm>
          <a:prstGeom prst="leftBrace">
            <a:avLst>
              <a:gd name="adj1" fmla="val 8333"/>
              <a:gd name="adj2" fmla="val 49492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Left Brace 35">
            <a:extLst>
              <a:ext uri="{FF2B5EF4-FFF2-40B4-BE49-F238E27FC236}">
                <a16:creationId xmlns:a16="http://schemas.microsoft.com/office/drawing/2014/main" id="{74DDC081-A5AE-4541-8DD3-F8F093366A0E}"/>
              </a:ext>
            </a:extLst>
          </p:cNvPr>
          <p:cNvSpPr/>
          <p:nvPr/>
        </p:nvSpPr>
        <p:spPr>
          <a:xfrm>
            <a:off x="2126391" y="1521645"/>
            <a:ext cx="352168" cy="1075037"/>
          </a:xfrm>
          <a:prstGeom prst="leftBrace">
            <a:avLst>
              <a:gd name="adj1" fmla="val 8333"/>
              <a:gd name="adj2" fmla="val 49492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Left Brace 37">
            <a:extLst>
              <a:ext uri="{FF2B5EF4-FFF2-40B4-BE49-F238E27FC236}">
                <a16:creationId xmlns:a16="http://schemas.microsoft.com/office/drawing/2014/main" id="{882FF0AF-54DF-44D0-9662-8FD6D5CA4FB3}"/>
              </a:ext>
            </a:extLst>
          </p:cNvPr>
          <p:cNvSpPr/>
          <p:nvPr/>
        </p:nvSpPr>
        <p:spPr>
          <a:xfrm rot="10800000">
            <a:off x="9507494" y="1617109"/>
            <a:ext cx="352168" cy="3195848"/>
          </a:xfrm>
          <a:prstGeom prst="leftBrace">
            <a:avLst>
              <a:gd name="adj1" fmla="val 8333"/>
              <a:gd name="adj2" fmla="val 49492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9546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lowchart: Process 4">
            <a:extLst>
              <a:ext uri="{FF2B5EF4-FFF2-40B4-BE49-F238E27FC236}">
                <a16:creationId xmlns:a16="http://schemas.microsoft.com/office/drawing/2014/main" id="{E7946FE6-8404-4AF4-BF23-2095E167C95C}"/>
              </a:ext>
            </a:extLst>
          </p:cNvPr>
          <p:cNvSpPr/>
          <p:nvPr/>
        </p:nvSpPr>
        <p:spPr>
          <a:xfrm>
            <a:off x="8716097" y="1525889"/>
            <a:ext cx="3475903" cy="4827246"/>
          </a:xfrm>
          <a:prstGeom prst="flowChartProcess">
            <a:avLst/>
          </a:prstGeom>
          <a:solidFill>
            <a:schemeClr val="bg1"/>
          </a:solidFill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/graph</a:t>
            </a:r>
          </a:p>
          <a:p>
            <a:r>
              <a:rPr lang="en-US" sz="1600" dirty="0">
                <a:solidFill>
                  <a:schemeClr val="tx1"/>
                </a:solidFill>
              </a:rPr>
              <a:t>Graph-based visualizations.</a:t>
            </a:r>
          </a:p>
          <a:p>
            <a:endParaRPr lang="en-US" sz="1600" dirty="0">
              <a:solidFill>
                <a:schemeClr val="tx1"/>
              </a:solidFill>
            </a:endParaRPr>
          </a:p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7" name="Flowchart: Process 6">
            <a:extLst>
              <a:ext uri="{FF2B5EF4-FFF2-40B4-BE49-F238E27FC236}">
                <a16:creationId xmlns:a16="http://schemas.microsoft.com/office/drawing/2014/main" id="{244AFF50-8015-411D-99F5-6441CA13542E}"/>
              </a:ext>
            </a:extLst>
          </p:cNvPr>
          <p:cNvSpPr/>
          <p:nvPr/>
        </p:nvSpPr>
        <p:spPr>
          <a:xfrm>
            <a:off x="8651" y="1525890"/>
            <a:ext cx="2972008" cy="2074025"/>
          </a:xfrm>
          <a:prstGeom prst="flowChartProcess">
            <a:avLst/>
          </a:prstGeom>
          <a:solidFill>
            <a:schemeClr val="bg1"/>
          </a:solidFill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result.py</a:t>
            </a:r>
          </a:p>
          <a:p>
            <a:r>
              <a:rPr lang="en-US" sz="1600" dirty="0">
                <a:solidFill>
                  <a:schemeClr val="tx1"/>
                </a:solidFill>
              </a:rPr>
              <a:t>Analysis and save/load of simulation results.</a:t>
            </a:r>
          </a:p>
          <a:p>
            <a:pPr marL="285750" indent="-285750">
              <a:buFontTx/>
              <a:buChar char="-"/>
            </a:pPr>
            <a:r>
              <a:rPr lang="en-US" sz="1600" b="1" dirty="0">
                <a:solidFill>
                  <a:schemeClr val="tx1"/>
                </a:solidFill>
              </a:rPr>
              <a:t>Result</a:t>
            </a:r>
            <a:r>
              <a:rPr lang="en-US" sz="1600" dirty="0">
                <a:solidFill>
                  <a:schemeClr val="tx1"/>
                </a:solidFill>
              </a:rPr>
              <a:t>: Class for storing and analyzing results from a simulation specified in </a:t>
            </a:r>
            <a:r>
              <a:rPr lang="en-US" sz="1600" dirty="0" err="1">
                <a:solidFill>
                  <a:schemeClr val="tx1"/>
                </a:solidFill>
                <a:highlight>
                  <a:srgbClr val="C0C0C0"/>
                </a:highlight>
              </a:rPr>
              <a:t>desired_result</a:t>
            </a:r>
            <a:r>
              <a:rPr lang="en-US" sz="1600" dirty="0">
                <a:solidFill>
                  <a:schemeClr val="tx1"/>
                </a:solidFill>
                <a:highlight>
                  <a:srgbClr val="C0C0C0"/>
                </a:highlight>
              </a:rPr>
              <a:t> </a:t>
            </a:r>
            <a:r>
              <a:rPr lang="en-US" sz="1600" dirty="0">
                <a:solidFill>
                  <a:schemeClr val="tx1"/>
                </a:solidFill>
              </a:rPr>
              <a:t>argument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8" name="Flowchart: Process 7">
            <a:extLst>
              <a:ext uri="{FF2B5EF4-FFF2-40B4-BE49-F238E27FC236}">
                <a16:creationId xmlns:a16="http://schemas.microsoft.com/office/drawing/2014/main" id="{BF883D02-5732-4B33-B279-BD73DACCC69B}"/>
              </a:ext>
            </a:extLst>
          </p:cNvPr>
          <p:cNvSpPr/>
          <p:nvPr/>
        </p:nvSpPr>
        <p:spPr>
          <a:xfrm>
            <a:off x="3106132" y="1525889"/>
            <a:ext cx="2775564" cy="3935373"/>
          </a:xfrm>
          <a:prstGeom prst="flowChartProcess">
            <a:avLst/>
          </a:prstGeom>
          <a:solidFill>
            <a:schemeClr val="bg1"/>
          </a:solidFill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tabulate.py</a:t>
            </a:r>
          </a:p>
          <a:p>
            <a:r>
              <a:rPr lang="en-US" sz="1600" dirty="0">
                <a:solidFill>
                  <a:schemeClr val="tx1"/>
                </a:solidFill>
              </a:rPr>
              <a:t>Construction of analyses based on samples.</a:t>
            </a:r>
          </a:p>
          <a:p>
            <a:pPr marL="285750" indent="-285750">
              <a:buFontTx/>
              <a:buChar char="-"/>
            </a:pPr>
            <a:r>
              <a:rPr lang="en-US" sz="1600" b="1" dirty="0">
                <a:solidFill>
                  <a:schemeClr val="tx1"/>
                </a:solidFill>
              </a:rPr>
              <a:t>FMEA</a:t>
            </a:r>
            <a:r>
              <a:rPr lang="en-US" sz="1600" dirty="0">
                <a:solidFill>
                  <a:schemeClr val="tx1"/>
                </a:solidFill>
              </a:rPr>
              <a:t>: FMEA-like assessment with faults, probabilities, and costs.</a:t>
            </a:r>
          </a:p>
          <a:p>
            <a:pPr marL="285750" indent="-285750">
              <a:buFontTx/>
              <a:buChar char="-"/>
            </a:pPr>
            <a:r>
              <a:rPr lang="en-US" sz="1600" b="1" dirty="0">
                <a:solidFill>
                  <a:schemeClr val="tx1"/>
                </a:solidFill>
              </a:rPr>
              <a:t>Comparison: </a:t>
            </a:r>
            <a:r>
              <a:rPr lang="en-US" sz="1600" dirty="0">
                <a:solidFill>
                  <a:schemeClr val="tx1"/>
                </a:solidFill>
              </a:rPr>
              <a:t>Class for comparing different metrics over different scenarios in a </a:t>
            </a:r>
            <a:r>
              <a:rPr lang="en-US" sz="1600" dirty="0" err="1">
                <a:solidFill>
                  <a:schemeClr val="tx1"/>
                </a:solidFill>
              </a:rPr>
              <a:t>ParameterSample</a:t>
            </a:r>
            <a:r>
              <a:rPr lang="en-US" sz="1600" dirty="0">
                <a:solidFill>
                  <a:schemeClr val="tx1"/>
                </a:solidFill>
              </a:rPr>
              <a:t>/</a:t>
            </a:r>
            <a:r>
              <a:rPr lang="en-US" sz="1600" dirty="0" err="1">
                <a:solidFill>
                  <a:schemeClr val="tx1"/>
                </a:solidFill>
              </a:rPr>
              <a:t>Faultsample</a:t>
            </a:r>
            <a:r>
              <a:rPr lang="en-US" sz="1600" dirty="0">
                <a:solidFill>
                  <a:schemeClr val="tx1"/>
                </a:solidFill>
              </a:rPr>
              <a:t>.</a:t>
            </a:r>
          </a:p>
          <a:p>
            <a:pPr marL="285750" indent="-285750">
              <a:buFontTx/>
              <a:buChar char="-"/>
            </a:pPr>
            <a:r>
              <a:rPr lang="en-US" sz="1600" b="1" dirty="0" err="1">
                <a:solidFill>
                  <a:schemeClr val="tx1"/>
                </a:solidFill>
              </a:rPr>
              <a:t>NominalEnvelope</a:t>
            </a:r>
            <a:r>
              <a:rPr lang="en-US" sz="1600" b="1" dirty="0">
                <a:solidFill>
                  <a:schemeClr val="tx1"/>
                </a:solidFill>
              </a:rPr>
              <a:t>:</a:t>
            </a:r>
            <a:r>
              <a:rPr lang="en-US" sz="1600" dirty="0">
                <a:solidFill>
                  <a:schemeClr val="tx1"/>
                </a:solidFill>
              </a:rPr>
              <a:t> Class for determining nominal envelope of system over a </a:t>
            </a:r>
            <a:r>
              <a:rPr lang="en-US" sz="1600" dirty="0" err="1">
                <a:solidFill>
                  <a:schemeClr val="tx1"/>
                </a:solidFill>
              </a:rPr>
              <a:t>ParameterSample</a:t>
            </a:r>
            <a:endParaRPr lang="en-US" sz="1600" b="1" dirty="0">
              <a:solidFill>
                <a:schemeClr val="tx1"/>
              </a:solidFill>
            </a:endParaRPr>
          </a:p>
        </p:txBody>
      </p:sp>
      <p:pic>
        <p:nvPicPr>
          <p:cNvPr id="1028" name="Picture 4" descr="Revitalizing NetworkX for Complex Network Analysis - Chan ...">
            <a:extLst>
              <a:ext uri="{FF2B5EF4-FFF2-40B4-BE49-F238E27FC236}">
                <a16:creationId xmlns:a16="http://schemas.microsoft.com/office/drawing/2014/main" id="{5D808FB4-2BE9-46FB-9B7D-707B90CD3F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67377" y="5777241"/>
            <a:ext cx="2048671" cy="458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Flowchart: Process 1">
            <a:extLst>
              <a:ext uri="{FF2B5EF4-FFF2-40B4-BE49-F238E27FC236}">
                <a16:creationId xmlns:a16="http://schemas.microsoft.com/office/drawing/2014/main" id="{5BFB8611-F122-DA60-B3A7-D1B438994E2D}"/>
              </a:ext>
            </a:extLst>
          </p:cNvPr>
          <p:cNvSpPr/>
          <p:nvPr/>
        </p:nvSpPr>
        <p:spPr>
          <a:xfrm>
            <a:off x="1" y="466132"/>
            <a:ext cx="12117786" cy="605193"/>
          </a:xfrm>
          <a:prstGeom prst="flowChartProcess">
            <a:avLst/>
          </a:prstGeom>
          <a:solidFill>
            <a:schemeClr val="bg1"/>
          </a:solidFill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common.py</a:t>
            </a:r>
          </a:p>
          <a:p>
            <a:r>
              <a:rPr lang="en-US" sz="1600" dirty="0">
                <a:solidFill>
                  <a:schemeClr val="tx1"/>
                </a:solidFill>
              </a:rPr>
              <a:t>Basic analysis utilities (plotting, calculations, </a:t>
            </a:r>
            <a:r>
              <a:rPr lang="en-US" sz="1600" dirty="0" err="1">
                <a:solidFill>
                  <a:schemeClr val="tx1"/>
                </a:solidFill>
              </a:rPr>
              <a:t>etc</a:t>
            </a:r>
            <a:r>
              <a:rPr lang="en-US" sz="1600" dirty="0">
                <a:solidFill>
                  <a:schemeClr val="tx1"/>
                </a:solidFill>
              </a:rPr>
              <a:t>) used throughout.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CDBAF90-F5F0-4872-84E3-53C2B60D00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6726" y="614503"/>
            <a:ext cx="1745673" cy="398790"/>
          </a:xfrm>
          <a:prstGeom prst="rect">
            <a:avLst/>
          </a:prstGeom>
        </p:spPr>
      </p:pic>
      <p:sp>
        <p:nvSpPr>
          <p:cNvPr id="3" name="Flowchart: Process 2">
            <a:extLst>
              <a:ext uri="{FF2B5EF4-FFF2-40B4-BE49-F238E27FC236}">
                <a16:creationId xmlns:a16="http://schemas.microsoft.com/office/drawing/2014/main" id="{F8183204-4E4B-7B56-7B2B-3F31B77B5F17}"/>
              </a:ext>
            </a:extLst>
          </p:cNvPr>
          <p:cNvSpPr/>
          <p:nvPr/>
        </p:nvSpPr>
        <p:spPr>
          <a:xfrm>
            <a:off x="8651" y="4042063"/>
            <a:ext cx="2983884" cy="2074025"/>
          </a:xfrm>
          <a:prstGeom prst="flowChartProcess">
            <a:avLst/>
          </a:prstGeom>
          <a:solidFill>
            <a:schemeClr val="bg1"/>
          </a:solidFill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history.py</a:t>
            </a:r>
          </a:p>
          <a:p>
            <a:r>
              <a:rPr lang="en-US" sz="1600" dirty="0">
                <a:solidFill>
                  <a:schemeClr val="tx1"/>
                </a:solidFill>
              </a:rPr>
              <a:t>Logging, processing, and simulation histories.</a:t>
            </a:r>
          </a:p>
          <a:p>
            <a:pPr marL="285750" indent="-285750">
              <a:buFontTx/>
              <a:buChar char="-"/>
            </a:pPr>
            <a:r>
              <a:rPr lang="en-US" sz="1600" b="1" dirty="0">
                <a:solidFill>
                  <a:schemeClr val="tx1"/>
                </a:solidFill>
              </a:rPr>
              <a:t>History</a:t>
            </a:r>
            <a:r>
              <a:rPr lang="en-US" sz="1600" dirty="0">
                <a:solidFill>
                  <a:schemeClr val="tx1"/>
                </a:solidFill>
              </a:rPr>
              <a:t>: Class for logging and analyzing results from a simulation specified by tracking options.</a:t>
            </a:r>
          </a:p>
        </p:txBody>
      </p:sp>
      <p:sp>
        <p:nvSpPr>
          <p:cNvPr id="4" name="Flowchart: Process 3">
            <a:extLst>
              <a:ext uri="{FF2B5EF4-FFF2-40B4-BE49-F238E27FC236}">
                <a16:creationId xmlns:a16="http://schemas.microsoft.com/office/drawing/2014/main" id="{64E68D44-CB30-B882-061B-B957F2F5E7F9}"/>
              </a:ext>
            </a:extLst>
          </p:cNvPr>
          <p:cNvSpPr/>
          <p:nvPr/>
        </p:nvSpPr>
        <p:spPr>
          <a:xfrm>
            <a:off x="6021537" y="1525887"/>
            <a:ext cx="2570566" cy="2929732"/>
          </a:xfrm>
          <a:prstGeom prst="flowChartProcess">
            <a:avLst/>
          </a:prstGeom>
          <a:solidFill>
            <a:schemeClr val="bg1"/>
          </a:solidFill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phases.py</a:t>
            </a:r>
            <a:endParaRPr lang="en-US" sz="1600" dirty="0">
              <a:solidFill>
                <a:schemeClr val="tx1"/>
              </a:solidFill>
            </a:endParaRPr>
          </a:p>
          <a:p>
            <a:r>
              <a:rPr lang="en-US" sz="1600" dirty="0">
                <a:solidFill>
                  <a:schemeClr val="tx1"/>
                </a:solidFill>
              </a:rPr>
              <a:t>Analysis of phases of operation in the system</a:t>
            </a:r>
          </a:p>
          <a:p>
            <a:pPr marL="285750" indent="-285750">
              <a:buFontTx/>
              <a:buChar char="-"/>
            </a:pPr>
            <a:r>
              <a:rPr lang="en-US" sz="1600" b="1" dirty="0" err="1">
                <a:solidFill>
                  <a:schemeClr val="tx1"/>
                </a:solidFill>
              </a:rPr>
              <a:t>PhaseMap</a:t>
            </a:r>
            <a:r>
              <a:rPr lang="en-US" sz="1600" b="1" dirty="0">
                <a:solidFill>
                  <a:schemeClr val="tx1"/>
                </a:solidFill>
              </a:rPr>
              <a:t>: </a:t>
            </a:r>
            <a:r>
              <a:rPr lang="en-US" sz="1600" dirty="0">
                <a:solidFill>
                  <a:schemeClr val="tx1"/>
                </a:solidFill>
              </a:rPr>
              <a:t>Class for interacting with model phases of operation for sampling and analysis.</a:t>
            </a:r>
          </a:p>
          <a:p>
            <a:pPr marL="285750" indent="-285750">
              <a:buFontTx/>
              <a:buChar char="-"/>
            </a:pPr>
            <a:r>
              <a:rPr lang="en-US" sz="1600" b="1" dirty="0" err="1">
                <a:solidFill>
                  <a:schemeClr val="tx1"/>
                </a:solidFill>
              </a:rPr>
              <a:t>from_hist</a:t>
            </a:r>
            <a:r>
              <a:rPr lang="en-US" sz="1600" b="1" dirty="0">
                <a:solidFill>
                  <a:schemeClr val="tx1"/>
                </a:solidFill>
              </a:rPr>
              <a:t>(): </a:t>
            </a:r>
            <a:r>
              <a:rPr lang="en-US" sz="1600" dirty="0">
                <a:solidFill>
                  <a:schemeClr val="tx1"/>
                </a:solidFill>
              </a:rPr>
              <a:t>method for generating </a:t>
            </a:r>
            <a:r>
              <a:rPr lang="en-US" sz="1600" dirty="0" err="1">
                <a:solidFill>
                  <a:schemeClr val="tx1"/>
                </a:solidFill>
              </a:rPr>
              <a:t>PhaseMaps</a:t>
            </a:r>
            <a:r>
              <a:rPr lang="en-US" sz="1600" dirty="0">
                <a:solidFill>
                  <a:schemeClr val="tx1"/>
                </a:solidFill>
              </a:rPr>
              <a:t> from throughout a model.</a:t>
            </a:r>
          </a:p>
          <a:p>
            <a:endParaRPr lang="en-US" sz="1600" dirty="0">
              <a:solidFill>
                <a:schemeClr val="tx1"/>
              </a:solidFill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D557C6E-272A-E11E-08CB-25C971DB06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3786" y="441593"/>
            <a:ext cx="1399404" cy="6297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pandas (software) - Wikipedia">
            <a:extLst>
              <a:ext uri="{FF2B5EF4-FFF2-40B4-BE49-F238E27FC236}">
                <a16:creationId xmlns:a16="http://schemas.microsoft.com/office/drawing/2014/main" id="{CDB94E6C-B997-7EC8-724A-FEEE544B1C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75085" y="504865"/>
            <a:ext cx="1529234" cy="6180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A2119A8-D698-909E-D2E5-9508E7CCF5B0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494655" y="1071325"/>
            <a:ext cx="0" cy="454565"/>
          </a:xfrm>
          <a:prstGeom prst="straightConnector1">
            <a:avLst/>
          </a:prstGeom>
          <a:ln w="38100">
            <a:solidFill>
              <a:schemeClr val="accent6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E7DEE9E-9CD5-A418-7DE6-54DC87DBDECE}"/>
              </a:ext>
            </a:extLst>
          </p:cNvPr>
          <p:cNvCxnSpPr>
            <a:cxnSpLocks/>
          </p:cNvCxnSpPr>
          <p:nvPr/>
        </p:nvCxnSpPr>
        <p:spPr>
          <a:xfrm flipV="1">
            <a:off x="4493914" y="1071324"/>
            <a:ext cx="0" cy="454565"/>
          </a:xfrm>
          <a:prstGeom prst="straightConnector1">
            <a:avLst/>
          </a:prstGeom>
          <a:ln w="38100">
            <a:solidFill>
              <a:schemeClr val="accent6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08A6D77-39E5-E0D2-3362-41F2D037FA64}"/>
              </a:ext>
            </a:extLst>
          </p:cNvPr>
          <p:cNvCxnSpPr>
            <a:cxnSpLocks/>
          </p:cNvCxnSpPr>
          <p:nvPr/>
        </p:nvCxnSpPr>
        <p:spPr>
          <a:xfrm flipV="1">
            <a:off x="7298896" y="1071322"/>
            <a:ext cx="0" cy="454565"/>
          </a:xfrm>
          <a:prstGeom prst="straightConnector1">
            <a:avLst/>
          </a:prstGeom>
          <a:ln w="38100">
            <a:solidFill>
              <a:schemeClr val="accent6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84440F6-58FA-B609-7BBD-EF997BE1457C}"/>
              </a:ext>
            </a:extLst>
          </p:cNvPr>
          <p:cNvCxnSpPr>
            <a:cxnSpLocks/>
          </p:cNvCxnSpPr>
          <p:nvPr/>
        </p:nvCxnSpPr>
        <p:spPr>
          <a:xfrm flipV="1">
            <a:off x="1397673" y="3599915"/>
            <a:ext cx="0" cy="454565"/>
          </a:xfrm>
          <a:prstGeom prst="straightConnector1">
            <a:avLst/>
          </a:prstGeom>
          <a:ln w="38100">
            <a:solidFill>
              <a:schemeClr val="accent6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2F081A5-594D-F87A-A434-1549C23E144B}"/>
              </a:ext>
            </a:extLst>
          </p:cNvPr>
          <p:cNvCxnSpPr>
            <a:cxnSpLocks/>
          </p:cNvCxnSpPr>
          <p:nvPr/>
        </p:nvCxnSpPr>
        <p:spPr>
          <a:xfrm flipV="1">
            <a:off x="10466526" y="1071322"/>
            <a:ext cx="0" cy="454565"/>
          </a:xfrm>
          <a:prstGeom prst="straightConnector1">
            <a:avLst/>
          </a:prstGeom>
          <a:ln w="38100">
            <a:solidFill>
              <a:schemeClr val="accent6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lowchart: Process 5">
            <a:extLst>
              <a:ext uri="{FF2B5EF4-FFF2-40B4-BE49-F238E27FC236}">
                <a16:creationId xmlns:a16="http://schemas.microsoft.com/office/drawing/2014/main" id="{66FCDDE0-2BC9-7D13-3256-1274F9535E88}"/>
              </a:ext>
            </a:extLst>
          </p:cNvPr>
          <p:cNvSpPr/>
          <p:nvPr/>
        </p:nvSpPr>
        <p:spPr>
          <a:xfrm>
            <a:off x="8804525" y="3225525"/>
            <a:ext cx="3324001" cy="1139695"/>
          </a:xfrm>
          <a:prstGeom prst="flowChartProcess">
            <a:avLst/>
          </a:prstGeom>
          <a:solidFill>
            <a:schemeClr val="bg1"/>
          </a:solidFill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base.py</a:t>
            </a:r>
            <a:endParaRPr lang="en-US" sz="1600" dirty="0">
              <a:solidFill>
                <a:schemeClr val="tx1"/>
              </a:solidFill>
            </a:endParaRPr>
          </a:p>
          <a:p>
            <a:r>
              <a:rPr lang="en-US" sz="1600" dirty="0">
                <a:solidFill>
                  <a:schemeClr val="tx1"/>
                </a:solidFill>
              </a:rPr>
              <a:t>Generic graph-based visualizations.</a:t>
            </a:r>
          </a:p>
          <a:p>
            <a:pPr marL="285750" indent="-285750">
              <a:buFontTx/>
              <a:buChar char="-"/>
            </a:pPr>
            <a:r>
              <a:rPr lang="en-US" sz="1600" b="1" dirty="0">
                <a:solidFill>
                  <a:schemeClr val="tx1"/>
                </a:solidFill>
              </a:rPr>
              <a:t>Graph: </a:t>
            </a:r>
            <a:r>
              <a:rPr lang="en-US" sz="1600" dirty="0">
                <a:solidFill>
                  <a:schemeClr val="tx1"/>
                </a:solidFill>
              </a:rPr>
              <a:t>Base class for displaying and interacting with graphs.</a:t>
            </a:r>
          </a:p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0" name="Flowchart: Process 9">
            <a:extLst>
              <a:ext uri="{FF2B5EF4-FFF2-40B4-BE49-F238E27FC236}">
                <a16:creationId xmlns:a16="http://schemas.microsoft.com/office/drawing/2014/main" id="{11836C59-11E6-FBBE-895B-14262CF2A8D7}"/>
              </a:ext>
            </a:extLst>
          </p:cNvPr>
          <p:cNvSpPr/>
          <p:nvPr/>
        </p:nvSpPr>
        <p:spPr>
          <a:xfrm>
            <a:off x="8716097" y="2149559"/>
            <a:ext cx="1742359" cy="800375"/>
          </a:xfrm>
          <a:prstGeom prst="flowChartProcess">
            <a:avLst/>
          </a:prstGeom>
          <a:solidFill>
            <a:schemeClr val="bg1"/>
          </a:solidFill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label.py</a:t>
            </a:r>
          </a:p>
          <a:p>
            <a:r>
              <a:rPr lang="en-US" sz="1600" dirty="0">
                <a:solidFill>
                  <a:schemeClr val="tx1"/>
                </a:solidFill>
              </a:rPr>
              <a:t>Defines graph labels.</a:t>
            </a:r>
          </a:p>
        </p:txBody>
      </p:sp>
      <p:sp>
        <p:nvSpPr>
          <p:cNvPr id="12" name="Flowchart: Process 11">
            <a:extLst>
              <a:ext uri="{FF2B5EF4-FFF2-40B4-BE49-F238E27FC236}">
                <a16:creationId xmlns:a16="http://schemas.microsoft.com/office/drawing/2014/main" id="{88279F10-B53E-23F2-92DF-C0404D68590C}"/>
              </a:ext>
            </a:extLst>
          </p:cNvPr>
          <p:cNvSpPr/>
          <p:nvPr/>
        </p:nvSpPr>
        <p:spPr>
          <a:xfrm>
            <a:off x="8792047" y="4622627"/>
            <a:ext cx="3324001" cy="1139695"/>
          </a:xfrm>
          <a:prstGeom prst="flowChartProcess">
            <a:avLst/>
          </a:prstGeom>
          <a:solidFill>
            <a:schemeClr val="bg1"/>
          </a:solidFill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model.py</a:t>
            </a:r>
          </a:p>
          <a:p>
            <a:r>
              <a:rPr lang="en-US" sz="1600" dirty="0">
                <a:solidFill>
                  <a:schemeClr val="tx1"/>
                </a:solidFill>
              </a:rPr>
              <a:t>Graph visualizations for models</a:t>
            </a:r>
          </a:p>
          <a:p>
            <a:pPr marL="285750" indent="-285750">
              <a:buFontTx/>
              <a:buChar char="-"/>
            </a:pPr>
            <a:r>
              <a:rPr lang="en-US" sz="1600" b="1" dirty="0" err="1">
                <a:solidFill>
                  <a:schemeClr val="tx1"/>
                </a:solidFill>
              </a:rPr>
              <a:t>ModelGraph</a:t>
            </a:r>
            <a:r>
              <a:rPr lang="en-US" sz="1600" b="1" dirty="0">
                <a:solidFill>
                  <a:schemeClr val="tx1"/>
                </a:solidFill>
              </a:rPr>
              <a:t>: </a:t>
            </a:r>
            <a:r>
              <a:rPr lang="en-US" sz="1600" dirty="0">
                <a:solidFill>
                  <a:schemeClr val="tx1"/>
                </a:solidFill>
              </a:rPr>
              <a:t>Class to represent model constructs as graphs</a:t>
            </a:r>
          </a:p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Flowchart: Process 12">
            <a:extLst>
              <a:ext uri="{FF2B5EF4-FFF2-40B4-BE49-F238E27FC236}">
                <a16:creationId xmlns:a16="http://schemas.microsoft.com/office/drawing/2014/main" id="{26DF5D43-C707-DDDB-8DFA-5BC6597D438F}"/>
              </a:ext>
            </a:extLst>
          </p:cNvPr>
          <p:cNvSpPr/>
          <p:nvPr/>
        </p:nvSpPr>
        <p:spPr>
          <a:xfrm>
            <a:off x="10458575" y="2143581"/>
            <a:ext cx="1742358" cy="800375"/>
          </a:xfrm>
          <a:prstGeom prst="flowChartProcess">
            <a:avLst/>
          </a:prstGeom>
          <a:solidFill>
            <a:schemeClr val="bg1"/>
          </a:solidFill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style.py</a:t>
            </a:r>
          </a:p>
          <a:p>
            <a:r>
              <a:rPr lang="en-US" sz="1600" dirty="0">
                <a:solidFill>
                  <a:schemeClr val="tx1"/>
                </a:solidFill>
              </a:rPr>
              <a:t>Defines node and edge styles.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1C4125A-EAED-FF7E-18A7-EFF67A7FB8C9}"/>
              </a:ext>
            </a:extLst>
          </p:cNvPr>
          <p:cNvCxnSpPr>
            <a:cxnSpLocks/>
          </p:cNvCxnSpPr>
          <p:nvPr/>
        </p:nvCxnSpPr>
        <p:spPr>
          <a:xfrm flipV="1">
            <a:off x="9513325" y="2943956"/>
            <a:ext cx="0" cy="281569"/>
          </a:xfrm>
          <a:prstGeom prst="straightConnector1">
            <a:avLst/>
          </a:prstGeom>
          <a:ln w="38100">
            <a:solidFill>
              <a:schemeClr val="accent6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A53837F-3657-A60D-41A1-BA981EA87136}"/>
              </a:ext>
            </a:extLst>
          </p:cNvPr>
          <p:cNvCxnSpPr>
            <a:cxnSpLocks/>
          </p:cNvCxnSpPr>
          <p:nvPr/>
        </p:nvCxnSpPr>
        <p:spPr>
          <a:xfrm flipV="1">
            <a:off x="11329754" y="2937849"/>
            <a:ext cx="0" cy="287676"/>
          </a:xfrm>
          <a:prstGeom prst="straightConnector1">
            <a:avLst/>
          </a:prstGeom>
          <a:ln w="38100">
            <a:solidFill>
              <a:schemeClr val="accent6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A5C5F95-ADB8-495F-227D-B258CCF4A766}"/>
              </a:ext>
            </a:extLst>
          </p:cNvPr>
          <p:cNvCxnSpPr>
            <a:cxnSpLocks/>
          </p:cNvCxnSpPr>
          <p:nvPr/>
        </p:nvCxnSpPr>
        <p:spPr>
          <a:xfrm flipV="1">
            <a:off x="10466525" y="4330630"/>
            <a:ext cx="0" cy="286137"/>
          </a:xfrm>
          <a:prstGeom prst="straightConnector1">
            <a:avLst/>
          </a:prstGeom>
          <a:ln w="38100">
            <a:solidFill>
              <a:schemeClr val="accent6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46968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46">
            <a:extLst>
              <a:ext uri="{FF2B5EF4-FFF2-40B4-BE49-F238E27FC236}">
                <a16:creationId xmlns:a16="http://schemas.microsoft.com/office/drawing/2014/main" id="{6E3E3584-227D-7E46-0587-6F88879284F0}"/>
              </a:ext>
            </a:extLst>
          </p:cNvPr>
          <p:cNvSpPr/>
          <p:nvPr/>
        </p:nvSpPr>
        <p:spPr>
          <a:xfrm>
            <a:off x="646999" y="4653965"/>
            <a:ext cx="1583017" cy="34784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3E2ED7F-4DC9-2335-F24F-A1C31AA19CD2}"/>
              </a:ext>
            </a:extLst>
          </p:cNvPr>
          <p:cNvSpPr/>
          <p:nvPr/>
        </p:nvSpPr>
        <p:spPr>
          <a:xfrm>
            <a:off x="613775" y="4368335"/>
            <a:ext cx="2334698" cy="347847"/>
          </a:xfrm>
          <a:prstGeom prst="rect">
            <a:avLst/>
          </a:prstGeom>
          <a:solidFill>
            <a:srgbClr val="FA767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7FDA4EB-098B-1E78-EDBE-908157E2832A}"/>
              </a:ext>
            </a:extLst>
          </p:cNvPr>
          <p:cNvSpPr/>
          <p:nvPr/>
        </p:nvSpPr>
        <p:spPr>
          <a:xfrm>
            <a:off x="646999" y="3765232"/>
            <a:ext cx="4100829" cy="665117"/>
          </a:xfrm>
          <a:prstGeom prst="rect">
            <a:avLst/>
          </a:prstGeom>
          <a:solidFill>
            <a:srgbClr val="F1D9F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1D0A73A-8B97-E20D-C276-F3F28FF97A4D}"/>
              </a:ext>
            </a:extLst>
          </p:cNvPr>
          <p:cNvSpPr/>
          <p:nvPr/>
        </p:nvSpPr>
        <p:spPr>
          <a:xfrm>
            <a:off x="5145561" y="1938114"/>
            <a:ext cx="4992785" cy="33409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13E456E-4943-61DF-34C0-62DB5DA7A545}"/>
              </a:ext>
            </a:extLst>
          </p:cNvPr>
          <p:cNvSpPr/>
          <p:nvPr/>
        </p:nvSpPr>
        <p:spPr>
          <a:xfrm>
            <a:off x="5145562" y="1367209"/>
            <a:ext cx="2647714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F08E9D8-9C65-7752-4B6F-87BEE9AB394D}"/>
              </a:ext>
            </a:extLst>
          </p:cNvPr>
          <p:cNvSpPr/>
          <p:nvPr/>
        </p:nvSpPr>
        <p:spPr>
          <a:xfrm>
            <a:off x="994561" y="1214301"/>
            <a:ext cx="865097" cy="56784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74D2E71-19F1-3EBF-3C2C-0079DFF87A09}"/>
              </a:ext>
            </a:extLst>
          </p:cNvPr>
          <p:cNvSpPr/>
          <p:nvPr/>
        </p:nvSpPr>
        <p:spPr>
          <a:xfrm>
            <a:off x="1809557" y="1214301"/>
            <a:ext cx="653726" cy="56784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188504-BF51-14F1-B1F5-5BF81B37EC09}"/>
              </a:ext>
            </a:extLst>
          </p:cNvPr>
          <p:cNvSpPr/>
          <p:nvPr/>
        </p:nvSpPr>
        <p:spPr>
          <a:xfrm>
            <a:off x="2375490" y="1214301"/>
            <a:ext cx="1468722" cy="56784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5070845-5D0F-5ACA-9BCF-31CFC714FB7B}"/>
              </a:ext>
            </a:extLst>
          </p:cNvPr>
          <p:cNvSpPr/>
          <p:nvPr/>
        </p:nvSpPr>
        <p:spPr>
          <a:xfrm>
            <a:off x="764651" y="956664"/>
            <a:ext cx="3900652" cy="93306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1600" dirty="0"/>
              <a:t>class </a:t>
            </a:r>
            <a:r>
              <a:rPr lang="en-US" sz="1600" dirty="0" err="1"/>
              <a:t>StateName</a:t>
            </a:r>
            <a:r>
              <a:rPr lang="en-US" sz="1600" dirty="0"/>
              <a:t>(State):</a:t>
            </a:r>
          </a:p>
          <a:p>
            <a:r>
              <a:rPr lang="en-US" sz="1600" dirty="0"/>
              <a:t>    varname1: float = 1.0</a:t>
            </a:r>
          </a:p>
          <a:p>
            <a:r>
              <a:rPr lang="en-US" sz="1600" dirty="0"/>
              <a:t>    varname2: str = “</a:t>
            </a:r>
            <a:r>
              <a:rPr lang="en-US" sz="1600" dirty="0" err="1"/>
              <a:t>default_value</a:t>
            </a:r>
            <a:r>
              <a:rPr lang="en-US" sz="1600" dirty="0"/>
              <a:t>”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D4A9F2-AB40-E7B4-93E6-86058C2BEB8C}"/>
              </a:ext>
            </a:extLst>
          </p:cNvPr>
          <p:cNvSpPr/>
          <p:nvPr/>
        </p:nvSpPr>
        <p:spPr>
          <a:xfrm>
            <a:off x="5026521" y="884341"/>
            <a:ext cx="5533509" cy="1287625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1600" dirty="0"/>
              <a:t>class </a:t>
            </a:r>
            <a:r>
              <a:rPr lang="en-US" sz="1600" dirty="0" err="1"/>
              <a:t>ParameterName</a:t>
            </a:r>
            <a:r>
              <a:rPr lang="en-US" sz="1600" dirty="0"/>
              <a:t>(Parameter):</a:t>
            </a:r>
          </a:p>
          <a:p>
            <a:r>
              <a:rPr lang="en-US" sz="1600" dirty="0"/>
              <a:t>    varname1: float = 1.0</a:t>
            </a:r>
          </a:p>
          <a:p>
            <a:r>
              <a:rPr lang="en-US" sz="1600" dirty="0"/>
              <a:t>    varname1_range = (0.0, 10.0)</a:t>
            </a:r>
          </a:p>
          <a:p>
            <a:r>
              <a:rPr lang="en-US" sz="1600" dirty="0"/>
              <a:t>    varname2 : str = “</a:t>
            </a:r>
            <a:r>
              <a:rPr lang="en-US" sz="1600" dirty="0" err="1"/>
              <a:t>default_value</a:t>
            </a:r>
            <a:r>
              <a:rPr lang="en-US" sz="1600" dirty="0"/>
              <a:t>”</a:t>
            </a:r>
          </a:p>
          <a:p>
            <a:r>
              <a:rPr lang="en-US" sz="1600" dirty="0"/>
              <a:t>    varname2_set = (“</a:t>
            </a:r>
            <a:r>
              <a:rPr lang="en-US" sz="1600" dirty="0" err="1"/>
              <a:t>default_value</a:t>
            </a:r>
            <a:r>
              <a:rPr lang="en-US" sz="1600" dirty="0"/>
              <a:t>”, “</a:t>
            </a:r>
            <a:r>
              <a:rPr lang="en-US" sz="1600" dirty="0" err="1"/>
              <a:t>other_possible_value</a:t>
            </a:r>
            <a:r>
              <a:rPr lang="en-US" sz="1600" dirty="0"/>
              <a:t>”)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94732F1-90B0-DA8E-3B66-8C9633111125}"/>
              </a:ext>
            </a:extLst>
          </p:cNvPr>
          <p:cNvSpPr/>
          <p:nvPr/>
        </p:nvSpPr>
        <p:spPr>
          <a:xfrm>
            <a:off x="438079" y="3681725"/>
            <a:ext cx="5533509" cy="1287625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1600" dirty="0"/>
              <a:t>class </a:t>
            </a:r>
            <a:r>
              <a:rPr lang="en-US" sz="1600" dirty="0" err="1"/>
              <a:t>ModeName</a:t>
            </a:r>
            <a:r>
              <a:rPr lang="en-US" sz="1600" dirty="0"/>
              <a:t>(Mode):</a:t>
            </a:r>
          </a:p>
          <a:p>
            <a:r>
              <a:rPr lang="en-US" sz="1600" dirty="0"/>
              <a:t>    fault_faultname1 = (0.001, 200.0),</a:t>
            </a:r>
          </a:p>
          <a:p>
            <a:r>
              <a:rPr lang="en-US" sz="1600" dirty="0"/>
              <a:t>    fault_faultname2 = (0.00001, 100.0, {‘on’: 1.0})</a:t>
            </a:r>
          </a:p>
          <a:p>
            <a:r>
              <a:rPr lang="en-US" sz="1600" dirty="0"/>
              <a:t>    </a:t>
            </a:r>
            <a:r>
              <a:rPr lang="en-US" sz="1600" dirty="0" err="1"/>
              <a:t>opermodes</a:t>
            </a:r>
            <a:r>
              <a:rPr lang="en-US" sz="1600" dirty="0"/>
              <a:t> = (“off”, “on”)</a:t>
            </a:r>
          </a:p>
          <a:p>
            <a:r>
              <a:rPr lang="en-US" sz="1600" dirty="0"/>
              <a:t>    mode: str = “off”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365AE3-4F9A-EDD0-019A-5A7994D97D75}"/>
              </a:ext>
            </a:extLst>
          </p:cNvPr>
          <p:cNvSpPr txBox="1"/>
          <p:nvPr/>
        </p:nvSpPr>
        <p:spPr>
          <a:xfrm>
            <a:off x="289055" y="225584"/>
            <a:ext cx="46186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State classes are used to represent variables (called fields) that change over time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74FEB2-B158-D527-32D3-6F942715F958}"/>
              </a:ext>
            </a:extLst>
          </p:cNvPr>
          <p:cNvSpPr txBox="1"/>
          <p:nvPr/>
        </p:nvSpPr>
        <p:spPr>
          <a:xfrm>
            <a:off x="5283555" y="95362"/>
            <a:ext cx="54186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Parameter classes are used to represent variables that don’t change over time, with similar syntax to States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9ECC82-9084-E2C6-CAF2-AA2E726052B8}"/>
              </a:ext>
            </a:extLst>
          </p:cNvPr>
          <p:cNvSpPr txBox="1"/>
          <p:nvPr/>
        </p:nvSpPr>
        <p:spPr>
          <a:xfrm>
            <a:off x="432935" y="3030090"/>
            <a:ext cx="58569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Mode classes are used to represent modes (faults and operational modes) that could occur in the system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2857048-6292-CD42-0F46-CBCFA871371E}"/>
              </a:ext>
            </a:extLst>
          </p:cNvPr>
          <p:cNvSpPr/>
          <p:nvPr/>
        </p:nvSpPr>
        <p:spPr>
          <a:xfrm>
            <a:off x="438079" y="2034988"/>
            <a:ext cx="1287889" cy="52160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Field name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77F69E7-6A81-066C-FC09-D8FFFC050E51}"/>
              </a:ext>
            </a:extLst>
          </p:cNvPr>
          <p:cNvSpPr/>
          <p:nvPr/>
        </p:nvSpPr>
        <p:spPr>
          <a:xfrm>
            <a:off x="1809557" y="2040292"/>
            <a:ext cx="1287889" cy="52160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Field type or class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8842B17-396E-6512-A2B8-923EEFEF084B}"/>
              </a:ext>
            </a:extLst>
          </p:cNvPr>
          <p:cNvSpPr/>
          <p:nvPr/>
        </p:nvSpPr>
        <p:spPr>
          <a:xfrm>
            <a:off x="3142607" y="2034988"/>
            <a:ext cx="1287889" cy="52160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Default initial value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E9E0321-99F7-ED50-3F09-17A712A75D57}"/>
              </a:ext>
            </a:extLst>
          </p:cNvPr>
          <p:cNvCxnSpPr>
            <a:cxnSpLocks/>
          </p:cNvCxnSpPr>
          <p:nvPr/>
        </p:nvCxnSpPr>
        <p:spPr>
          <a:xfrm flipV="1">
            <a:off x="1427109" y="1761807"/>
            <a:ext cx="0" cy="28690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5C921A3-553F-51CB-BFC2-9DDA8D52E77E}"/>
              </a:ext>
            </a:extLst>
          </p:cNvPr>
          <p:cNvCxnSpPr>
            <a:cxnSpLocks/>
          </p:cNvCxnSpPr>
          <p:nvPr/>
        </p:nvCxnSpPr>
        <p:spPr>
          <a:xfrm flipV="1">
            <a:off x="2136420" y="1723204"/>
            <a:ext cx="0" cy="325506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DE668A8-9C40-21D8-275F-DC363707A2E6}"/>
              </a:ext>
            </a:extLst>
          </p:cNvPr>
          <p:cNvCxnSpPr>
            <a:cxnSpLocks/>
          </p:cNvCxnSpPr>
          <p:nvPr/>
        </p:nvCxnSpPr>
        <p:spPr>
          <a:xfrm flipV="1">
            <a:off x="3361425" y="1761806"/>
            <a:ext cx="0" cy="286903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DCA6D54C-73E7-F1A4-75FC-2D6AE5C0E7F5}"/>
              </a:ext>
            </a:extLst>
          </p:cNvPr>
          <p:cNvSpPr/>
          <p:nvPr/>
        </p:nvSpPr>
        <p:spPr>
          <a:xfrm>
            <a:off x="8244483" y="1265737"/>
            <a:ext cx="2780869" cy="52160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varname1_range defines allowable range for the variable varname1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9E457197-5BC2-81D4-8BDF-3136762C4A9A}"/>
              </a:ext>
            </a:extLst>
          </p:cNvPr>
          <p:cNvCxnSpPr>
            <a:cxnSpLocks/>
            <a:stCxn id="24" idx="1"/>
          </p:cNvCxnSpPr>
          <p:nvPr/>
        </p:nvCxnSpPr>
        <p:spPr>
          <a:xfrm flipH="1">
            <a:off x="7779701" y="1526538"/>
            <a:ext cx="464782" cy="0"/>
          </a:xfrm>
          <a:prstGeom prst="straightConnector1">
            <a:avLst/>
          </a:prstGeom>
          <a:ln w="38100">
            <a:solidFill>
              <a:schemeClr val="accent4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44707B8E-3DA1-8361-A75E-DE9C3C869472}"/>
              </a:ext>
            </a:extLst>
          </p:cNvPr>
          <p:cNvSpPr/>
          <p:nvPr/>
        </p:nvSpPr>
        <p:spPr>
          <a:xfrm>
            <a:off x="5214557" y="2479817"/>
            <a:ext cx="4854792" cy="33409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varname2_set defines allowable values for the field varname2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B7CBD60-B28E-AE5F-819B-E8BD8B2414C7}"/>
              </a:ext>
            </a:extLst>
          </p:cNvPr>
          <p:cNvCxnSpPr>
            <a:cxnSpLocks/>
            <a:stCxn id="29" idx="0"/>
            <a:endCxn id="30" idx="2"/>
          </p:cNvCxnSpPr>
          <p:nvPr/>
        </p:nvCxnSpPr>
        <p:spPr>
          <a:xfrm flipV="1">
            <a:off x="7641953" y="2272208"/>
            <a:ext cx="1" cy="207609"/>
          </a:xfrm>
          <a:prstGeom prst="straightConnector1">
            <a:avLst/>
          </a:prstGeom>
          <a:ln w="381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13816940-3C78-5CE3-EE3F-B3D9B83A216E}"/>
              </a:ext>
            </a:extLst>
          </p:cNvPr>
          <p:cNvSpPr/>
          <p:nvPr/>
        </p:nvSpPr>
        <p:spPr>
          <a:xfrm>
            <a:off x="5801318" y="3752227"/>
            <a:ext cx="4900894" cy="665117"/>
          </a:xfrm>
          <a:prstGeom prst="rect">
            <a:avLst/>
          </a:prstGeom>
          <a:solidFill>
            <a:srgbClr val="F1D9F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Dictionary of fault names and their optional properties (rate, repair cost, phases they could occur and their rates)</a:t>
            </a:r>
            <a:endParaRPr lang="en-US" sz="1400" b="1" dirty="0">
              <a:solidFill>
                <a:schemeClr val="tx1"/>
              </a:solidFill>
            </a:endParaRP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6C6AB08-9845-2B2C-83A9-7C465BC32BB2}"/>
              </a:ext>
            </a:extLst>
          </p:cNvPr>
          <p:cNvCxnSpPr>
            <a:cxnSpLocks/>
            <a:endCxn id="37" idx="3"/>
          </p:cNvCxnSpPr>
          <p:nvPr/>
        </p:nvCxnSpPr>
        <p:spPr>
          <a:xfrm flipH="1">
            <a:off x="4747828" y="4087109"/>
            <a:ext cx="1053490" cy="10682"/>
          </a:xfrm>
          <a:prstGeom prst="straightConnector1">
            <a:avLst/>
          </a:prstGeom>
          <a:ln w="38100">
            <a:solidFill>
              <a:srgbClr val="E890E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AA1009E7-841C-B432-336E-5EE4C7C50728}"/>
              </a:ext>
            </a:extLst>
          </p:cNvPr>
          <p:cNvSpPr/>
          <p:nvPr/>
        </p:nvSpPr>
        <p:spPr>
          <a:xfrm>
            <a:off x="5801317" y="4399342"/>
            <a:ext cx="3921180" cy="347847"/>
          </a:xfrm>
          <a:prstGeom prst="rect">
            <a:avLst/>
          </a:prstGeom>
          <a:solidFill>
            <a:srgbClr val="FA767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black"/>
                </a:solidFill>
                <a:latin typeface="Calibri" panose="020F0502020204030204"/>
              </a:rPr>
              <a:t>List of potential operational modes (if multiple)</a:t>
            </a:r>
            <a:endParaRPr lang="en-US" dirty="0"/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DBEA0CCF-AEFC-69E3-BF3D-5904354ADCCD}"/>
              </a:ext>
            </a:extLst>
          </p:cNvPr>
          <p:cNvCxnSpPr>
            <a:cxnSpLocks/>
            <a:stCxn id="40" idx="1"/>
          </p:cNvCxnSpPr>
          <p:nvPr/>
        </p:nvCxnSpPr>
        <p:spPr>
          <a:xfrm flipH="1">
            <a:off x="2948473" y="4573266"/>
            <a:ext cx="2852844" cy="9645"/>
          </a:xfrm>
          <a:prstGeom prst="straightConnector1">
            <a:avLst/>
          </a:prstGeom>
          <a:ln w="38100">
            <a:solidFill>
              <a:srgbClr val="F919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35448C8D-658C-BEBE-C7E5-E785FDD5473B}"/>
              </a:ext>
            </a:extLst>
          </p:cNvPr>
          <p:cNvSpPr/>
          <p:nvPr/>
        </p:nvSpPr>
        <p:spPr>
          <a:xfrm>
            <a:off x="5801317" y="4747189"/>
            <a:ext cx="3566617" cy="34784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Default mode (if multiple modes/not nominal)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300CFA39-6CF8-D764-D9D7-5B6B7790AB18}"/>
              </a:ext>
            </a:extLst>
          </p:cNvPr>
          <p:cNvCxnSpPr>
            <a:cxnSpLocks/>
            <a:stCxn id="46" idx="1"/>
          </p:cNvCxnSpPr>
          <p:nvPr/>
        </p:nvCxnSpPr>
        <p:spPr>
          <a:xfrm flipH="1" flipV="1">
            <a:off x="2263240" y="4875589"/>
            <a:ext cx="3538077" cy="45524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11926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E05E7D8F-7178-C0FA-3C79-7BC494D2EE9F}"/>
              </a:ext>
            </a:extLst>
          </p:cNvPr>
          <p:cNvSpPr/>
          <p:nvPr/>
        </p:nvSpPr>
        <p:spPr>
          <a:xfrm>
            <a:off x="596306" y="2011624"/>
            <a:ext cx="3626498" cy="55429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426D857-88DA-B68B-F22B-703A29FCCABD}"/>
              </a:ext>
            </a:extLst>
          </p:cNvPr>
          <p:cNvSpPr/>
          <p:nvPr/>
        </p:nvSpPr>
        <p:spPr>
          <a:xfrm>
            <a:off x="514110" y="2688349"/>
            <a:ext cx="5285570" cy="108945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5FC196C-C8D8-5A27-5F55-F9FA6125A8AF}"/>
              </a:ext>
            </a:extLst>
          </p:cNvPr>
          <p:cNvSpPr/>
          <p:nvPr/>
        </p:nvSpPr>
        <p:spPr>
          <a:xfrm>
            <a:off x="626989" y="2378458"/>
            <a:ext cx="2349924" cy="31897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49DAFC3-4513-6A0A-BD32-2807BA04FCBE}"/>
              </a:ext>
            </a:extLst>
          </p:cNvPr>
          <p:cNvSpPr/>
          <p:nvPr/>
        </p:nvSpPr>
        <p:spPr>
          <a:xfrm>
            <a:off x="367857" y="1661745"/>
            <a:ext cx="5337571" cy="2592113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1600" dirty="0"/>
              <a:t>class </a:t>
            </a:r>
            <a:r>
              <a:rPr lang="en-US" sz="1600" dirty="0" err="1"/>
              <a:t>FlowName</a:t>
            </a:r>
            <a:r>
              <a:rPr lang="en-US" sz="1600" dirty="0"/>
              <a:t>(Flow):</a:t>
            </a:r>
          </a:p>
          <a:p>
            <a:r>
              <a:rPr lang="en-US" sz="1600" dirty="0"/>
              <a:t>    </a:t>
            </a:r>
            <a:r>
              <a:rPr lang="en-US" sz="1600" dirty="0" err="1"/>
              <a:t>container_s</a:t>
            </a:r>
            <a:r>
              <a:rPr lang="en-US" sz="1600" dirty="0"/>
              <a:t> = </a:t>
            </a:r>
            <a:r>
              <a:rPr lang="en-US" sz="1600" dirty="0" err="1"/>
              <a:t>StateName</a:t>
            </a:r>
            <a:endParaRPr lang="en-US" sz="1600" dirty="0"/>
          </a:p>
          <a:p>
            <a:r>
              <a:rPr lang="en-US" sz="1600" dirty="0"/>
              <a:t>    </a:t>
            </a:r>
            <a:r>
              <a:rPr lang="en-US" sz="1600" dirty="0" err="1"/>
              <a:t>container_p</a:t>
            </a:r>
            <a:r>
              <a:rPr lang="en-US" sz="1600" dirty="0"/>
              <a:t> = </a:t>
            </a:r>
            <a:r>
              <a:rPr lang="en-US" sz="1600" dirty="0" err="1"/>
              <a:t>ParameterName</a:t>
            </a:r>
            <a:endParaRPr lang="en-US" sz="1600" dirty="0"/>
          </a:p>
          <a:p>
            <a:r>
              <a:rPr lang="en-US" sz="1600" dirty="0"/>
              <a:t>    </a:t>
            </a:r>
            <a:r>
              <a:rPr lang="en-US" sz="1600" dirty="0" err="1"/>
              <a:t>default_track</a:t>
            </a:r>
            <a:r>
              <a:rPr lang="en-US" sz="1600" dirty="0"/>
              <a:t> = [‘</a:t>
            </a:r>
            <a:r>
              <a:rPr lang="en-US" sz="1600" dirty="0" err="1"/>
              <a:t>s’,’m</a:t>
            </a:r>
            <a:r>
              <a:rPr lang="en-US" sz="1600" dirty="0"/>
              <a:t>’]</a:t>
            </a:r>
          </a:p>
          <a:p>
            <a:r>
              <a:rPr lang="en-US" sz="1600" dirty="0"/>
              <a:t> def </a:t>
            </a:r>
            <a:r>
              <a:rPr lang="en-US" sz="1600" dirty="0" err="1"/>
              <a:t>indicate_XXX</a:t>
            </a:r>
            <a:r>
              <a:rPr lang="en-US" sz="1600" dirty="0"/>
              <a:t>(self):</a:t>
            </a:r>
          </a:p>
          <a:p>
            <a:r>
              <a:rPr lang="en-US" sz="1600" dirty="0"/>
              <a:t>        </a:t>
            </a:r>
            <a:r>
              <a:rPr lang="en-US" sz="1600" dirty="0">
                <a:highlight>
                  <a:srgbClr val="00FF00"/>
                </a:highlight>
              </a:rPr>
              <a:t>Conditional statement (e.g., </a:t>
            </a:r>
            <a:r>
              <a:rPr lang="en-US" sz="1600" dirty="0" err="1">
                <a:highlight>
                  <a:srgbClr val="00FF00"/>
                </a:highlight>
              </a:rPr>
              <a:t>self.s.state</a:t>
            </a:r>
            <a:r>
              <a:rPr lang="en-US" sz="1600" dirty="0">
                <a:highlight>
                  <a:srgbClr val="00FF00"/>
                </a:highlight>
              </a:rPr>
              <a:t>&gt;threshold) which is logged in the history and may be used to terminate simulations</a:t>
            </a:r>
            <a:endParaRPr lang="en-US" sz="16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1C7F11E-A072-A4AD-F38A-E3E4DF026A82}"/>
              </a:ext>
            </a:extLst>
          </p:cNvPr>
          <p:cNvSpPr/>
          <p:nvPr/>
        </p:nvSpPr>
        <p:spPr>
          <a:xfrm>
            <a:off x="6285265" y="2066925"/>
            <a:ext cx="5538878" cy="63050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Specifies which container classes play specific Flow </a:t>
            </a:r>
            <a:r>
              <a:rPr lang="en-US" sz="1400" b="1" dirty="0">
                <a:solidFill>
                  <a:schemeClr val="tx1"/>
                </a:solidFill>
              </a:rPr>
              <a:t>roles </a:t>
            </a:r>
            <a:r>
              <a:rPr lang="en-US" sz="1400" dirty="0">
                <a:solidFill>
                  <a:schemeClr val="tx1"/>
                </a:solidFill>
              </a:rPr>
              <a:t>(e.g., s corresponds to the state role, p corresponds to a parameter role, m corresponds to the mode role, </a:t>
            </a:r>
            <a:r>
              <a:rPr lang="en-US" sz="1400" dirty="0" err="1">
                <a:solidFill>
                  <a:schemeClr val="tx1"/>
                </a:solidFill>
              </a:rPr>
              <a:t>etc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0E1143D-39EF-EF61-5A8C-1F769C7E2B57}"/>
              </a:ext>
            </a:extLst>
          </p:cNvPr>
          <p:cNvCxnSpPr>
            <a:cxnSpLocks/>
            <a:stCxn id="13" idx="1"/>
          </p:cNvCxnSpPr>
          <p:nvPr/>
        </p:nvCxnSpPr>
        <p:spPr>
          <a:xfrm flipH="1" flipV="1">
            <a:off x="4177875" y="2323532"/>
            <a:ext cx="2107390" cy="5864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B3FA68BA-1FEA-C881-36F8-4A1E9300C7D7}"/>
              </a:ext>
            </a:extLst>
          </p:cNvPr>
          <p:cNvSpPr/>
          <p:nvPr/>
        </p:nvSpPr>
        <p:spPr>
          <a:xfrm>
            <a:off x="6283150" y="3478717"/>
            <a:ext cx="5540993" cy="508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These methods define Flow </a:t>
            </a:r>
            <a:r>
              <a:rPr lang="en-US" sz="1400" b="1" dirty="0">
                <a:solidFill>
                  <a:schemeClr val="tx1"/>
                </a:solidFill>
              </a:rPr>
              <a:t>indicators</a:t>
            </a:r>
            <a:r>
              <a:rPr lang="en-US" sz="1400" dirty="0">
                <a:solidFill>
                  <a:schemeClr val="tx1"/>
                </a:solidFill>
              </a:rPr>
              <a:t> and are called/tracked during simulation (in </a:t>
            </a:r>
            <a:r>
              <a:rPr lang="en-US" sz="1400" dirty="0" err="1">
                <a:solidFill>
                  <a:schemeClr val="tx1"/>
                </a:solidFill>
              </a:rPr>
              <a:t>flow.i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49163A-33FF-1950-9ACC-BF0584A16ED1}"/>
              </a:ext>
            </a:extLst>
          </p:cNvPr>
          <p:cNvCxnSpPr>
            <a:cxnSpLocks/>
            <a:stCxn id="17" idx="1"/>
          </p:cNvCxnSpPr>
          <p:nvPr/>
        </p:nvCxnSpPr>
        <p:spPr>
          <a:xfrm flipH="1" flipV="1">
            <a:off x="5065991" y="3426469"/>
            <a:ext cx="1217159" cy="306548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E6E4E031-A442-C267-76D9-5349371FBA62}"/>
              </a:ext>
            </a:extLst>
          </p:cNvPr>
          <p:cNvSpPr/>
          <p:nvPr/>
        </p:nvSpPr>
        <p:spPr>
          <a:xfrm>
            <a:off x="6283150" y="2749677"/>
            <a:ext cx="5540993" cy="74065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Specifies </a:t>
            </a:r>
            <a:r>
              <a:rPr lang="en-US" sz="1400" b="1" dirty="0">
                <a:solidFill>
                  <a:schemeClr val="tx1"/>
                </a:solidFill>
              </a:rPr>
              <a:t>what should be tracked</a:t>
            </a:r>
            <a:r>
              <a:rPr lang="en-US" sz="1400" dirty="0">
                <a:solidFill>
                  <a:schemeClr val="tx1"/>
                </a:solidFill>
              </a:rPr>
              <a:t> in the </a:t>
            </a:r>
            <a:r>
              <a:rPr lang="en-US" sz="1400" dirty="0" err="1">
                <a:solidFill>
                  <a:schemeClr val="tx1"/>
                </a:solidFill>
              </a:rPr>
              <a:t>FxnBlock</a:t>
            </a:r>
            <a:r>
              <a:rPr lang="en-US" sz="1400" dirty="0">
                <a:solidFill>
                  <a:schemeClr val="tx1"/>
                </a:solidFill>
              </a:rPr>
              <a:t> history (</a:t>
            </a:r>
            <a:r>
              <a:rPr lang="en-US" sz="1400" dirty="0" err="1">
                <a:solidFill>
                  <a:schemeClr val="tx1"/>
                </a:solidFill>
              </a:rPr>
              <a:t>fxnname.h</a:t>
            </a:r>
            <a:r>
              <a:rPr lang="en-US" sz="1400" dirty="0">
                <a:solidFill>
                  <a:schemeClr val="tx1"/>
                </a:solidFill>
              </a:rPr>
              <a:t>) by default. May be a </a:t>
            </a:r>
            <a:r>
              <a:rPr lang="en-US" sz="1400" dirty="0" err="1">
                <a:solidFill>
                  <a:schemeClr val="tx1"/>
                </a:solidFill>
              </a:rPr>
              <a:t>dict</a:t>
            </a:r>
            <a:r>
              <a:rPr lang="en-US" sz="1400" dirty="0">
                <a:solidFill>
                  <a:schemeClr val="tx1"/>
                </a:solidFill>
              </a:rPr>
              <a:t> ({</a:t>
            </a:r>
            <a:r>
              <a:rPr lang="en-US" sz="1400" dirty="0" err="1">
                <a:solidFill>
                  <a:schemeClr val="tx1"/>
                </a:solidFill>
              </a:rPr>
              <a:t>role:value</a:t>
            </a:r>
            <a:r>
              <a:rPr lang="en-US" sz="1400" dirty="0">
                <a:solidFill>
                  <a:schemeClr val="tx1"/>
                </a:solidFill>
              </a:rPr>
              <a:t>}), list ([role1, role2]), or string (“</a:t>
            </a:r>
            <a:r>
              <a:rPr lang="en-US" sz="1400" dirty="0" err="1">
                <a:solidFill>
                  <a:schemeClr val="tx1"/>
                </a:solidFill>
              </a:rPr>
              <a:t>all”,”none</a:t>
            </a:r>
            <a:r>
              <a:rPr lang="en-US" sz="1400" dirty="0">
                <a:solidFill>
                  <a:schemeClr val="tx1"/>
                </a:solidFill>
              </a:rPr>
              <a:t>”, </a:t>
            </a:r>
            <a:r>
              <a:rPr lang="en-US" sz="1400" dirty="0" err="1">
                <a:solidFill>
                  <a:schemeClr val="tx1"/>
                </a:solidFill>
              </a:rPr>
              <a:t>etc</a:t>
            </a:r>
            <a:r>
              <a:rPr lang="en-US" sz="1400" dirty="0">
                <a:solidFill>
                  <a:schemeClr val="tx1"/>
                </a:solidFill>
              </a:rPr>
              <a:t>). Overwritten by track parameter at model instantiation.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3AFA92A-F557-0EE4-FF2D-62C6EE1362E2}"/>
              </a:ext>
            </a:extLst>
          </p:cNvPr>
          <p:cNvCxnSpPr>
            <a:cxnSpLocks/>
          </p:cNvCxnSpPr>
          <p:nvPr/>
        </p:nvCxnSpPr>
        <p:spPr>
          <a:xfrm flipH="1" flipV="1">
            <a:off x="2860535" y="2586456"/>
            <a:ext cx="3422615" cy="371346"/>
          </a:xfrm>
          <a:prstGeom prst="straightConnector1">
            <a:avLst/>
          </a:prstGeom>
          <a:ln w="38100">
            <a:solidFill>
              <a:srgbClr val="FF8A0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42788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A9639FBB-FEB5-DA38-1257-27E1770ED7AB}"/>
              </a:ext>
            </a:extLst>
          </p:cNvPr>
          <p:cNvSpPr/>
          <p:nvPr/>
        </p:nvSpPr>
        <p:spPr>
          <a:xfrm>
            <a:off x="3823439" y="2886436"/>
            <a:ext cx="6430023" cy="21920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2C539D4-1CBA-B5E5-2E88-785897940B49}"/>
              </a:ext>
            </a:extLst>
          </p:cNvPr>
          <p:cNvSpPr/>
          <p:nvPr/>
        </p:nvSpPr>
        <p:spPr>
          <a:xfrm>
            <a:off x="4036872" y="2386227"/>
            <a:ext cx="3639847" cy="48852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CBCDC26-00E5-A3E1-F5B6-30FDC541BC9D}"/>
              </a:ext>
            </a:extLst>
          </p:cNvPr>
          <p:cNvSpPr/>
          <p:nvPr/>
        </p:nvSpPr>
        <p:spPr>
          <a:xfrm>
            <a:off x="4036873" y="2161579"/>
            <a:ext cx="1976763" cy="22194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C026455-CAB0-7107-5E06-73B62BD22F6E}"/>
              </a:ext>
            </a:extLst>
          </p:cNvPr>
          <p:cNvSpPr/>
          <p:nvPr/>
        </p:nvSpPr>
        <p:spPr>
          <a:xfrm>
            <a:off x="4036873" y="1876641"/>
            <a:ext cx="2601157" cy="26928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757DC22-740F-82D7-A00D-42CF44D23CA6}"/>
              </a:ext>
            </a:extLst>
          </p:cNvPr>
          <p:cNvSpPr/>
          <p:nvPr/>
        </p:nvSpPr>
        <p:spPr>
          <a:xfrm>
            <a:off x="4036873" y="1414401"/>
            <a:ext cx="4225772" cy="48852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90F2CA3-19A2-C7F6-C82D-20112C0EFFC8}"/>
              </a:ext>
            </a:extLst>
          </p:cNvPr>
          <p:cNvSpPr/>
          <p:nvPr/>
        </p:nvSpPr>
        <p:spPr>
          <a:xfrm>
            <a:off x="4036874" y="669126"/>
            <a:ext cx="2601156" cy="74527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99E59A-7941-6350-EE6B-CB334F86800C}"/>
              </a:ext>
            </a:extLst>
          </p:cNvPr>
          <p:cNvSpPr/>
          <p:nvPr/>
        </p:nvSpPr>
        <p:spPr>
          <a:xfrm>
            <a:off x="0" y="1782889"/>
            <a:ext cx="3480540" cy="1090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Specifies </a:t>
            </a:r>
            <a:r>
              <a:rPr lang="en-US" sz="1400" b="1" dirty="0">
                <a:solidFill>
                  <a:schemeClr val="tx1"/>
                </a:solidFill>
              </a:rPr>
              <a:t>what should be tracked</a:t>
            </a:r>
            <a:r>
              <a:rPr lang="en-US" sz="1400" dirty="0">
                <a:solidFill>
                  <a:schemeClr val="tx1"/>
                </a:solidFill>
              </a:rPr>
              <a:t> in the </a:t>
            </a:r>
            <a:r>
              <a:rPr lang="en-US" sz="1400" dirty="0" err="1">
                <a:solidFill>
                  <a:schemeClr val="tx1"/>
                </a:solidFill>
              </a:rPr>
              <a:t>FxnBlock</a:t>
            </a:r>
            <a:r>
              <a:rPr lang="en-US" sz="1400" dirty="0">
                <a:solidFill>
                  <a:schemeClr val="tx1"/>
                </a:solidFill>
              </a:rPr>
              <a:t> history (</a:t>
            </a:r>
            <a:r>
              <a:rPr lang="en-US" sz="1400" dirty="0" err="1">
                <a:solidFill>
                  <a:schemeClr val="tx1"/>
                </a:solidFill>
              </a:rPr>
              <a:t>fxnname.h</a:t>
            </a:r>
            <a:r>
              <a:rPr lang="en-US" sz="1400" dirty="0">
                <a:solidFill>
                  <a:schemeClr val="tx1"/>
                </a:solidFill>
              </a:rPr>
              <a:t>) by default. May be a </a:t>
            </a:r>
            <a:r>
              <a:rPr lang="en-US" sz="1400" dirty="0" err="1">
                <a:solidFill>
                  <a:schemeClr val="tx1"/>
                </a:solidFill>
              </a:rPr>
              <a:t>dict</a:t>
            </a:r>
            <a:r>
              <a:rPr lang="en-US" sz="1400" dirty="0">
                <a:solidFill>
                  <a:schemeClr val="tx1"/>
                </a:solidFill>
              </a:rPr>
              <a:t> ({</a:t>
            </a:r>
            <a:r>
              <a:rPr lang="en-US" sz="1400" dirty="0" err="1">
                <a:solidFill>
                  <a:schemeClr val="tx1"/>
                </a:solidFill>
              </a:rPr>
              <a:t>role:value</a:t>
            </a:r>
            <a:r>
              <a:rPr lang="en-US" sz="1400" dirty="0">
                <a:solidFill>
                  <a:schemeClr val="tx1"/>
                </a:solidFill>
              </a:rPr>
              <a:t>}), list ([role1, role2]), or string (“</a:t>
            </a:r>
            <a:r>
              <a:rPr lang="en-US" sz="1400" dirty="0" err="1">
                <a:solidFill>
                  <a:schemeClr val="tx1"/>
                </a:solidFill>
              </a:rPr>
              <a:t>all”,”none</a:t>
            </a:r>
            <a:r>
              <a:rPr lang="en-US" sz="1400" dirty="0">
                <a:solidFill>
                  <a:schemeClr val="tx1"/>
                </a:solidFill>
              </a:rPr>
              <a:t>”, </a:t>
            </a:r>
            <a:r>
              <a:rPr lang="en-US" sz="1400" dirty="0" err="1">
                <a:solidFill>
                  <a:schemeClr val="tx1"/>
                </a:solidFill>
              </a:rPr>
              <a:t>etc</a:t>
            </a:r>
            <a:r>
              <a:rPr lang="en-US" sz="1400" dirty="0">
                <a:solidFill>
                  <a:schemeClr val="tx1"/>
                </a:solidFill>
              </a:rPr>
              <a:t>). Overwritten by the track parameter during model instantiation.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EF27A4B-E6D1-E3FB-020B-333E46CFE23E}"/>
              </a:ext>
            </a:extLst>
          </p:cNvPr>
          <p:cNvSpPr/>
          <p:nvPr/>
        </p:nvSpPr>
        <p:spPr>
          <a:xfrm>
            <a:off x="0" y="648352"/>
            <a:ext cx="3480540" cy="117014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flow_XXX</a:t>
            </a:r>
            <a:r>
              <a:rPr lang="en-US" sz="1400" dirty="0">
                <a:solidFill>
                  <a:schemeClr val="tx1"/>
                </a:solidFill>
              </a:rPr>
              <a:t> is used to append a </a:t>
            </a:r>
            <a:r>
              <a:rPr lang="en-US" sz="1400" b="1" dirty="0">
                <a:solidFill>
                  <a:schemeClr val="tx1"/>
                </a:solidFill>
              </a:rPr>
              <a:t>flow </a:t>
            </a:r>
            <a:r>
              <a:rPr lang="en-US" sz="1400" dirty="0">
                <a:solidFill>
                  <a:schemeClr val="tx1"/>
                </a:solidFill>
              </a:rPr>
              <a:t>of given type that is named XXX to the function class. If the flow(s) has a different name outside the function (optional), </a:t>
            </a:r>
            <a:r>
              <a:rPr lang="en-US" sz="1400" dirty="0" err="1">
                <a:solidFill>
                  <a:schemeClr val="tx1"/>
                </a:solidFill>
              </a:rPr>
              <a:t>flownames</a:t>
            </a:r>
            <a:r>
              <a:rPr lang="en-US" sz="1400" dirty="0">
                <a:solidFill>
                  <a:schemeClr val="tx1"/>
                </a:solidFill>
              </a:rPr>
              <a:t> matches the external name to the internal name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391646-A2EB-6DB7-673E-EBCE48A81170}"/>
              </a:ext>
            </a:extLst>
          </p:cNvPr>
          <p:cNvSpPr/>
          <p:nvPr/>
        </p:nvSpPr>
        <p:spPr>
          <a:xfrm>
            <a:off x="7278397" y="758555"/>
            <a:ext cx="4602318" cy="63050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Specifies which classes play specific </a:t>
            </a:r>
            <a:r>
              <a:rPr lang="en-US" sz="1400" dirty="0" err="1">
                <a:solidFill>
                  <a:schemeClr val="tx1"/>
                </a:solidFill>
              </a:rPr>
              <a:t>FxnBlock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b="1" dirty="0">
                <a:solidFill>
                  <a:schemeClr val="tx1"/>
                </a:solidFill>
              </a:rPr>
              <a:t>roles </a:t>
            </a:r>
            <a:r>
              <a:rPr lang="en-US" sz="1400" dirty="0">
                <a:solidFill>
                  <a:schemeClr val="tx1"/>
                </a:solidFill>
              </a:rPr>
              <a:t>(e.g., s corresponds to the state role, m corresponds to the mode role, </a:t>
            </a:r>
            <a:r>
              <a:rPr lang="en-US" sz="1400" dirty="0" err="1">
                <a:solidFill>
                  <a:schemeClr val="tx1"/>
                </a:solidFill>
              </a:rPr>
              <a:t>etc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F890D35-88DD-C827-1F33-F89FED5D13D0}"/>
              </a:ext>
            </a:extLst>
          </p:cNvPr>
          <p:cNvSpPr/>
          <p:nvPr/>
        </p:nvSpPr>
        <p:spPr>
          <a:xfrm>
            <a:off x="8240869" y="2313204"/>
            <a:ext cx="3639846" cy="86759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Optional</a:t>
            </a:r>
            <a:r>
              <a:rPr lang="en-US" sz="1400" dirty="0">
                <a:solidFill>
                  <a:schemeClr val="tx1"/>
                </a:solidFill>
              </a:rPr>
              <a:t> method to call to set up </a:t>
            </a:r>
            <a:r>
              <a:rPr lang="en-US" sz="1400" dirty="0" err="1">
                <a:solidFill>
                  <a:schemeClr val="tx1"/>
                </a:solidFill>
              </a:rPr>
              <a:t>FxnBlock</a:t>
            </a:r>
            <a:r>
              <a:rPr lang="en-US" sz="1400" dirty="0">
                <a:solidFill>
                  <a:schemeClr val="tx1"/>
                </a:solidFill>
              </a:rPr>
              <a:t> in ways not already defined by role </a:t>
            </a:r>
            <a:r>
              <a:rPr lang="en-US" sz="1400" dirty="0" err="1">
                <a:solidFill>
                  <a:schemeClr val="tx1"/>
                </a:solidFill>
              </a:rPr>
              <a:t>initalization</a:t>
            </a:r>
            <a:r>
              <a:rPr lang="en-US" sz="1400" dirty="0">
                <a:solidFill>
                  <a:schemeClr val="tx1"/>
                </a:solidFill>
              </a:rPr>
              <a:t> (e.g., attaching local </a:t>
            </a:r>
            <a:r>
              <a:rPr lang="en-US" sz="1400" dirty="0" err="1">
                <a:solidFill>
                  <a:schemeClr val="tx1"/>
                </a:solidFill>
              </a:rPr>
              <a:t>MultiFlows</a:t>
            </a:r>
            <a:r>
              <a:rPr lang="en-US" sz="1400" dirty="0">
                <a:solidFill>
                  <a:schemeClr val="tx1"/>
                </a:solidFill>
              </a:rPr>
              <a:t> or setting initial values for States from Parameter)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412D98A-A8CB-E5EE-CD28-4B2D28CA3DD0}"/>
              </a:ext>
            </a:extLst>
          </p:cNvPr>
          <p:cNvCxnSpPr>
            <a:cxnSpLocks/>
            <a:stCxn id="14" idx="1"/>
            <a:endCxn id="7" idx="3"/>
          </p:cNvCxnSpPr>
          <p:nvPr/>
        </p:nvCxnSpPr>
        <p:spPr>
          <a:xfrm flipH="1" flipV="1">
            <a:off x="6638030" y="1041764"/>
            <a:ext cx="640367" cy="3204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0D3E556-B5AF-E72D-AC7A-7B463B25E468}"/>
              </a:ext>
            </a:extLst>
          </p:cNvPr>
          <p:cNvCxnSpPr>
            <a:cxnSpLocks/>
          </p:cNvCxnSpPr>
          <p:nvPr/>
        </p:nvCxnSpPr>
        <p:spPr>
          <a:xfrm>
            <a:off x="3446694" y="1658664"/>
            <a:ext cx="644000" cy="0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31E180F-8F33-EF2F-BF23-D21BBB7BD54A}"/>
              </a:ext>
            </a:extLst>
          </p:cNvPr>
          <p:cNvCxnSpPr>
            <a:cxnSpLocks/>
          </p:cNvCxnSpPr>
          <p:nvPr/>
        </p:nvCxnSpPr>
        <p:spPr>
          <a:xfrm>
            <a:off x="3480540" y="2272550"/>
            <a:ext cx="610154" cy="0"/>
          </a:xfrm>
          <a:prstGeom prst="straightConnector1">
            <a:avLst/>
          </a:prstGeom>
          <a:ln w="381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A0BCC97-D1D8-DF39-176F-86523512AC28}"/>
              </a:ext>
            </a:extLst>
          </p:cNvPr>
          <p:cNvCxnSpPr>
            <a:cxnSpLocks/>
          </p:cNvCxnSpPr>
          <p:nvPr/>
        </p:nvCxnSpPr>
        <p:spPr>
          <a:xfrm flipH="1">
            <a:off x="6638030" y="2003056"/>
            <a:ext cx="1833241" cy="0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FFE40E2-32A7-0D24-42D4-DDDE4CCAA3E9}"/>
              </a:ext>
            </a:extLst>
          </p:cNvPr>
          <p:cNvCxnSpPr>
            <a:cxnSpLocks/>
          </p:cNvCxnSpPr>
          <p:nvPr/>
        </p:nvCxnSpPr>
        <p:spPr>
          <a:xfrm flipH="1">
            <a:off x="7676719" y="2677020"/>
            <a:ext cx="564150" cy="0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954CDA26-7188-7FC2-53F5-F949AB4666D7}"/>
              </a:ext>
            </a:extLst>
          </p:cNvPr>
          <p:cNvSpPr/>
          <p:nvPr/>
        </p:nvSpPr>
        <p:spPr>
          <a:xfrm>
            <a:off x="0" y="2873190"/>
            <a:ext cx="3480540" cy="72536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These methods define the </a:t>
            </a:r>
            <a:r>
              <a:rPr lang="en-US" sz="1400" b="1" dirty="0">
                <a:solidFill>
                  <a:schemeClr val="tx1"/>
                </a:solidFill>
              </a:rPr>
              <a:t>behavior</a:t>
            </a:r>
            <a:r>
              <a:rPr lang="en-US" sz="1400" dirty="0">
                <a:solidFill>
                  <a:schemeClr val="tx1"/>
                </a:solidFill>
              </a:rPr>
              <a:t> of the </a:t>
            </a:r>
            <a:r>
              <a:rPr lang="en-US" sz="1400" dirty="0" err="1">
                <a:solidFill>
                  <a:schemeClr val="tx1"/>
                </a:solidFill>
              </a:rPr>
              <a:t>FxnBlock</a:t>
            </a:r>
            <a:r>
              <a:rPr lang="en-US" sz="1400" dirty="0">
                <a:solidFill>
                  <a:schemeClr val="tx1"/>
                </a:solidFill>
              </a:rPr>
              <a:t> and thus simulate at each time-step of the simulation. 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CB4D921-7315-0CD4-C005-045DA48F73E2}"/>
              </a:ext>
            </a:extLst>
          </p:cNvPr>
          <p:cNvCxnSpPr>
            <a:cxnSpLocks/>
          </p:cNvCxnSpPr>
          <p:nvPr/>
        </p:nvCxnSpPr>
        <p:spPr>
          <a:xfrm>
            <a:off x="3480540" y="3475090"/>
            <a:ext cx="35114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0C53CCF7-9DEF-5A5C-C935-E0DC29EA5CAC}"/>
              </a:ext>
            </a:extLst>
          </p:cNvPr>
          <p:cNvSpPr/>
          <p:nvPr/>
        </p:nvSpPr>
        <p:spPr>
          <a:xfrm>
            <a:off x="1" y="3637400"/>
            <a:ext cx="3480540" cy="71740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These methods define </a:t>
            </a:r>
            <a:r>
              <a:rPr lang="en-US" sz="1400" dirty="0" err="1">
                <a:solidFill>
                  <a:schemeClr val="tx1"/>
                </a:solidFill>
              </a:rPr>
              <a:t>FxnBlock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b="1" dirty="0">
                <a:solidFill>
                  <a:schemeClr val="tx1"/>
                </a:solidFill>
              </a:rPr>
              <a:t>indicators</a:t>
            </a:r>
            <a:r>
              <a:rPr lang="en-US" sz="1400" dirty="0">
                <a:solidFill>
                  <a:schemeClr val="tx1"/>
                </a:solidFill>
              </a:rPr>
              <a:t> and are called/tracked during simulation (in </a:t>
            </a:r>
            <a:r>
              <a:rPr lang="en-US" sz="1400" dirty="0" err="1">
                <a:solidFill>
                  <a:schemeClr val="tx1"/>
                </a:solidFill>
              </a:rPr>
              <a:t>fxnname.i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CDCE0CD-812F-C5E1-0CB4-58D9C56432A5}"/>
              </a:ext>
            </a:extLst>
          </p:cNvPr>
          <p:cNvSpPr/>
          <p:nvPr/>
        </p:nvSpPr>
        <p:spPr>
          <a:xfrm>
            <a:off x="8480026" y="1572546"/>
            <a:ext cx="3400689" cy="74065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Default </a:t>
            </a:r>
            <a:r>
              <a:rPr lang="en-US" sz="1400" b="1" dirty="0">
                <a:solidFill>
                  <a:schemeClr val="tx1"/>
                </a:solidFill>
              </a:rPr>
              <a:t>keyword arguments for </a:t>
            </a:r>
            <a:r>
              <a:rPr lang="en-US" sz="1400" b="1" dirty="0" err="1">
                <a:solidFill>
                  <a:schemeClr val="tx1"/>
                </a:solidFill>
              </a:rPr>
              <a:t>SimParam</a:t>
            </a:r>
            <a:r>
              <a:rPr lang="en-US" sz="1400" dirty="0">
                <a:solidFill>
                  <a:schemeClr val="tx1"/>
                </a:solidFill>
              </a:rPr>
              <a:t>. Only necessary when the </a:t>
            </a:r>
            <a:r>
              <a:rPr lang="en-US" sz="1400" dirty="0" err="1">
                <a:solidFill>
                  <a:schemeClr val="tx1"/>
                </a:solidFill>
              </a:rPr>
              <a:t>functionblock</a:t>
            </a:r>
            <a:r>
              <a:rPr lang="en-US" sz="1400" dirty="0">
                <a:solidFill>
                  <a:schemeClr val="tx1"/>
                </a:solidFill>
              </a:rPr>
              <a:t> will be simulated individually.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F39350D-8555-F1AE-2F34-766C9EE33104}"/>
              </a:ext>
            </a:extLst>
          </p:cNvPr>
          <p:cNvCxnSpPr>
            <a:cxnSpLocks/>
          </p:cNvCxnSpPr>
          <p:nvPr/>
        </p:nvCxnSpPr>
        <p:spPr>
          <a:xfrm>
            <a:off x="3480540" y="4070949"/>
            <a:ext cx="384809" cy="0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D45EAE9F-3FFE-CF4A-26AA-8D2A61746450}"/>
              </a:ext>
            </a:extLst>
          </p:cNvPr>
          <p:cNvSpPr/>
          <p:nvPr/>
        </p:nvSpPr>
        <p:spPr>
          <a:xfrm>
            <a:off x="1" y="4346769"/>
            <a:ext cx="3474004" cy="665117"/>
          </a:xfrm>
          <a:prstGeom prst="rect">
            <a:avLst/>
          </a:prstGeom>
          <a:solidFill>
            <a:srgbClr val="F1D9F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This method defines the Result to be returned </a:t>
            </a:r>
            <a:r>
              <a:rPr lang="en-US" sz="1400" b="1" dirty="0">
                <a:solidFill>
                  <a:schemeClr val="tx1"/>
                </a:solidFill>
              </a:rPr>
              <a:t>when simulated individually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63F352AD-414C-473F-B963-608E7ABC775D}"/>
              </a:ext>
            </a:extLst>
          </p:cNvPr>
          <p:cNvCxnSpPr>
            <a:cxnSpLocks/>
          </p:cNvCxnSpPr>
          <p:nvPr/>
        </p:nvCxnSpPr>
        <p:spPr>
          <a:xfrm>
            <a:off x="3480540" y="4717178"/>
            <a:ext cx="384809" cy="0"/>
          </a:xfrm>
          <a:prstGeom prst="straightConnector1">
            <a:avLst/>
          </a:prstGeom>
          <a:ln w="38100">
            <a:solidFill>
              <a:srgbClr val="E890E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E3774B39-3B4C-D81E-872A-828DD7656DFD}"/>
              </a:ext>
            </a:extLst>
          </p:cNvPr>
          <p:cNvSpPr/>
          <p:nvPr/>
        </p:nvSpPr>
        <p:spPr>
          <a:xfrm>
            <a:off x="3819093" y="3854765"/>
            <a:ext cx="6430023" cy="76891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2127004-8A7D-A358-ADEB-B3629DBFE527}"/>
              </a:ext>
            </a:extLst>
          </p:cNvPr>
          <p:cNvSpPr/>
          <p:nvPr/>
        </p:nvSpPr>
        <p:spPr>
          <a:xfrm>
            <a:off x="3814747" y="4570834"/>
            <a:ext cx="6392648" cy="507638"/>
          </a:xfrm>
          <a:prstGeom prst="rect">
            <a:avLst/>
          </a:prstGeom>
          <a:solidFill>
            <a:srgbClr val="F1D9F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D85A8FA-8E6E-79A7-59E0-7676B5C606A4}"/>
              </a:ext>
            </a:extLst>
          </p:cNvPr>
          <p:cNvSpPr/>
          <p:nvPr/>
        </p:nvSpPr>
        <p:spPr>
          <a:xfrm>
            <a:off x="3791574" y="400345"/>
            <a:ext cx="6436682" cy="4945688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1600" dirty="0"/>
              <a:t>class </a:t>
            </a:r>
            <a:r>
              <a:rPr lang="en-US" sz="1600" dirty="0" err="1"/>
              <a:t>FunctionName</a:t>
            </a:r>
            <a:r>
              <a:rPr lang="en-US" sz="1600" dirty="0"/>
              <a:t>(Function):</a:t>
            </a:r>
          </a:p>
          <a:p>
            <a:r>
              <a:rPr lang="en-US" sz="1600" dirty="0"/>
              <a:t>    </a:t>
            </a:r>
            <a:r>
              <a:rPr lang="en-US" sz="1600" dirty="0" err="1"/>
              <a:t>container_s</a:t>
            </a:r>
            <a:r>
              <a:rPr lang="en-US" sz="1600" dirty="0"/>
              <a:t> = </a:t>
            </a:r>
            <a:r>
              <a:rPr lang="en-US" sz="1600" dirty="0" err="1"/>
              <a:t>FunctionState</a:t>
            </a:r>
            <a:endParaRPr lang="en-US" sz="1600" dirty="0"/>
          </a:p>
          <a:p>
            <a:r>
              <a:rPr lang="en-US" sz="1600" dirty="0"/>
              <a:t>    </a:t>
            </a:r>
            <a:r>
              <a:rPr lang="en-US" sz="1600" dirty="0" err="1"/>
              <a:t>container_m</a:t>
            </a:r>
            <a:r>
              <a:rPr lang="en-US" sz="1600" dirty="0"/>
              <a:t> = </a:t>
            </a:r>
            <a:r>
              <a:rPr lang="en-US" sz="1600" dirty="0" err="1"/>
              <a:t>FunctionMode</a:t>
            </a:r>
            <a:endParaRPr lang="en-US" sz="1600" dirty="0"/>
          </a:p>
          <a:p>
            <a:r>
              <a:rPr lang="en-US" sz="1600" dirty="0"/>
              <a:t>    </a:t>
            </a:r>
            <a:r>
              <a:rPr lang="en-US" sz="1600" dirty="0" err="1"/>
              <a:t>container_t</a:t>
            </a:r>
            <a:r>
              <a:rPr lang="en-US" sz="1600" dirty="0"/>
              <a:t> = </a:t>
            </a:r>
            <a:r>
              <a:rPr lang="en-US" sz="1600" dirty="0" err="1"/>
              <a:t>FunctionTime</a:t>
            </a:r>
            <a:endParaRPr lang="en-US" sz="1600" dirty="0"/>
          </a:p>
          <a:p>
            <a:r>
              <a:rPr lang="en-US" sz="1600" dirty="0"/>
              <a:t>    flow_flowname1 = FlowClass1</a:t>
            </a:r>
          </a:p>
          <a:p>
            <a:r>
              <a:rPr lang="en-US" sz="1600" dirty="0"/>
              <a:t>    </a:t>
            </a:r>
            <a:r>
              <a:rPr lang="en-US" sz="1600" dirty="0" err="1"/>
              <a:t>flownames</a:t>
            </a:r>
            <a:r>
              <a:rPr lang="en-US" sz="1600" dirty="0"/>
              <a:t> = {“outsideflowname”:”flowname1”}</a:t>
            </a:r>
          </a:p>
          <a:p>
            <a:r>
              <a:rPr lang="en-US" sz="1600" dirty="0"/>
              <a:t>    </a:t>
            </a:r>
            <a:r>
              <a:rPr lang="en-US" sz="1600" dirty="0" err="1"/>
              <a:t>default_sp</a:t>
            </a:r>
            <a:r>
              <a:rPr lang="en-US" sz="1600" dirty="0"/>
              <a:t> = {‘</a:t>
            </a:r>
            <a:r>
              <a:rPr lang="en-US" sz="1600" dirty="0" err="1"/>
              <a:t>end_time</a:t>
            </a:r>
            <a:r>
              <a:rPr lang="en-US" sz="1600" dirty="0"/>
              <a:t>’: </a:t>
            </a:r>
            <a:r>
              <a:rPr lang="en-US" sz="1600" dirty="0">
                <a:sym typeface="Wingdings" panose="05000000000000000000" pitchFamily="2" charset="2"/>
              </a:rPr>
              <a:t>100</a:t>
            </a:r>
            <a:r>
              <a:rPr lang="en-US" sz="1600" dirty="0"/>
              <a:t>}</a:t>
            </a:r>
          </a:p>
          <a:p>
            <a:r>
              <a:rPr lang="en-US" sz="1600" dirty="0"/>
              <a:t>    </a:t>
            </a:r>
            <a:r>
              <a:rPr lang="en-US" sz="1600" dirty="0" err="1"/>
              <a:t>default_track</a:t>
            </a:r>
            <a:r>
              <a:rPr lang="en-US" sz="1600" dirty="0"/>
              <a:t> = [‘</a:t>
            </a:r>
            <a:r>
              <a:rPr lang="en-US" sz="1600" dirty="0" err="1"/>
              <a:t>s’,’m</a:t>
            </a:r>
            <a:r>
              <a:rPr lang="en-US" sz="1600" dirty="0"/>
              <a:t>’]</a:t>
            </a:r>
          </a:p>
          <a:p>
            <a:r>
              <a:rPr lang="en-US" sz="1600" dirty="0"/>
              <a:t>    def </a:t>
            </a:r>
            <a:r>
              <a:rPr lang="en-US" sz="1600" dirty="0" err="1"/>
              <a:t>init_block</a:t>
            </a:r>
            <a:r>
              <a:rPr lang="en-US" sz="1600" dirty="0"/>
              <a:t>(self, **</a:t>
            </a:r>
            <a:r>
              <a:rPr lang="en-US" sz="1600" dirty="0" err="1"/>
              <a:t>kwargs</a:t>
            </a:r>
            <a:r>
              <a:rPr lang="en-US" sz="1600" dirty="0"/>
              <a:t>):</a:t>
            </a:r>
          </a:p>
          <a:p>
            <a:r>
              <a:rPr lang="en-US" sz="1600" dirty="0"/>
              <a:t>        &lt;e.g., </a:t>
            </a:r>
            <a:r>
              <a:rPr lang="en-US" sz="1600" dirty="0" err="1"/>
              <a:t>self.s.x</a:t>
            </a:r>
            <a:r>
              <a:rPr lang="en-US" sz="1600" dirty="0"/>
              <a:t> = 2.0&gt;</a:t>
            </a:r>
          </a:p>
          <a:p>
            <a:r>
              <a:rPr lang="en-US" sz="1600" dirty="0"/>
              <a:t>   def </a:t>
            </a:r>
            <a:r>
              <a:rPr lang="en-US" sz="1600" dirty="0" err="1"/>
              <a:t>static_behavior</a:t>
            </a:r>
            <a:r>
              <a:rPr lang="en-US" sz="1600" dirty="0"/>
              <a:t>(self):</a:t>
            </a:r>
          </a:p>
          <a:p>
            <a:r>
              <a:rPr lang="en-US" sz="1600" dirty="0"/>
              <a:t>        </a:t>
            </a:r>
            <a:r>
              <a:rPr lang="en-US" sz="1600" dirty="0">
                <a:highlight>
                  <a:srgbClr val="00FFFF"/>
                </a:highlight>
              </a:rPr>
              <a:t>Runs only in static propagation steps</a:t>
            </a:r>
          </a:p>
          <a:p>
            <a:r>
              <a:rPr lang="en-US" sz="1600" dirty="0"/>
              <a:t>    def </a:t>
            </a:r>
            <a:r>
              <a:rPr lang="en-US" sz="1600" dirty="0" err="1"/>
              <a:t>dynamic_behavior</a:t>
            </a:r>
            <a:r>
              <a:rPr lang="en-US" sz="1600" dirty="0"/>
              <a:t>(self):</a:t>
            </a:r>
          </a:p>
          <a:p>
            <a:r>
              <a:rPr lang="en-US" sz="1600" dirty="0"/>
              <a:t>        </a:t>
            </a:r>
            <a:r>
              <a:rPr lang="en-US" sz="1600" dirty="0">
                <a:highlight>
                  <a:srgbClr val="00FFFF"/>
                </a:highlight>
              </a:rPr>
              <a:t>Runs only in dynamic propagation steps</a:t>
            </a:r>
          </a:p>
          <a:p>
            <a:r>
              <a:rPr lang="en-US" sz="1600" dirty="0"/>
              <a:t>def </a:t>
            </a:r>
            <a:r>
              <a:rPr lang="en-US" sz="1600" dirty="0" err="1"/>
              <a:t>indicate_XXX</a:t>
            </a:r>
            <a:r>
              <a:rPr lang="en-US" sz="1600" dirty="0"/>
              <a:t>(self):</a:t>
            </a:r>
          </a:p>
          <a:p>
            <a:r>
              <a:rPr lang="en-US" sz="1600" dirty="0"/>
              <a:t>        </a:t>
            </a:r>
            <a:r>
              <a:rPr lang="en-US" sz="1600" dirty="0">
                <a:highlight>
                  <a:srgbClr val="00FF00"/>
                </a:highlight>
              </a:rPr>
              <a:t>Conditional statement (e.g., </a:t>
            </a:r>
            <a:r>
              <a:rPr lang="en-US" sz="1600" dirty="0" err="1">
                <a:highlight>
                  <a:srgbClr val="00FF00"/>
                </a:highlight>
              </a:rPr>
              <a:t>self.s.state</a:t>
            </a:r>
            <a:r>
              <a:rPr lang="en-US" sz="1600" dirty="0">
                <a:highlight>
                  <a:srgbClr val="00FF00"/>
                </a:highlight>
              </a:rPr>
              <a:t>&gt;threshold) which is logged in the history and may be used to terminate simulations</a:t>
            </a:r>
          </a:p>
          <a:p>
            <a:r>
              <a:rPr lang="en-US" sz="1600" dirty="0"/>
              <a:t>    def classify(self, </a:t>
            </a:r>
            <a:r>
              <a:rPr lang="en-US" sz="1600" dirty="0" err="1"/>
              <a:t>scen</a:t>
            </a:r>
            <a:r>
              <a:rPr lang="en-US" sz="1600" dirty="0"/>
              <a:t>={}, hists={}, **</a:t>
            </a:r>
            <a:r>
              <a:rPr lang="en-US" sz="1600" dirty="0" err="1"/>
              <a:t>kwargs</a:t>
            </a:r>
            <a:r>
              <a:rPr lang="en-US" sz="1600" dirty="0"/>
              <a:t>):</a:t>
            </a:r>
          </a:p>
          <a:p>
            <a:r>
              <a:rPr lang="en-US" sz="1600" dirty="0">
                <a:highlight>
                  <a:srgbClr val="E997E9"/>
                </a:highlight>
              </a:rPr>
              <a:t>        Returns a Result dictionary (calculated at completion)</a:t>
            </a:r>
          </a:p>
        </p:txBody>
      </p:sp>
    </p:spTree>
    <p:extLst>
      <p:ext uri="{BB962C8B-B14F-4D97-AF65-F5344CB8AC3E}">
        <p14:creationId xmlns:p14="http://schemas.microsoft.com/office/powerpoint/2010/main" val="30203701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E3774B39-3B4C-D81E-872A-828DD7656DFD}"/>
              </a:ext>
            </a:extLst>
          </p:cNvPr>
          <p:cNvSpPr/>
          <p:nvPr/>
        </p:nvSpPr>
        <p:spPr>
          <a:xfrm>
            <a:off x="3926869" y="3429476"/>
            <a:ext cx="6738360" cy="11786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2127004-8A7D-A358-ADEB-B3629DBFE527}"/>
              </a:ext>
            </a:extLst>
          </p:cNvPr>
          <p:cNvSpPr/>
          <p:nvPr/>
        </p:nvSpPr>
        <p:spPr>
          <a:xfrm>
            <a:off x="3902321" y="4649052"/>
            <a:ext cx="6697853" cy="843940"/>
          </a:xfrm>
          <a:prstGeom prst="rect">
            <a:avLst/>
          </a:prstGeom>
          <a:solidFill>
            <a:srgbClr val="F1D9F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2C539D4-1CBA-B5E5-2E88-785897940B49}"/>
              </a:ext>
            </a:extLst>
          </p:cNvPr>
          <p:cNvSpPr/>
          <p:nvPr/>
        </p:nvSpPr>
        <p:spPr>
          <a:xfrm>
            <a:off x="3926869" y="2024203"/>
            <a:ext cx="6738360" cy="1478292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CBCDC26-00E5-A3E1-F5B6-30FDC541BC9D}"/>
              </a:ext>
            </a:extLst>
          </p:cNvPr>
          <p:cNvSpPr/>
          <p:nvPr/>
        </p:nvSpPr>
        <p:spPr>
          <a:xfrm>
            <a:off x="4158792" y="1765140"/>
            <a:ext cx="2628088" cy="2088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C026455-CAB0-7107-5E06-73B62BD22F6E}"/>
              </a:ext>
            </a:extLst>
          </p:cNvPr>
          <p:cNvSpPr/>
          <p:nvPr/>
        </p:nvSpPr>
        <p:spPr>
          <a:xfrm>
            <a:off x="4158792" y="1480201"/>
            <a:ext cx="3233595" cy="26928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90F2CA3-19A2-C7F6-C82D-20112C0EFFC8}"/>
              </a:ext>
            </a:extLst>
          </p:cNvPr>
          <p:cNvSpPr/>
          <p:nvPr/>
        </p:nvSpPr>
        <p:spPr>
          <a:xfrm>
            <a:off x="4158792" y="1256969"/>
            <a:ext cx="2177618" cy="19063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D85A8FA-8E6E-79A7-59E0-7676B5C606A4}"/>
              </a:ext>
            </a:extLst>
          </p:cNvPr>
          <p:cNvSpPr/>
          <p:nvPr/>
        </p:nvSpPr>
        <p:spPr>
          <a:xfrm>
            <a:off x="3879737" y="919225"/>
            <a:ext cx="6738360" cy="4833744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1600" dirty="0"/>
              <a:t>class </a:t>
            </a:r>
            <a:r>
              <a:rPr lang="en-US" sz="1600" dirty="0" err="1"/>
              <a:t>ArchitectureName</a:t>
            </a:r>
            <a:r>
              <a:rPr lang="en-US" sz="1600" dirty="0"/>
              <a:t>(</a:t>
            </a:r>
            <a:r>
              <a:rPr lang="en-US" sz="1600" dirty="0" err="1"/>
              <a:t>FunctionArchitecture</a:t>
            </a:r>
            <a:r>
              <a:rPr lang="en-US" sz="1600" dirty="0"/>
              <a:t>):</a:t>
            </a:r>
          </a:p>
          <a:p>
            <a:r>
              <a:rPr lang="en-US" sz="1600" dirty="0"/>
              <a:t>    </a:t>
            </a:r>
            <a:r>
              <a:rPr lang="en-US" sz="1600" dirty="0" err="1"/>
              <a:t>container_p</a:t>
            </a:r>
            <a:r>
              <a:rPr lang="en-US" sz="1600" dirty="0"/>
              <a:t>= </a:t>
            </a:r>
            <a:r>
              <a:rPr lang="en-US" sz="1600" dirty="0" err="1"/>
              <a:t>ModelParam</a:t>
            </a:r>
            <a:endParaRPr lang="en-US" sz="1600" dirty="0"/>
          </a:p>
          <a:p>
            <a:r>
              <a:rPr lang="en-US" sz="1600" dirty="0"/>
              <a:t>    </a:t>
            </a:r>
            <a:r>
              <a:rPr lang="en-US" sz="1600" dirty="0" err="1"/>
              <a:t>default_sp</a:t>
            </a:r>
            <a:r>
              <a:rPr lang="en-US" sz="1600" dirty="0"/>
              <a:t> = {‘</a:t>
            </a:r>
            <a:r>
              <a:rPr lang="en-US" sz="1600" dirty="0" err="1"/>
              <a:t>end_time</a:t>
            </a:r>
            <a:r>
              <a:rPr lang="en-US" sz="1600" dirty="0"/>
              <a:t>’:</a:t>
            </a:r>
            <a:r>
              <a:rPr lang="en-US" sz="1600" dirty="0">
                <a:sym typeface="Wingdings" panose="05000000000000000000" pitchFamily="2" charset="2"/>
              </a:rPr>
              <a:t> 100</a:t>
            </a:r>
            <a:r>
              <a:rPr lang="en-US" sz="1600" dirty="0"/>
              <a:t>}</a:t>
            </a:r>
          </a:p>
          <a:p>
            <a:r>
              <a:rPr lang="en-US" sz="1600" dirty="0"/>
              <a:t>    </a:t>
            </a:r>
            <a:r>
              <a:rPr lang="en-US" sz="1600" dirty="0" err="1"/>
              <a:t>default_track</a:t>
            </a:r>
            <a:r>
              <a:rPr lang="en-US" sz="1600" dirty="0"/>
              <a:t> = [“</a:t>
            </a:r>
            <a:r>
              <a:rPr lang="en-US" sz="1600" dirty="0" err="1"/>
              <a:t>fxns</a:t>
            </a:r>
            <a:r>
              <a:rPr lang="en-US" sz="1600" dirty="0"/>
              <a:t>”, “flows]</a:t>
            </a:r>
          </a:p>
          <a:p>
            <a:r>
              <a:rPr lang="en-US" sz="1600" dirty="0"/>
              <a:t>    </a:t>
            </a:r>
          </a:p>
          <a:p>
            <a:r>
              <a:rPr lang="en-US" sz="1600" dirty="0"/>
              <a:t>    def </a:t>
            </a:r>
            <a:r>
              <a:rPr lang="en-US" sz="1600" dirty="0" err="1"/>
              <a:t>init_architecture</a:t>
            </a:r>
            <a:r>
              <a:rPr lang="en-US" sz="1600" dirty="0"/>
              <a:t>(self, **</a:t>
            </a:r>
            <a:r>
              <a:rPr lang="en-US" sz="1600" dirty="0" err="1"/>
              <a:t>kwargs</a:t>
            </a:r>
            <a:r>
              <a:rPr lang="en-US" sz="1600" dirty="0"/>
              <a:t>):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self.add_flow</a:t>
            </a:r>
            <a:r>
              <a:rPr lang="en-US" sz="1600" dirty="0"/>
              <a:t>(“</a:t>
            </a:r>
            <a:r>
              <a:rPr lang="en-US" sz="1600" dirty="0" err="1"/>
              <a:t>flowname</a:t>
            </a:r>
            <a:r>
              <a:rPr lang="en-US" sz="1600" dirty="0"/>
              <a:t>”, </a:t>
            </a:r>
            <a:r>
              <a:rPr lang="en-US" sz="1600" dirty="0" err="1"/>
              <a:t>FlowClass</a:t>
            </a:r>
            <a:r>
              <a:rPr lang="en-US" sz="1600" dirty="0"/>
              <a:t>)</a:t>
            </a:r>
          </a:p>
          <a:p>
            <a:r>
              <a:rPr lang="en-US" sz="1600" dirty="0"/>
              <a:t>        …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self.add_fxn</a:t>
            </a:r>
            <a:r>
              <a:rPr lang="en-US" sz="1600" dirty="0"/>
              <a:t>(“</a:t>
            </a:r>
            <a:r>
              <a:rPr lang="en-US" sz="1600" dirty="0" err="1"/>
              <a:t>functionname</a:t>
            </a:r>
            <a:r>
              <a:rPr lang="en-US" sz="1600" dirty="0"/>
              <a:t>”, </a:t>
            </a:r>
            <a:r>
              <a:rPr lang="en-US" sz="1600" dirty="0" err="1"/>
              <a:t>FunctionClass</a:t>
            </a:r>
            <a:r>
              <a:rPr lang="en-US" sz="1600" dirty="0"/>
              <a:t>, “flowname1”, “flowname2”)</a:t>
            </a:r>
          </a:p>
          <a:p>
            <a:r>
              <a:rPr lang="en-US" sz="1600" dirty="0"/>
              <a:t>        …</a:t>
            </a:r>
          </a:p>
          <a:p>
            <a:endParaRPr lang="en-US" sz="1600" dirty="0"/>
          </a:p>
          <a:p>
            <a:r>
              <a:rPr lang="en-US" sz="1600" dirty="0"/>
              <a:t>def </a:t>
            </a:r>
            <a:r>
              <a:rPr lang="en-US" sz="1600" dirty="0" err="1"/>
              <a:t>indicate_XXX</a:t>
            </a:r>
            <a:r>
              <a:rPr lang="en-US" sz="1600" dirty="0"/>
              <a:t>(self):</a:t>
            </a:r>
          </a:p>
          <a:p>
            <a:r>
              <a:rPr lang="en-US" sz="1600" dirty="0"/>
              <a:t>        </a:t>
            </a:r>
            <a:r>
              <a:rPr lang="en-US" sz="1600" dirty="0">
                <a:highlight>
                  <a:srgbClr val="00FF00"/>
                </a:highlight>
              </a:rPr>
              <a:t>Conditional statement </a:t>
            </a:r>
          </a:p>
          <a:p>
            <a:r>
              <a:rPr lang="en-US" sz="1600" dirty="0"/>
              <a:t>        </a:t>
            </a:r>
            <a:r>
              <a:rPr lang="en-US" sz="1600" dirty="0">
                <a:highlight>
                  <a:srgbClr val="00FF00"/>
                </a:highlight>
              </a:rPr>
              <a:t>(e.g., </a:t>
            </a:r>
            <a:r>
              <a:rPr lang="en-US" sz="1600" dirty="0" err="1">
                <a:highlight>
                  <a:srgbClr val="00FF00"/>
                </a:highlight>
              </a:rPr>
              <a:t>self.fxns</a:t>
            </a:r>
            <a:r>
              <a:rPr lang="en-US" sz="1600" dirty="0">
                <a:highlight>
                  <a:srgbClr val="00FF00"/>
                </a:highlight>
              </a:rPr>
              <a:t>[“</a:t>
            </a:r>
            <a:r>
              <a:rPr lang="en-US" sz="1600" dirty="0" err="1">
                <a:highlight>
                  <a:srgbClr val="00FF00"/>
                </a:highlight>
              </a:rPr>
              <a:t>functionname</a:t>
            </a:r>
            <a:r>
              <a:rPr lang="en-US" sz="1600" dirty="0">
                <a:highlight>
                  <a:srgbClr val="00FF00"/>
                </a:highlight>
              </a:rPr>
              <a:t>”].</a:t>
            </a:r>
            <a:r>
              <a:rPr lang="en-US" sz="1600" dirty="0" err="1">
                <a:highlight>
                  <a:srgbClr val="00FF00"/>
                </a:highlight>
              </a:rPr>
              <a:t>s.state</a:t>
            </a:r>
            <a:r>
              <a:rPr lang="en-US" sz="1600" dirty="0">
                <a:highlight>
                  <a:srgbClr val="00FF00"/>
                </a:highlight>
              </a:rPr>
              <a:t>&gt;threshold)</a:t>
            </a:r>
          </a:p>
          <a:p>
            <a:r>
              <a:rPr lang="en-US" sz="1600" dirty="0">
                <a:highlight>
                  <a:srgbClr val="00FF00"/>
                </a:highlight>
              </a:rPr>
              <a:t> which is logged in the history and may be used to terminate simulations</a:t>
            </a:r>
          </a:p>
          <a:p>
            <a:r>
              <a:rPr lang="en-US" sz="1600" dirty="0"/>
              <a:t>    </a:t>
            </a:r>
          </a:p>
          <a:p>
            <a:r>
              <a:rPr lang="en-US" sz="1600" dirty="0"/>
              <a:t> def classify(self, </a:t>
            </a:r>
            <a:r>
              <a:rPr lang="en-US" sz="1600" dirty="0" err="1"/>
              <a:t>scen</a:t>
            </a:r>
            <a:r>
              <a:rPr lang="en-US" sz="1600" dirty="0"/>
              <a:t>={}, hists={}, **</a:t>
            </a:r>
            <a:r>
              <a:rPr lang="en-US" sz="1600" dirty="0" err="1"/>
              <a:t>kwargs</a:t>
            </a:r>
            <a:r>
              <a:rPr lang="en-US" sz="1600" dirty="0"/>
              <a:t>):</a:t>
            </a:r>
          </a:p>
          <a:p>
            <a:r>
              <a:rPr lang="en-US" sz="1600" dirty="0">
                <a:highlight>
                  <a:srgbClr val="E997E9"/>
                </a:highlight>
              </a:rPr>
              <a:t>        Returns a Result dictionary (calculated at completion)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99E59A-7941-6350-EE6B-CB334F86800C}"/>
              </a:ext>
            </a:extLst>
          </p:cNvPr>
          <p:cNvSpPr/>
          <p:nvPr/>
        </p:nvSpPr>
        <p:spPr>
          <a:xfrm>
            <a:off x="7917287" y="1646681"/>
            <a:ext cx="4076593" cy="94068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Specifies </a:t>
            </a:r>
            <a:r>
              <a:rPr lang="en-US" sz="1400" b="1" dirty="0">
                <a:solidFill>
                  <a:schemeClr val="tx1"/>
                </a:solidFill>
              </a:rPr>
              <a:t>what should be tracked</a:t>
            </a:r>
            <a:r>
              <a:rPr lang="en-US" sz="1400" dirty="0">
                <a:solidFill>
                  <a:schemeClr val="tx1"/>
                </a:solidFill>
              </a:rPr>
              <a:t> in the Model history by default. May be a </a:t>
            </a:r>
            <a:r>
              <a:rPr lang="en-US" sz="1400" dirty="0" err="1">
                <a:solidFill>
                  <a:schemeClr val="tx1"/>
                </a:solidFill>
              </a:rPr>
              <a:t>dict</a:t>
            </a:r>
            <a:r>
              <a:rPr lang="en-US" sz="1400" dirty="0">
                <a:solidFill>
                  <a:schemeClr val="tx1"/>
                </a:solidFill>
              </a:rPr>
              <a:t> ({</a:t>
            </a:r>
            <a:r>
              <a:rPr lang="en-US" sz="1400" dirty="0" err="1">
                <a:solidFill>
                  <a:schemeClr val="tx1"/>
                </a:solidFill>
              </a:rPr>
              <a:t>role:value</a:t>
            </a:r>
            <a:r>
              <a:rPr lang="en-US" sz="1400" dirty="0">
                <a:solidFill>
                  <a:schemeClr val="tx1"/>
                </a:solidFill>
              </a:rPr>
              <a:t>}), list ([role1, role2]), or string (“</a:t>
            </a:r>
            <a:r>
              <a:rPr lang="en-US" sz="1400" dirty="0" err="1">
                <a:solidFill>
                  <a:schemeClr val="tx1"/>
                </a:solidFill>
              </a:rPr>
              <a:t>all”,”none</a:t>
            </a:r>
            <a:r>
              <a:rPr lang="en-US" sz="1400" dirty="0">
                <a:solidFill>
                  <a:schemeClr val="tx1"/>
                </a:solidFill>
              </a:rPr>
              <a:t>”, </a:t>
            </a:r>
            <a:r>
              <a:rPr lang="en-US" sz="1400" dirty="0" err="1">
                <a:solidFill>
                  <a:schemeClr val="tx1"/>
                </a:solidFill>
              </a:rPr>
              <a:t>etc</a:t>
            </a:r>
            <a:r>
              <a:rPr lang="en-US" sz="1400" dirty="0">
                <a:solidFill>
                  <a:schemeClr val="tx1"/>
                </a:solidFill>
              </a:rPr>
              <a:t>). Overwritten by the track option in propagate.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391646-A2EB-6DB7-673E-EBCE48A81170}"/>
              </a:ext>
            </a:extLst>
          </p:cNvPr>
          <p:cNvSpPr/>
          <p:nvPr/>
        </p:nvSpPr>
        <p:spPr>
          <a:xfrm>
            <a:off x="7391562" y="1200510"/>
            <a:ext cx="4602318" cy="48852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Points to a Parameter representing immutable model characteristics instantiated at the start of the simulation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F890D35-88DD-C827-1F33-F89FED5D13D0}"/>
              </a:ext>
            </a:extLst>
          </p:cNvPr>
          <p:cNvSpPr/>
          <p:nvPr/>
        </p:nvSpPr>
        <p:spPr>
          <a:xfrm>
            <a:off x="206463" y="2237173"/>
            <a:ext cx="3505864" cy="1265321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Method to </a:t>
            </a:r>
            <a:r>
              <a:rPr lang="en-US" sz="1400" b="1" dirty="0">
                <a:solidFill>
                  <a:schemeClr val="tx1"/>
                </a:solidFill>
              </a:rPr>
              <a:t>instantiate the model and define its structure:</a:t>
            </a:r>
            <a:r>
              <a:rPr lang="en-US" sz="1400" dirty="0">
                <a:solidFill>
                  <a:schemeClr val="tx1"/>
                </a:solidFill>
              </a:rPr>
              <a:t>,</a:t>
            </a:r>
          </a:p>
          <a:p>
            <a:pPr marL="285750" indent="-285750">
              <a:buFontTx/>
              <a:buChar char="-"/>
            </a:pPr>
            <a:r>
              <a:rPr lang="en-US" sz="1400" b="1" dirty="0">
                <a:solidFill>
                  <a:schemeClr val="tx1"/>
                </a:solidFill>
              </a:rPr>
              <a:t>.</a:t>
            </a:r>
            <a:r>
              <a:rPr lang="en-US" sz="1400" b="1" dirty="0" err="1">
                <a:solidFill>
                  <a:schemeClr val="tx1"/>
                </a:solidFill>
              </a:rPr>
              <a:t>add_flow</a:t>
            </a:r>
            <a:r>
              <a:rPr lang="en-US" sz="1400" b="1" dirty="0">
                <a:solidFill>
                  <a:schemeClr val="tx1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is used to instantiate a flow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solidFill>
                  <a:schemeClr val="tx1"/>
                </a:solidFill>
              </a:rPr>
              <a:t>.</a:t>
            </a:r>
            <a:r>
              <a:rPr lang="en-US" sz="1400" b="1" dirty="0" err="1">
                <a:solidFill>
                  <a:schemeClr val="tx1"/>
                </a:solidFill>
              </a:rPr>
              <a:t>add_fxn</a:t>
            </a:r>
            <a:r>
              <a:rPr lang="en-US" sz="1400" b="1" dirty="0">
                <a:solidFill>
                  <a:schemeClr val="tx1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is used to instantiate a function and attach connected flows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412D98A-A8CB-E5EE-CD28-4B2D28CA3DD0}"/>
              </a:ext>
            </a:extLst>
          </p:cNvPr>
          <p:cNvCxnSpPr>
            <a:cxnSpLocks/>
          </p:cNvCxnSpPr>
          <p:nvPr/>
        </p:nvCxnSpPr>
        <p:spPr>
          <a:xfrm flipH="1">
            <a:off x="6550429" y="1391515"/>
            <a:ext cx="841131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31E180F-8F33-EF2F-BF23-D21BBB7BD54A}"/>
              </a:ext>
            </a:extLst>
          </p:cNvPr>
          <p:cNvCxnSpPr>
            <a:cxnSpLocks/>
          </p:cNvCxnSpPr>
          <p:nvPr/>
        </p:nvCxnSpPr>
        <p:spPr>
          <a:xfrm>
            <a:off x="6868160" y="1865950"/>
            <a:ext cx="1049127" cy="0"/>
          </a:xfrm>
          <a:prstGeom prst="straightConnector1">
            <a:avLst/>
          </a:prstGeom>
          <a:ln w="381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A0BCC97-D1D8-DF39-176F-86523512AC28}"/>
              </a:ext>
            </a:extLst>
          </p:cNvPr>
          <p:cNvCxnSpPr>
            <a:cxnSpLocks/>
          </p:cNvCxnSpPr>
          <p:nvPr/>
        </p:nvCxnSpPr>
        <p:spPr>
          <a:xfrm>
            <a:off x="3561634" y="1578909"/>
            <a:ext cx="558044" cy="11653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FFE40E2-32A7-0D24-42D4-DDDE4CCAA3E9}"/>
              </a:ext>
            </a:extLst>
          </p:cNvPr>
          <p:cNvCxnSpPr>
            <a:cxnSpLocks/>
          </p:cNvCxnSpPr>
          <p:nvPr/>
        </p:nvCxnSpPr>
        <p:spPr>
          <a:xfrm>
            <a:off x="3655541" y="2976800"/>
            <a:ext cx="302149" cy="0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0C53CCF7-9DEF-5A5C-C935-E0DC29EA5CAC}"/>
              </a:ext>
            </a:extLst>
          </p:cNvPr>
          <p:cNvSpPr/>
          <p:nvPr/>
        </p:nvSpPr>
        <p:spPr>
          <a:xfrm>
            <a:off x="206463" y="3560309"/>
            <a:ext cx="3214503" cy="74065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These methods define Model </a:t>
            </a:r>
            <a:r>
              <a:rPr lang="en-US" sz="1400" b="1" dirty="0">
                <a:solidFill>
                  <a:schemeClr val="tx1"/>
                </a:solidFill>
              </a:rPr>
              <a:t>indicators</a:t>
            </a:r>
            <a:r>
              <a:rPr lang="en-US" sz="1400" dirty="0">
                <a:solidFill>
                  <a:schemeClr val="tx1"/>
                </a:solidFill>
              </a:rPr>
              <a:t> and are called/tracked during simulation (in </a:t>
            </a:r>
            <a:r>
              <a:rPr lang="en-US" sz="1400" dirty="0" err="1">
                <a:solidFill>
                  <a:schemeClr val="tx1"/>
                </a:solidFill>
              </a:rPr>
              <a:t>modelname.i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CDCE0CD-812F-C5E1-0CB4-58D9C56432A5}"/>
              </a:ext>
            </a:extLst>
          </p:cNvPr>
          <p:cNvSpPr/>
          <p:nvPr/>
        </p:nvSpPr>
        <p:spPr>
          <a:xfrm>
            <a:off x="206463" y="1049485"/>
            <a:ext cx="3355171" cy="74065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Default </a:t>
            </a:r>
            <a:r>
              <a:rPr lang="en-US" sz="1400" b="1" dirty="0">
                <a:solidFill>
                  <a:schemeClr val="tx1"/>
                </a:solidFill>
              </a:rPr>
              <a:t>keyword arguments for </a:t>
            </a:r>
            <a:r>
              <a:rPr lang="en-US" sz="1400" b="1" dirty="0" err="1">
                <a:solidFill>
                  <a:schemeClr val="tx1"/>
                </a:solidFill>
              </a:rPr>
              <a:t>SimParam</a:t>
            </a:r>
            <a:r>
              <a:rPr lang="en-US" sz="1400" dirty="0">
                <a:solidFill>
                  <a:schemeClr val="tx1"/>
                </a:solidFill>
              </a:rPr>
              <a:t>. Defines max time of the simulation, along with phases, timestep, units, etc.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F39350D-8555-F1AE-2F34-766C9EE33104}"/>
              </a:ext>
            </a:extLst>
          </p:cNvPr>
          <p:cNvCxnSpPr>
            <a:cxnSpLocks/>
          </p:cNvCxnSpPr>
          <p:nvPr/>
        </p:nvCxnSpPr>
        <p:spPr>
          <a:xfrm>
            <a:off x="3418989" y="3995763"/>
            <a:ext cx="538701" cy="0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D45EAE9F-3FFE-CF4A-26AA-8D2A61746450}"/>
              </a:ext>
            </a:extLst>
          </p:cNvPr>
          <p:cNvSpPr/>
          <p:nvPr/>
        </p:nvSpPr>
        <p:spPr>
          <a:xfrm>
            <a:off x="204486" y="4698879"/>
            <a:ext cx="3214503" cy="665117"/>
          </a:xfrm>
          <a:prstGeom prst="rect">
            <a:avLst/>
          </a:prstGeom>
          <a:solidFill>
            <a:srgbClr val="F1D9F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This method defines the Result to be returned </a:t>
            </a:r>
            <a:r>
              <a:rPr lang="en-US" sz="1400" b="1" dirty="0">
                <a:solidFill>
                  <a:schemeClr val="tx1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by the model.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63F352AD-414C-473F-B963-608E7ABC775D}"/>
              </a:ext>
            </a:extLst>
          </p:cNvPr>
          <p:cNvCxnSpPr>
            <a:cxnSpLocks/>
          </p:cNvCxnSpPr>
          <p:nvPr/>
        </p:nvCxnSpPr>
        <p:spPr>
          <a:xfrm>
            <a:off x="3439456" y="5047698"/>
            <a:ext cx="538701" cy="0"/>
          </a:xfrm>
          <a:prstGeom prst="straightConnector1">
            <a:avLst/>
          </a:prstGeom>
          <a:ln w="38100">
            <a:solidFill>
              <a:srgbClr val="E890E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75017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 descr="Puzzle with solid fill">
            <a:extLst>
              <a:ext uri="{FF2B5EF4-FFF2-40B4-BE49-F238E27FC236}">
                <a16:creationId xmlns:a16="http://schemas.microsoft.com/office/drawing/2014/main" id="{DA0E0B71-A98D-B995-DDF2-253CF5BEF0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81368" y="2029461"/>
            <a:ext cx="1864982" cy="186498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A97204D-DFB5-F93C-D662-481BFB6A3CDF}"/>
              </a:ext>
            </a:extLst>
          </p:cNvPr>
          <p:cNvSpPr txBox="1"/>
          <p:nvPr/>
        </p:nvSpPr>
        <p:spPr>
          <a:xfrm>
            <a:off x="2556233" y="3862046"/>
            <a:ext cx="915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Flexible</a:t>
            </a:r>
          </a:p>
        </p:txBody>
      </p:sp>
      <p:pic>
        <p:nvPicPr>
          <p:cNvPr id="10" name="Graphic 9" descr="Rocket with solid fill">
            <a:extLst>
              <a:ext uri="{FF2B5EF4-FFF2-40B4-BE49-F238E27FC236}">
                <a16:creationId xmlns:a16="http://schemas.microsoft.com/office/drawing/2014/main" id="{772436F9-6958-3152-D093-73CA42DAD7D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877509" y="2029461"/>
            <a:ext cx="1783080" cy="178308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1F6AD1F-3A57-9725-EC9F-D9DF530E661D}"/>
              </a:ext>
            </a:extLst>
          </p:cNvPr>
          <p:cNvSpPr txBox="1"/>
          <p:nvPr/>
        </p:nvSpPr>
        <p:spPr>
          <a:xfrm>
            <a:off x="5245284" y="3858262"/>
            <a:ext cx="1047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Powerful</a:t>
            </a:r>
          </a:p>
        </p:txBody>
      </p:sp>
      <p:pic>
        <p:nvPicPr>
          <p:cNvPr id="13" name="Graphic 12" descr="Workflow with solid fill">
            <a:extLst>
              <a:ext uri="{FF2B5EF4-FFF2-40B4-BE49-F238E27FC236}">
                <a16:creationId xmlns:a16="http://schemas.microsoft.com/office/drawing/2014/main" id="{A17820C9-5CBF-52CA-A3CE-A45C05C244D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91749" y="2029461"/>
            <a:ext cx="1864982" cy="186498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48E9C69-C27B-67D7-C5AA-09000679A8C8}"/>
              </a:ext>
            </a:extLst>
          </p:cNvPr>
          <p:cNvSpPr txBox="1"/>
          <p:nvPr/>
        </p:nvSpPr>
        <p:spPr>
          <a:xfrm>
            <a:off x="8042538" y="3862046"/>
            <a:ext cx="9634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Efficient</a:t>
            </a:r>
          </a:p>
        </p:txBody>
      </p:sp>
    </p:spTree>
    <p:extLst>
      <p:ext uri="{BB962C8B-B14F-4D97-AF65-F5344CB8AC3E}">
        <p14:creationId xmlns:p14="http://schemas.microsoft.com/office/powerpoint/2010/main" val="15919894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F0B4413AAFFE34B9A5E0B87EBB2BF4F" ma:contentTypeVersion="0" ma:contentTypeDescription="Create a new document." ma:contentTypeScope="" ma:versionID="9632435baf965c6c093711282b9a8698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ad47a0f10127d9e30d85633090e6731d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2B7266E-DF44-460A-A16F-F5ABEAF9A56A}">
  <ds:schemaRefs>
    <ds:schemaRef ds:uri="http://schemas.microsoft.com/office/2006/metadata/properties"/>
    <ds:schemaRef ds:uri="http://purl.org/dc/terms/"/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8807AEC1-3868-4489-99AA-F6101CBA695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D3728C9A-7C9B-4A99-A7F5-4857043C7DB3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4253</TotalTime>
  <Words>2048</Words>
  <Application>Microsoft Office PowerPoint</Application>
  <PresentationFormat>Widescreen</PresentationFormat>
  <Paragraphs>273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30" baseType="lpstr">
      <vt:lpstr>Arial</vt:lpstr>
      <vt:lpstr>Arial Nova</vt:lpstr>
      <vt:lpstr>Bahnschrift</vt:lpstr>
      <vt:lpstr>Bahnschrift Condensed</vt:lpstr>
      <vt:lpstr>Bahnschrift Light</vt:lpstr>
      <vt:lpstr>Bahnschrift Light Condensed</vt:lpstr>
      <vt:lpstr>Bahnschrift SemiBold</vt:lpstr>
      <vt:lpstr>Bahnschrift SemiBold SemiConden</vt:lpstr>
      <vt:lpstr>Bahnschrift SemiCondensed</vt:lpstr>
      <vt:lpstr>Bahnschrift SemiLight</vt:lpstr>
      <vt:lpstr>Calibri</vt:lpstr>
      <vt:lpstr>Cambria Math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Static Fault Propagation</vt:lpstr>
      <vt:lpstr>Dynamic Fault Propagation</vt:lpstr>
      <vt:lpstr>Activity: Open and instantiate pump model</vt:lpstr>
      <vt:lpstr>Goal: Quantify Resilience With Simulation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fmdtools</dc:title>
  <dc:creator>Hulse, Daniel E. (ARC-TI)</dc:creator>
  <cp:lastModifiedBy>Hulse, Daniel (ARC-TI)</cp:lastModifiedBy>
  <cp:revision>202</cp:revision>
  <dcterms:created xsi:type="dcterms:W3CDTF">2020-07-06T18:15:45Z</dcterms:created>
  <dcterms:modified xsi:type="dcterms:W3CDTF">2025-11-24T22:26:51Z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0x0101002F0B4413AAFFE34B9A5E0B87EBB2BF4F</vt:lpwstr>
  </property>
</Properties>
</file>